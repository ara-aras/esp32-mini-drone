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
    </a:defPPr>
    <a:lvl1pPr marL="0" algn="l" defTabSz="457200" rtl="0" eaLnBrk="1" latinLnBrk="0" hangingPunct="1">
      <a:defRPr lang="en" sz="1800" kern="1200">
        <a:solidFill>
          <a:schemeClr val="tx1"/>
        </a:solidFill>
        <a:latin typeface="+mn-lt"/>
        <a:ea typeface="+mn-ea"/>
        <a:cs typeface="+mn-cs"/>
      </a:defRPr>
    </a:lvl1pPr>
    <a:lvl2pPr marL="457200" algn="l" defTabSz="457200" rtl="0" eaLnBrk="1" latinLnBrk="0" hangingPunct="1">
      <a:defRPr lang="en" sz="1800" kern="1200">
        <a:solidFill>
          <a:schemeClr val="tx1"/>
        </a:solidFill>
        <a:latin typeface="+mn-lt"/>
        <a:ea typeface="+mn-ea"/>
        <a:cs typeface="+mn-cs"/>
      </a:defRPr>
    </a:lvl2pPr>
    <a:lvl3pPr marL="914400" algn="l" defTabSz="457200" rtl="0" eaLnBrk="1" latinLnBrk="0" hangingPunct="1">
      <a:defRPr lang="en" sz="1800" kern="1200">
        <a:solidFill>
          <a:schemeClr val="tx1"/>
        </a:solidFill>
        <a:latin typeface="+mn-lt"/>
        <a:ea typeface="+mn-ea"/>
        <a:cs typeface="+mn-cs"/>
      </a:defRPr>
    </a:lvl3pPr>
    <a:lvl4pPr marL="1371600" algn="l" defTabSz="457200" rtl="0" eaLnBrk="1" latinLnBrk="0" hangingPunct="1">
      <a:defRPr lang="en" sz="1800" kern="1200">
        <a:solidFill>
          <a:schemeClr val="tx1"/>
        </a:solidFill>
        <a:latin typeface="+mn-lt"/>
        <a:ea typeface="+mn-ea"/>
        <a:cs typeface="+mn-cs"/>
      </a:defRPr>
    </a:lvl4pPr>
    <a:lvl5pPr marL="1828800" algn="l" defTabSz="457200" rtl="0" eaLnBrk="1" latinLnBrk="0" hangingPunct="1">
      <a:defRPr lang="en" sz="1800" kern="1200">
        <a:solidFill>
          <a:schemeClr val="tx1"/>
        </a:solidFill>
        <a:latin typeface="+mn-lt"/>
        <a:ea typeface="+mn-ea"/>
        <a:cs typeface="+mn-cs"/>
      </a:defRPr>
    </a:lvl5pPr>
    <a:lvl6pPr marL="2286000" algn="l" defTabSz="457200" rtl="0" eaLnBrk="1" latinLnBrk="0" hangingPunct="1">
      <a:defRPr lang="en" sz="1800" kern="1200">
        <a:solidFill>
          <a:schemeClr val="tx1"/>
        </a:solidFill>
        <a:latin typeface="+mn-lt"/>
        <a:ea typeface="+mn-ea"/>
        <a:cs typeface="+mn-cs"/>
      </a:defRPr>
    </a:lvl6pPr>
    <a:lvl7pPr marL="2743200" algn="l" defTabSz="457200" rtl="0" eaLnBrk="1" latinLnBrk="0" hangingPunct="1">
      <a:defRPr lang="en" sz="1800" kern="1200">
        <a:solidFill>
          <a:schemeClr val="tx1"/>
        </a:solidFill>
        <a:latin typeface="+mn-lt"/>
        <a:ea typeface="+mn-ea"/>
        <a:cs typeface="+mn-cs"/>
      </a:defRPr>
    </a:lvl7pPr>
    <a:lvl8pPr marL="3200400" algn="l" defTabSz="457200" rtl="0" eaLnBrk="1" latinLnBrk="0" hangingPunct="1">
      <a:defRPr lang="en" sz="1800" kern="1200">
        <a:solidFill>
          <a:schemeClr val="tx1"/>
        </a:solidFill>
        <a:latin typeface="+mn-lt"/>
        <a:ea typeface="+mn-ea"/>
        <a:cs typeface="+mn-cs"/>
      </a:defRPr>
    </a:lvl8pPr>
    <a:lvl9pPr marL="3657600" algn="l" defTabSz="457200" rtl="0" eaLnBrk="1" latinLnBrk="0" hangingPunct="1">
      <a:defRPr lang="e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
          </a:p>
        </p:txBody>
      </p:sp>
    </p:spTree>
  </p:cSld>
  <p:clrMap bg1="lt1" tx1="dk1" bg2="lt2" tx2="dk2" accent1="accent1" accent2="accent2" accent3="accent3" accent4="accent4" accent5="accent5" accent6="accent6" hlink="hlink" folHlink="folHlink"/>
  <p:hf/>
  <p:notesStyle>
    <a:lvl1pPr marL="0" algn="l">
      <a:defRPr lang="e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Welcome, everyone. Today we walk through how to build, fly and tune a drone from scratch, and we start with a confession: our first prototype never flew. It just skated across the floor. Our second one climbed straight up. By the end of this session you will know exactly what changed between the two, and how every layer of a quadcopter works, from the physics to the firmware to a full 6S racing build.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Here is the route for today, five stops climbing from theory to flight. First the physics of how four motors steer a quad. Then our micro build on an ESP32, including the driver that failed and the MOSFET fix. Then the firmware: the 500 hertz loop, the PID controller, the motor mixer and the radio links. Then we scale up to a five-inch FPV racer with brushless motors, DShot and 6S power. And finally how to fly safely: bench rules, flight modes and PID tuning.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A quadcopter has no rudder and no flaps. It steers only by changing how fast each motor spins. Motor one is front left and spins clockwise, motor two is front right and spins counter-clockwise, three is rear right clockwise, four is rear left counter-clockwise. To roll right, the left pair, motors one and four, speeds up. To pitch nose down and fly forward, the rear pair, three and four, speeds up. Yaw is the clever one: speed up the counter-clockwise pair, two and four, and their reaction torque twists the frame to the right. Throttle is all four together. To hover you only need thrust equal to weight, but you want about two to one so there is margin left over for control.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The physics is the same for every quad, but the machines can be very different. Our micro quad weighs forty-five to sixty grams, runs on a single 3.7 volt cell, uses an ESP32 with firmware we wrote ourselves in Arduino C plus plus, coreless brushed motors and four tiny MOSFETs. Its goal is to teach every layer. A five-inch FPV racer weighs ten times as much, runs on six cells at 22.2 volts, uses an STM32 flight controller running Betaflight, brushless motors, a four-in-one ESC speaking DShot600, and an ExpressLRS radio. Its goal is raw speed and agility.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Here is everything on our fifty-gram quad. The ESP32 DevKit is the brain; it is dual core at 240 megahertz, and one core is dedicated to the 500 hertz flight loop. The MPU-6050 gives us a three-axis gyro and accelerometer over I2C at 400 kilohertz, and it sits at the centre of gravity so it does not feel extra motion when the frame rotates. Each 8520 coreless motor is eight and a half by twenty millimetres, about five grams, turning 55 millimetre props. Each one is switched by its own AO3400 MOSFET at 16 kilohertz. Power comes from a single LiPo cell with a TP4056 USB charger, a 5 volt boost so the ESP32 never browns out, and a 100k by 100k divider so we can read the battery voltage on GPIO 34.</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Now the story of prototype one. Same ESP32, same IMU, same motors, same battery, but the motors were driven by two DRV8833 H-bridge boards. At full throttle the drivers overheated and cut out, and the quad just skated across the floor. When we put a multimeter on the motor terminals we measured less than 2.7 volts, from a battery rated 3.7. Somewhere we were losing a whole volt. Let us find out where.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Follow the current. The battery delivers 3.7 volts, but inside each DRV8833 channel the current passes through a high-side and a low-side transistor, about 360 milliohms in total according to the TI datasheet. Coreless motors at full throttle pull three and a half to four amps. Ohm's law says three and a half amps times 0.36 ohms is about 1.3 volts, burned inside the chip as heat. On top of that, the DRV8833 is rated for 1.5 amps RMS and 2 amps peak per channel, so its over-current and thermal protection kept cutting the motors. The lesson: H-bridge ICs are made for half-amp toy car motors that need to run in both directions. A drone motor only spins one way and needs much more current.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The fix is beautifully simple: one N-channel MOSFET per motor, used as a low-side switch. The motor sits between the battery and the MOSFET's drain, and the ESP32 drives the gate directly with PWM. Part one, the AO3400, is logic-level, so a 3.3 volt gate turns it fully on with only tens of milliohms of resistance, and it is rated 5.7 amps continuous. Part two, a 10 kilohm pull-down on the gate, keeps the motor off while the ESP32 boots and its pins are floating. Part three, the SS24 Schottky diode across the motor, catches the motor's stored energy when the MOSFET switches off, so there is no voltage spike to kill the transistor. The pins are GPIO 32, 25, 33 and 26 for motors one to four, driven at 16 kilohertz with 12-bit resolution.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Here is the comparison. The DRV8833 path was about 360 milliohms; the MOSFET is tens of milliohms, roughly ten times less. The DRV8833 allowed 1.5 amps RMS; the AO3400 handles 5.7 amps continuous. At the motor terminals we measured under 2.7 volts before and over 3.65 volts after. The drivers went from thermal shutdown to running cool, and the quad went from skating on the floor to climbing at about 55 percent throttle. Same motors, same battery, same code. Only the driver changed. The engineering habit to take away is to measure the voltage where the power is used, not just at the battery.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Now the firmware. The ESP32 has two cores. Core zero runs the Wi-Fi and ESP-NOW radio stack, which receives stick packets and turns them into setpoints. Core one runs our flight task every two milliseconds, five hundred times a second, at high priority: read the IMU, fuse the readings into an attitude estimate, run the PID controller, mix the corrections into four motor outputs, and write the PWM. Also on core one, at low priority, the normal Arduino loop handles serial and web commands, telemetry and the blackbox log, battery and LED, and a watchdog that cuts the motors if the flight task goes silent for fifty milliseconds. The rule that keeps this safe is that only the flight task ever touches I2C and the motors; everything else talks to it through small locked shared buffers.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Inside each two millisecond tick, the controller is a cascade of two loops. The pilot's stick becomes a target angle, at most thirty degrees. The outer angle loop compares that with the estimated angle and multiplies the error by four to get a target rotation rate, capped at two hundred degrees per second. The inner rate loop is a full PID that compares the target rate with what the gyro measures. The mixer then turns roll, pitch and yaw corrections into four motor commands. The angle estimate comes from a complementary filter: we trust the gyro 99.5 percent because it is smooth, and the accelerometer half a percent because it knows which way is down but is noisy. If the accelerometer reads far from one g, during a hard manoeuvre, we ignore it. Two more details: the D term acts on the measurement so a stick jump does not kick the motors, and the I term is frozen below fifteen percent throttle so it does not wind up on the ground.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There are three ways to talk to this drone. A handheld remote, another ESP32, sends ESP-NOW packets on Wi-Fi channel one, peer to peer, no router needed. Each packet is thirteen bytes: a magic number, a sequence counter, throttle from zero to a thousand, and roll, pitch and yaw from minus five hundred to plus five hundred, plus a flags byte where bit zero is the arm switch. Second, the drone runs its own Wi-Fi access point at 192.168.43.42, so the ESP-Drone phone app can fly it over UDP port 2390. To arm from the app you bring throttle to zero after connecting and then raise it. Third, a web dashboard shows live telemetry, lets you tune PID gains, and runs bench tests while disarmed. Whatever the link, if no packet arrives for 500 milliseconds while armed, the drone disarms itself.</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That is our micro quad. Now let us scale up to a five-inch FPV racer. The physics does not change at all. What changes is everything around it: brushless motors instead of brushed ones, an electronic speed controller speaking a digital protocol instead of a simple MOSFET, and a six-cell battery at 22.2 volts instead of a single 3.7 volt cell.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Here is a racer taken apart, layer by layer. On top, a 6S LiPo, typically around 1300 milliamp hours with a high C rating. Below it the ExpressLRS receiver on 2.4 gigahertz, which can send up to a thousand packets a second at short range, trading rate for range. Then the flight controller, an STM32 F7 or H7 running Betaflight with a low-noise gyro such as the ICM-42688, running its gyro and PID loop at eight kilohertz, sixteen times faster than ours. Under that, a four-in-one ESC rated 45 to 60 amps per motor, speaking DShot600. At the bottom, a five-inch carbon frame with 2207 motors, usually 1750 to 1960 KV on six cells.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Our brushed motors have carbon brushes that rub on a commutator, so they wear out, but they are cheap and need only simple on-off PWM, which is perfect under sixty grams. Brushless motors have no brushes; the ESC switches three phases electronically, a typical racer motor has twelve coils and fourteen magnets, and only the bearings wear. The name 2207 is just the stator size: 22 millimetres in diameter, 7 millimetres tall. Wider gives more torque, taller gives more top-end speed. KV means RPM per volt with no load, so a 1960 KV motor on a 22.2 volt pack spins at about 43,500 RPM unloaded, and slower under the load of a propeller. That is why six-cell builds use lower KV and four-cell builds use higher KV.</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Older ESC protocols encoded throttle as the width of a pulse, between one and two milliseconds. That analog timing drifts and needs calibration. DShot sends throttle as a number. Each frame is sixteen bits: eleven bits of throttle, where 48 to 2047 is throttle and 1 to 47 are special commands, one bit to request telemetry, and a four-bit checksum, so corrupted frames are thrown away. At 600 kilobits per second a frame takes just under 27 microseconds. Two extras matter for flying. Bidirectional DShot lets the ESC send motor RPM back on the same wire, and Betaflight uses that to place notch filters exactly on the motor noise. Active braking lets the ESC slow the prop down instead of letting it coast, so the quad responds and settles faster.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Why did racers move from four cells to six? Power is voltage times current. For the same thousand-watt punch, a 4S pack at 14.8 volts must deliver about 68 amps, while a 6S pack at 22.2 volts needs only about 45. Heat in the wires and in the cells grows with current squared times resistance, so a third less current means far less heat and far less voltage sag. To know what a pack can deliver, multiply capacity by C rating: a 1.3 amp-hour pack rated 120 C gives 156 amps continuous. Pull more and the cells puff up and age quickly. And protect your electronics: a low-ESR capacitor across the ESC pads, for example a thousand microfarads rated 35 volts or more, with 50 volts giving extra margin on 6S, and optionally a TVS diode to clamp the spikes that active braking pushes back into the battery line.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Before anything flies, four rules. First, props off on the bench, always; a motor that spins up unexpectedly can cut you in milliseconds. Second, use a smoke stopper, a resettable fuse in the battery lead, the first time you power a new build, so a short trips the fuse instead of burning the board. Third, check for shorts with a multimeter across battery positive and ground before plugging in; you should never see a near-zero reading. Fourth, test the failsafe: with the drone disarmed, switch the radio off and confirm the drone stays disarmed. Our own firmware enforces the same ideas. Motor tests are locked until you type props off, which unlocks them for five minutes. Tests and settings changes only run while disarmed. No radio packet for 500 milliseconds while armed disarms the drone, and if the flight task stops for 50 milliseconds, the main loop cuts the motors.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There are two main ways a flight controller interprets your sticks. In Angle mode, the stick sets a tilt angle, at most thirty degrees on our firmware, and when you let go the drone levels itself using both the gyro and the accelerometer. That is how our ESP32 quad flies, and it is where every beginner should start. In Acro or rate mode, the stick sets how fast the drone rotates, for example 670 degrees per second at full stick, and when you let go it simply holds whatever attitude it is in, even upside down. It uses only the gyro. That is what makes flips and racing possible. Learn in Angle, then practise Acro in a simulator before you try real flips.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Finally, tuning. The graph is illustrative: it shows how the drone responds to a sudden stick movement. P is stiffness; it reacts to the error right now. Too much P and the drone overshoots and rings, with buzzing motors. Too little and it feels sloppy and drifts off line. I is memory; it fixes errors that linger, like wind or an off-centre battery. Too much gives a slow wobble after a move; too little and it will not hold its angle. D is damping; it brakes the motion before it overshoots. Too much amplifies sensor noise and makes motors hot; too little gives overshoot and prop-wash shaking. The method: start with I and D at zero, raise P until it rings and back off about fifteen percent, raise D until the overshoot stops while checking motor temperature, then raise I until it holds its angle. On our drone you can do all of this live from the web page.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If you remember one thing from today, let it be this: measure first, then design. Our drone did not fly until we measured the voltage at the motors and found the real problem. You can now explain how four motors steer a quad, choose a motor driver from its datasheet, read a 500 hertz control loop from IMU to PID to mixer, and spec a 6S racer and tune it safely. Good next upgrades are GPS rescue, so the drone flies home if the link drops, HD digital video, and optical flow with a barometer for hands-free hovering indoors. Questions? Then go build </a:t>
            </a:r>
            <a:r>
              <a:rPr lang="en"/>
              <a:t>one.</a:t>
            </a:r>
            <a:r>
              <a:rPr lang="en-US"/>
              <a:t> One last thing: the QR code is the repo with the firmware, these slides and my speaker notes. It is only for the people in this room; I am not posting the link anywhere else, so anyone who skipped has to ask one of you.</a:t>
            </a:r>
            <a:endParaRPr lang="e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rone_workshop_v2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10/13/2026</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rone_workshop_v2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 sz="1200">
                <a:solidFill>
                  <a:schemeClr val="tx1">
                    <a:tint val="75000"/>
                  </a:schemeClr>
                </a:solidFill>
              </a:defRPr>
            </a:lvl1pPr>
          </a:lstStyle>
          <a:p>
            <a:fld id="{5BCAD085-E8A6-8845-BD4E-CB4CCA059FC4}" type="datetimeFigureOut">
              <a:rPr lang="en" smtClean="0"/>
              <a:t>10/13/2026</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 sz="1200">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 sz="1200">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en"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en"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en"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en"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en"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en"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en"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en"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en"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en" sz="2000" kern="1200">
          <a:solidFill>
            <a:schemeClr val="tx1"/>
          </a:solidFill>
          <a:latin typeface="+mn-lt"/>
          <a:ea typeface="+mn-ea"/>
          <a:cs typeface="+mn-cs"/>
        </a:defRPr>
      </a:lvl9pPr>
    </p:bodyStyle>
    <p:otherStyle>
      <a:defPPr>
        <a:defRPr lang="en"/>
      </a:defPPr>
      <a:lvl1pPr marL="0" algn="l" defTabSz="457200" rtl="0" eaLnBrk="1" latinLnBrk="0" hangingPunct="1">
        <a:defRPr lang="en" sz="1800" kern="1200">
          <a:solidFill>
            <a:schemeClr val="tx1"/>
          </a:solidFill>
          <a:latin typeface="+mn-lt"/>
          <a:ea typeface="+mn-ea"/>
          <a:cs typeface="+mn-cs"/>
        </a:defRPr>
      </a:lvl1pPr>
      <a:lvl2pPr marL="457200" algn="l" defTabSz="457200" rtl="0" eaLnBrk="1" latinLnBrk="0" hangingPunct="1">
        <a:defRPr lang="en" sz="1800" kern="1200">
          <a:solidFill>
            <a:schemeClr val="tx1"/>
          </a:solidFill>
          <a:latin typeface="+mn-lt"/>
          <a:ea typeface="+mn-ea"/>
          <a:cs typeface="+mn-cs"/>
        </a:defRPr>
      </a:lvl2pPr>
      <a:lvl3pPr marL="914400" algn="l" defTabSz="457200" rtl="0" eaLnBrk="1" latinLnBrk="0" hangingPunct="1">
        <a:defRPr lang="en" sz="1800" kern="1200">
          <a:solidFill>
            <a:schemeClr val="tx1"/>
          </a:solidFill>
          <a:latin typeface="+mn-lt"/>
          <a:ea typeface="+mn-ea"/>
          <a:cs typeface="+mn-cs"/>
        </a:defRPr>
      </a:lvl3pPr>
      <a:lvl4pPr marL="1371600" algn="l" defTabSz="457200" rtl="0" eaLnBrk="1" latinLnBrk="0" hangingPunct="1">
        <a:defRPr lang="en" sz="1800" kern="1200">
          <a:solidFill>
            <a:schemeClr val="tx1"/>
          </a:solidFill>
          <a:latin typeface="+mn-lt"/>
          <a:ea typeface="+mn-ea"/>
          <a:cs typeface="+mn-cs"/>
        </a:defRPr>
      </a:lvl4pPr>
      <a:lvl5pPr marL="1828800" algn="l" defTabSz="457200" rtl="0" eaLnBrk="1" latinLnBrk="0" hangingPunct="1">
        <a:defRPr lang="en" sz="1800" kern="1200">
          <a:solidFill>
            <a:schemeClr val="tx1"/>
          </a:solidFill>
          <a:latin typeface="+mn-lt"/>
          <a:ea typeface="+mn-ea"/>
          <a:cs typeface="+mn-cs"/>
        </a:defRPr>
      </a:lvl5pPr>
      <a:lvl6pPr marL="2286000" algn="l" defTabSz="457200" rtl="0" eaLnBrk="1" latinLnBrk="0" hangingPunct="1">
        <a:defRPr lang="en" sz="1800" kern="1200">
          <a:solidFill>
            <a:schemeClr val="tx1"/>
          </a:solidFill>
          <a:latin typeface="+mn-lt"/>
          <a:ea typeface="+mn-ea"/>
          <a:cs typeface="+mn-cs"/>
        </a:defRPr>
      </a:lvl6pPr>
      <a:lvl7pPr marL="2743200" algn="l" defTabSz="457200" rtl="0" eaLnBrk="1" latinLnBrk="0" hangingPunct="1">
        <a:defRPr lang="en" sz="1800" kern="1200">
          <a:solidFill>
            <a:schemeClr val="tx1"/>
          </a:solidFill>
          <a:latin typeface="+mn-lt"/>
          <a:ea typeface="+mn-ea"/>
          <a:cs typeface="+mn-cs"/>
        </a:defRPr>
      </a:lvl7pPr>
      <a:lvl8pPr marL="3200400" algn="l" defTabSz="457200" rtl="0" eaLnBrk="1" latinLnBrk="0" hangingPunct="1">
        <a:defRPr lang="en" sz="1800" kern="1200">
          <a:solidFill>
            <a:schemeClr val="tx1"/>
          </a:solidFill>
          <a:latin typeface="+mn-lt"/>
          <a:ea typeface="+mn-ea"/>
          <a:cs typeface="+mn-cs"/>
        </a:defRPr>
      </a:lvl8pPr>
      <a:lvl9pPr marL="3657600" algn="l" defTabSz="457200" rtl="0" eaLnBrk="1" latinLnBrk="0" hangingPunct="1">
        <a:defRPr lang="e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rid-decor"/>
          <p:cNvSpPr/>
          <p:nvPr/>
        </p:nvSpPr>
        <p:spPr>
          <a:xfrm>
            <a:off x="6858000" y="381000"/>
            <a:ext cx="4953000" cy="6096000"/>
          </a:xfrm>
          <a:custGeom>
            <a:avLst/>
            <a:gdLst/>
            <a:ahLst/>
            <a:cxnLst/>
            <a:rect l="l" t="t" r="r" b="b"/>
            <a:pathLst>
              <a:path w="4953000" h="6096000">
                <a:moveTo>
                  <a:pt x="0" y="0"/>
                </a:moveTo>
                <a:lnTo>
                  <a:pt x="0" y="6096000"/>
                </a:lnTo>
                <a:moveTo>
                  <a:pt x="381000" y="0"/>
                </a:moveTo>
                <a:lnTo>
                  <a:pt x="381000" y="6096000"/>
                </a:lnTo>
                <a:moveTo>
                  <a:pt x="762000" y="0"/>
                </a:moveTo>
                <a:lnTo>
                  <a:pt x="762000" y="6096000"/>
                </a:lnTo>
                <a:moveTo>
                  <a:pt x="1143000" y="0"/>
                </a:moveTo>
                <a:lnTo>
                  <a:pt x="1143000" y="6096000"/>
                </a:lnTo>
                <a:moveTo>
                  <a:pt x="1524000" y="0"/>
                </a:moveTo>
                <a:lnTo>
                  <a:pt x="1524000" y="6096000"/>
                </a:lnTo>
                <a:moveTo>
                  <a:pt x="1905000" y="0"/>
                </a:moveTo>
                <a:lnTo>
                  <a:pt x="1905000" y="6096000"/>
                </a:lnTo>
                <a:moveTo>
                  <a:pt x="2286000" y="0"/>
                </a:moveTo>
                <a:lnTo>
                  <a:pt x="2286000" y="6096000"/>
                </a:lnTo>
                <a:moveTo>
                  <a:pt x="2667000" y="0"/>
                </a:moveTo>
                <a:lnTo>
                  <a:pt x="2667000" y="6096000"/>
                </a:lnTo>
                <a:moveTo>
                  <a:pt x="3048000" y="0"/>
                </a:moveTo>
                <a:lnTo>
                  <a:pt x="3048000" y="6096000"/>
                </a:lnTo>
                <a:moveTo>
                  <a:pt x="3429000" y="0"/>
                </a:moveTo>
                <a:lnTo>
                  <a:pt x="3429000" y="6096000"/>
                </a:lnTo>
                <a:moveTo>
                  <a:pt x="3810000" y="0"/>
                </a:moveTo>
                <a:lnTo>
                  <a:pt x="3810000" y="6096000"/>
                </a:lnTo>
                <a:moveTo>
                  <a:pt x="4191000" y="0"/>
                </a:moveTo>
                <a:lnTo>
                  <a:pt x="4191000" y="6096000"/>
                </a:lnTo>
                <a:moveTo>
                  <a:pt x="4572000" y="0"/>
                </a:moveTo>
                <a:lnTo>
                  <a:pt x="4572000" y="6096000"/>
                </a:lnTo>
                <a:moveTo>
                  <a:pt x="4953000" y="0"/>
                </a:moveTo>
                <a:lnTo>
                  <a:pt x="4953000" y="6096000"/>
                </a:lnTo>
                <a:moveTo>
                  <a:pt x="0" y="0"/>
                </a:moveTo>
                <a:lnTo>
                  <a:pt x="4953000" y="0"/>
                </a:lnTo>
                <a:moveTo>
                  <a:pt x="0" y="381000"/>
                </a:moveTo>
                <a:lnTo>
                  <a:pt x="4953000" y="381000"/>
                </a:lnTo>
                <a:moveTo>
                  <a:pt x="0" y="762000"/>
                </a:moveTo>
                <a:lnTo>
                  <a:pt x="4953000" y="762000"/>
                </a:lnTo>
                <a:moveTo>
                  <a:pt x="0" y="1143000"/>
                </a:moveTo>
                <a:lnTo>
                  <a:pt x="4953000" y="1143000"/>
                </a:lnTo>
                <a:moveTo>
                  <a:pt x="0" y="1524000"/>
                </a:moveTo>
                <a:lnTo>
                  <a:pt x="4953000" y="1524000"/>
                </a:lnTo>
                <a:moveTo>
                  <a:pt x="0" y="1905000"/>
                </a:moveTo>
                <a:lnTo>
                  <a:pt x="4953000" y="1905000"/>
                </a:lnTo>
                <a:moveTo>
                  <a:pt x="0" y="2286000"/>
                </a:moveTo>
                <a:lnTo>
                  <a:pt x="4953000" y="2286000"/>
                </a:lnTo>
                <a:moveTo>
                  <a:pt x="0" y="2667000"/>
                </a:moveTo>
                <a:lnTo>
                  <a:pt x="4953000" y="2667000"/>
                </a:lnTo>
                <a:moveTo>
                  <a:pt x="0" y="3048000"/>
                </a:moveTo>
                <a:lnTo>
                  <a:pt x="4953000" y="3048000"/>
                </a:lnTo>
                <a:moveTo>
                  <a:pt x="0" y="3429000"/>
                </a:moveTo>
                <a:lnTo>
                  <a:pt x="4953000" y="3429000"/>
                </a:lnTo>
                <a:moveTo>
                  <a:pt x="0" y="3810000"/>
                </a:moveTo>
                <a:lnTo>
                  <a:pt x="4953000" y="3810000"/>
                </a:lnTo>
                <a:moveTo>
                  <a:pt x="0" y="4191000"/>
                </a:moveTo>
                <a:lnTo>
                  <a:pt x="4953000" y="4191000"/>
                </a:lnTo>
                <a:moveTo>
                  <a:pt x="0" y="4572000"/>
                </a:moveTo>
                <a:lnTo>
                  <a:pt x="4953000" y="4572000"/>
                </a:lnTo>
                <a:moveTo>
                  <a:pt x="0" y="4953000"/>
                </a:moveTo>
                <a:lnTo>
                  <a:pt x="4953000" y="4953000"/>
                </a:lnTo>
                <a:moveTo>
                  <a:pt x="0" y="5334000"/>
                </a:moveTo>
                <a:lnTo>
                  <a:pt x="4953000" y="5334000"/>
                </a:lnTo>
                <a:moveTo>
                  <a:pt x="0" y="5715000"/>
                </a:moveTo>
                <a:lnTo>
                  <a:pt x="4953000" y="5715000"/>
                </a:lnTo>
                <a:moveTo>
                  <a:pt x="0" y="6096000"/>
                </a:moveTo>
                <a:lnTo>
                  <a:pt x="4953000" y="6096000"/>
                </a:lnTo>
              </a:path>
            </a:pathLst>
          </a:custGeom>
          <a:noFill/>
          <a:ln w="9525">
            <a:solidFill>
              <a:srgbClr val="E6ECF2"/>
            </a:solidFill>
          </a:ln>
        </p:spPr>
      </p:sp>
      <p:grpSp>
        <p:nvGrpSpPr>
          <p:cNvPr id="4" name="cover-kicker"/>
          <p:cNvGrpSpPr/>
          <p:nvPr/>
        </p:nvGrpSpPr>
        <p:grpSpPr>
          <a:xfrm>
            <a:off x="602742" y="1244600"/>
            <a:ext cx="3546958" cy="264033"/>
            <a:chOff x="602742" y="1244600"/>
            <a:chExt cx="3546958" cy="264033"/>
          </a:xfrm>
        </p:grpSpPr>
        <p:sp>
          <p:nvSpPr>
            <p:cNvPr id="3" name="TextBox 3"/>
            <p:cNvSpPr txBox="1"/>
            <p:nvPr/>
          </p:nvSpPr>
          <p:spPr>
            <a:xfrm>
              <a:off x="602742" y="1244600"/>
              <a:ext cx="3546958"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IEEE WEEK 2026 · MECH. ENGG.</a:t>
              </a:r>
            </a:p>
          </p:txBody>
        </p:sp>
      </p:grpSp>
      <p:grpSp>
        <p:nvGrpSpPr>
          <p:cNvPr id="6" name="cover-title"/>
          <p:cNvGrpSpPr/>
          <p:nvPr/>
        </p:nvGrpSpPr>
        <p:grpSpPr>
          <a:xfrm>
            <a:off x="590550" y="1771650"/>
            <a:ext cx="4094058" cy="2571750"/>
            <a:chOff x="590550" y="1771650"/>
            <a:chExt cx="4094058" cy="2571750"/>
          </a:xfrm>
        </p:grpSpPr>
        <p:sp>
          <p:nvSpPr>
            <p:cNvPr id="5" name="TextBox 5"/>
            <p:cNvSpPr txBox="1"/>
            <p:nvPr/>
          </p:nvSpPr>
          <p:spPr>
            <a:xfrm>
              <a:off x="590550" y="1771650"/>
              <a:ext cx="4094058" cy="2571750"/>
            </a:xfrm>
            <a:prstGeom prst="rect">
              <a:avLst/>
            </a:prstGeom>
            <a:noFill/>
            <a:ln>
              <a:noFill/>
            </a:ln>
          </p:spPr>
          <p:txBody>
            <a:bodyPr wrap="none" lIns="0" tIns="0" rIns="0" bIns="0" anchor="t" anchorCtr="0">
              <a:spAutoFit/>
            </a:bodyPr>
            <a:lstStyle/>
            <a:p>
              <a:pPr algn="l">
                <a:lnSpc>
                  <a:spcPts val="6000"/>
                </a:lnSpc>
              </a:pPr>
              <a:r>
                <a:rPr lang="en" sz="5400" b="1" dirty="0">
                  <a:solidFill>
                    <a:srgbClr val="0E1B2C"/>
                  </a:solidFill>
                  <a:latin typeface="+mn-lt"/>
                  <a:ea typeface="+mn-ea"/>
                  <a:cs typeface="+mn-cs"/>
                </a:rPr>
                <a:t>Introduction</a:t>
              </a:r>
              <a:br>
                <a:rPr lang="en" sz="5400" b="1" dirty="0">
                  <a:solidFill>
                    <a:srgbClr val="0E1B2C"/>
                  </a:solidFill>
                  <a:latin typeface="+mn-lt"/>
                  <a:ea typeface="+mn-ea"/>
                  <a:cs typeface="+mn-cs"/>
                </a:rPr>
              </a:br>
              <a:r>
                <a:rPr lang="en" sz="5400" b="1" dirty="0">
                  <a:solidFill>
                    <a:srgbClr val="0E1B2C"/>
                  </a:solidFill>
                  <a:latin typeface="+mn-lt"/>
                  <a:ea typeface="+mn-ea"/>
                  <a:cs typeface="+mn-cs"/>
                </a:rPr>
                <a:t>to Drone</a:t>
              </a:r>
              <a:br>
                <a:rPr lang="en" sz="5400" b="1" dirty="0">
                  <a:solidFill>
                    <a:srgbClr val="0E1B2C"/>
                  </a:solidFill>
                  <a:latin typeface="+mn-lt"/>
                  <a:ea typeface="+mn-ea"/>
                  <a:cs typeface="+mn-cs"/>
                </a:rPr>
              </a:br>
              <a:r>
                <a:rPr lang="en" sz="5400" b="1" dirty="0">
                  <a:solidFill>
                    <a:srgbClr val="0E1B2C"/>
                  </a:solidFill>
                  <a:latin typeface="+mn-lt"/>
                  <a:ea typeface="+mn-ea"/>
                  <a:cs typeface="+mn-cs"/>
                </a:rPr>
                <a:t>Technology</a:t>
              </a:r>
            </a:p>
          </p:txBody>
        </p:sp>
      </p:grpSp>
      <p:grpSp>
        <p:nvGrpSpPr>
          <p:cNvPr id="8" name="cover-hook"/>
          <p:cNvGrpSpPr/>
          <p:nvPr/>
        </p:nvGrpSpPr>
        <p:grpSpPr>
          <a:xfrm>
            <a:off x="598170" y="4381500"/>
            <a:ext cx="3255093" cy="840105"/>
            <a:chOff x="598170" y="4381500"/>
            <a:chExt cx="3255093" cy="840105"/>
          </a:xfrm>
        </p:grpSpPr>
        <p:sp>
          <p:nvSpPr>
            <p:cNvPr id="7" name="TextBox 7"/>
            <p:cNvSpPr txBox="1"/>
            <p:nvPr/>
          </p:nvSpPr>
          <p:spPr>
            <a:xfrm>
              <a:off x="598170" y="4381500"/>
              <a:ext cx="3255093" cy="840105"/>
            </a:xfrm>
            <a:prstGeom prst="rect">
              <a:avLst/>
            </a:prstGeom>
            <a:noFill/>
            <a:ln>
              <a:noFill/>
            </a:ln>
          </p:spPr>
          <p:txBody>
            <a:bodyPr wrap="none" lIns="0" tIns="0" rIns="0" bIns="0" anchor="t" anchorCtr="0">
              <a:spAutoFit/>
            </a:bodyPr>
            <a:lstStyle/>
            <a:p>
              <a:pPr algn="l">
                <a:lnSpc>
                  <a:spcPts val="3150"/>
                </a:lnSpc>
              </a:pPr>
              <a:r>
                <a:rPr lang="en" sz="2250" b="1" dirty="0">
                  <a:solidFill>
                    <a:srgbClr val="E8590C"/>
                  </a:solidFill>
                  <a:latin typeface="+mn-lt"/>
                  <a:ea typeface="+mn-ea"/>
                  <a:cs typeface="+mn-cs"/>
                </a:rPr>
                <a:t>Turn code into motion.</a:t>
              </a:r>
              <a:br>
                <a:rPr lang="en" sz="2250" b="1" dirty="0">
                  <a:solidFill>
                    <a:srgbClr val="E8590C"/>
                  </a:solidFill>
                  <a:latin typeface="+mn-lt"/>
                  <a:ea typeface="+mn-ea"/>
                  <a:cs typeface="+mn-cs"/>
                </a:rPr>
              </a:br>
              <a:r>
                <a:rPr lang="en" sz="2250" dirty="0">
                  <a:solidFill>
                    <a:srgbClr val="4A5A6E"/>
                  </a:solidFill>
                  <a:latin typeface="+mn-lt"/>
                  <a:ea typeface="+mn-ea"/>
                  <a:cs typeface="+mn-cs"/>
                </a:rPr>
                <a:t>13 Oct · MPH · 9:30–12:30</a:t>
              </a:r>
            </a:p>
          </p:txBody>
        </p:sp>
      </p:grpSp>
      <p:grpSp>
        <p:nvGrpSpPr>
          <p:cNvPr id="15" name="cover-tags"/>
          <p:cNvGrpSpPr/>
          <p:nvPr/>
        </p:nvGrpSpPr>
        <p:grpSpPr>
          <a:xfrm>
            <a:off x="609600" y="5657850"/>
            <a:ext cx="5486400" cy="381000"/>
            <a:chOff x="609600" y="5657850"/>
            <a:chExt cx="5486400" cy="381000"/>
          </a:xfrm>
        </p:grpSpPr>
        <p:sp>
          <p:nvSpPr>
            <p:cNvPr id="9" name="Rectangle 9"/>
            <p:cNvSpPr/>
            <p:nvPr/>
          </p:nvSpPr>
          <p:spPr>
            <a:xfrm>
              <a:off x="609600" y="5657850"/>
              <a:ext cx="1685925" cy="381000"/>
            </a:xfrm>
            <a:prstGeom prst="roundRect">
              <a:avLst>
                <a:gd name="adj" fmla="val 50000"/>
              </a:avLst>
            </a:prstGeom>
            <a:noFill/>
            <a:ln w="14288">
              <a:solidFill>
                <a:srgbClr val="0E2A47"/>
              </a:solidFill>
            </a:ln>
          </p:spPr>
        </p:sp>
        <p:sp>
          <p:nvSpPr>
            <p:cNvPr id="10" name="TextBox 10"/>
            <p:cNvSpPr txBox="1"/>
            <p:nvPr/>
          </p:nvSpPr>
          <p:spPr>
            <a:xfrm>
              <a:off x="714333" y="5740400"/>
              <a:ext cx="1476459" cy="264033"/>
            </a:xfrm>
            <a:prstGeom prst="rect">
              <a:avLst/>
            </a:prstGeom>
            <a:noFill/>
            <a:ln>
              <a:noFill/>
            </a:ln>
          </p:spPr>
          <p:txBody>
            <a:bodyPr wrap="none" lIns="0" tIns="0" rIns="0" bIns="0" anchor="t" anchorCtr="0">
              <a:spAutoFit/>
            </a:bodyPr>
            <a:lstStyle/>
            <a:p>
              <a:pPr algn="ctr"/>
              <a:r>
                <a:rPr lang="en" sz="1350" dirty="0">
                  <a:solidFill>
                    <a:srgbClr val="0E2A47"/>
                  </a:solidFill>
                  <a:latin typeface="Consolas"/>
                  <a:ea typeface="Consolas"/>
                  <a:cs typeface="Consolas"/>
                </a:rPr>
                <a:t>ESP32 · 500 Hz</a:t>
              </a:r>
            </a:p>
          </p:txBody>
        </p:sp>
        <p:sp>
          <p:nvSpPr>
            <p:cNvPr id="11" name="Rectangle 11"/>
            <p:cNvSpPr/>
            <p:nvPr/>
          </p:nvSpPr>
          <p:spPr>
            <a:xfrm>
              <a:off x="2409825" y="5657850"/>
              <a:ext cx="1685925" cy="381000"/>
            </a:xfrm>
            <a:prstGeom prst="roundRect">
              <a:avLst>
                <a:gd name="adj" fmla="val 50000"/>
              </a:avLst>
            </a:prstGeom>
            <a:noFill/>
            <a:ln w="14288">
              <a:solidFill>
                <a:srgbClr val="0E2A47"/>
              </a:solidFill>
            </a:ln>
          </p:spPr>
        </p:sp>
        <p:sp>
          <p:nvSpPr>
            <p:cNvPr id="12" name="TextBox 12"/>
            <p:cNvSpPr txBox="1"/>
            <p:nvPr/>
          </p:nvSpPr>
          <p:spPr>
            <a:xfrm>
              <a:off x="2537441" y="5740400"/>
              <a:ext cx="1430693" cy="264033"/>
            </a:xfrm>
            <a:prstGeom prst="rect">
              <a:avLst/>
            </a:prstGeom>
            <a:noFill/>
            <a:ln>
              <a:noFill/>
            </a:ln>
          </p:spPr>
          <p:txBody>
            <a:bodyPr wrap="none" lIns="0" tIns="0" rIns="0" bIns="0" anchor="t" anchorCtr="0">
              <a:spAutoFit/>
            </a:bodyPr>
            <a:lstStyle/>
            <a:p>
              <a:pPr algn="ctr"/>
              <a:r>
                <a:rPr lang="en" sz="1350" dirty="0">
                  <a:solidFill>
                    <a:srgbClr val="0E2A47"/>
                  </a:solidFill>
                  <a:latin typeface="Consolas"/>
                  <a:ea typeface="Consolas"/>
                  <a:cs typeface="Consolas"/>
                </a:rPr>
                <a:t>AO3400 drivers</a:t>
              </a:r>
            </a:p>
          </p:txBody>
        </p:sp>
        <p:sp>
          <p:nvSpPr>
            <p:cNvPr id="13" name="Rectangle 13"/>
            <p:cNvSpPr/>
            <p:nvPr/>
          </p:nvSpPr>
          <p:spPr>
            <a:xfrm>
              <a:off x="4210050" y="5657850"/>
              <a:ext cx="1885950" cy="381000"/>
            </a:xfrm>
            <a:prstGeom prst="roundRect">
              <a:avLst>
                <a:gd name="adj" fmla="val 50000"/>
              </a:avLst>
            </a:prstGeom>
            <a:solidFill>
              <a:srgbClr val="0E2A47"/>
            </a:solidFill>
            <a:ln>
              <a:noFill/>
            </a:ln>
          </p:spPr>
        </p:sp>
        <p:sp>
          <p:nvSpPr>
            <p:cNvPr id="14" name="TextBox 14"/>
            <p:cNvSpPr txBox="1"/>
            <p:nvPr/>
          </p:nvSpPr>
          <p:spPr>
            <a:xfrm>
              <a:off x="4332597" y="5740400"/>
              <a:ext cx="1640856" cy="264033"/>
            </a:xfrm>
            <a:prstGeom prst="rect">
              <a:avLst/>
            </a:prstGeom>
            <a:noFill/>
            <a:ln>
              <a:noFill/>
            </a:ln>
          </p:spPr>
          <p:txBody>
            <a:bodyPr wrap="none" lIns="0" tIns="0" rIns="0" bIns="0" anchor="t" anchorCtr="0">
              <a:spAutoFit/>
            </a:bodyPr>
            <a:lstStyle/>
            <a:p>
              <a:pPr algn="ctr"/>
              <a:r>
                <a:rPr lang="en" sz="1350" dirty="0">
                  <a:solidFill>
                    <a:srgbClr val="FFFFFF"/>
                  </a:solidFill>
                  <a:latin typeface="Consolas"/>
                  <a:ea typeface="Consolas"/>
                  <a:cs typeface="Consolas"/>
                </a:rPr>
                <a:t>6S brushless FPV</a:t>
              </a:r>
            </a:p>
          </p:txBody>
        </p:sp>
      </p:grpSp>
      <p:grpSp>
        <p:nvGrpSpPr>
          <p:cNvPr id="54" name="hero-quad"/>
          <p:cNvGrpSpPr/>
          <p:nvPr/>
        </p:nvGrpSpPr>
        <p:grpSpPr>
          <a:xfrm>
            <a:off x="6934771" y="988262"/>
            <a:ext cx="4799458" cy="5071976"/>
            <a:chOff x="6934771" y="988262"/>
            <a:chExt cx="4799458" cy="5071976"/>
          </a:xfrm>
        </p:grpSpPr>
        <p:grpSp>
          <p:nvGrpSpPr>
            <p:cNvPr id="20" name="Group 20"/>
            <p:cNvGrpSpPr/>
            <p:nvPr/>
          </p:nvGrpSpPr>
          <p:grpSpPr>
            <a:xfrm>
              <a:off x="7810500" y="2000250"/>
              <a:ext cx="3048000" cy="3048000"/>
              <a:chOff x="7810500" y="2000250"/>
              <a:chExt cx="3048000" cy="3048000"/>
            </a:xfrm>
          </p:grpSpPr>
          <p:sp>
            <p:nvSpPr>
              <p:cNvPr id="16" name="Line 16"/>
              <p:cNvSpPr/>
              <p:nvPr/>
            </p:nvSpPr>
            <p:spPr>
              <a:xfrm>
                <a:off x="7810500" y="2000250"/>
                <a:ext cx="1524000" cy="1524000"/>
              </a:xfrm>
              <a:custGeom>
                <a:avLst/>
                <a:gdLst/>
                <a:ahLst/>
                <a:cxnLst/>
                <a:rect l="l" t="t" r="r" b="b"/>
                <a:pathLst>
                  <a:path w="1524000" h="1524000">
                    <a:moveTo>
                      <a:pt x="1524000" y="1524000"/>
                    </a:moveTo>
                    <a:lnTo>
                      <a:pt x="0" y="0"/>
                    </a:lnTo>
                  </a:path>
                </a:pathLst>
              </a:custGeom>
              <a:noFill/>
              <a:ln w="152400" cap="rnd">
                <a:solidFill>
                  <a:srgbClr val="0E2A47"/>
                </a:solidFill>
              </a:ln>
            </p:spPr>
          </p:sp>
          <p:sp>
            <p:nvSpPr>
              <p:cNvPr id="17" name="Line 17"/>
              <p:cNvSpPr/>
              <p:nvPr/>
            </p:nvSpPr>
            <p:spPr>
              <a:xfrm>
                <a:off x="9334500" y="2000250"/>
                <a:ext cx="1524000" cy="1524000"/>
              </a:xfrm>
              <a:custGeom>
                <a:avLst/>
                <a:gdLst/>
                <a:ahLst/>
                <a:cxnLst/>
                <a:rect l="l" t="t" r="r" b="b"/>
                <a:pathLst>
                  <a:path w="1524000" h="1524000">
                    <a:moveTo>
                      <a:pt x="0" y="1524000"/>
                    </a:moveTo>
                    <a:lnTo>
                      <a:pt x="1524000" y="0"/>
                    </a:lnTo>
                  </a:path>
                </a:pathLst>
              </a:custGeom>
              <a:noFill/>
              <a:ln w="152400" cap="rnd">
                <a:solidFill>
                  <a:srgbClr val="0E2A47"/>
                </a:solidFill>
              </a:ln>
            </p:spPr>
          </p:sp>
          <p:sp>
            <p:nvSpPr>
              <p:cNvPr id="18" name="Line 18"/>
              <p:cNvSpPr/>
              <p:nvPr/>
            </p:nvSpPr>
            <p:spPr>
              <a:xfrm>
                <a:off x="9334500" y="3524250"/>
                <a:ext cx="1524000" cy="1524000"/>
              </a:xfrm>
              <a:custGeom>
                <a:avLst/>
                <a:gdLst/>
                <a:ahLst/>
                <a:cxnLst/>
                <a:rect l="l" t="t" r="r" b="b"/>
                <a:pathLst>
                  <a:path w="1524000" h="1524000">
                    <a:moveTo>
                      <a:pt x="0" y="0"/>
                    </a:moveTo>
                    <a:lnTo>
                      <a:pt x="1524000" y="1524000"/>
                    </a:lnTo>
                  </a:path>
                </a:pathLst>
              </a:custGeom>
              <a:noFill/>
              <a:ln w="152400" cap="rnd">
                <a:solidFill>
                  <a:srgbClr val="0E2A47"/>
                </a:solidFill>
              </a:ln>
            </p:spPr>
          </p:sp>
          <p:sp>
            <p:nvSpPr>
              <p:cNvPr id="19" name="Line 19"/>
              <p:cNvSpPr/>
              <p:nvPr/>
            </p:nvSpPr>
            <p:spPr>
              <a:xfrm>
                <a:off x="7810500" y="3524250"/>
                <a:ext cx="1524000" cy="1524000"/>
              </a:xfrm>
              <a:custGeom>
                <a:avLst/>
                <a:gdLst/>
                <a:ahLst/>
                <a:cxnLst/>
                <a:rect l="l" t="t" r="r" b="b"/>
                <a:pathLst>
                  <a:path w="1524000" h="1524000">
                    <a:moveTo>
                      <a:pt x="1524000" y="0"/>
                    </a:moveTo>
                    <a:lnTo>
                      <a:pt x="0" y="1524000"/>
                    </a:lnTo>
                  </a:path>
                </a:pathLst>
              </a:custGeom>
              <a:noFill/>
              <a:ln w="152400" cap="rnd">
                <a:solidFill>
                  <a:srgbClr val="0E2A47"/>
                </a:solidFill>
              </a:ln>
            </p:spPr>
          </p:sp>
        </p:grpSp>
        <p:grpSp>
          <p:nvGrpSpPr>
            <p:cNvPr id="25" name="Group 25"/>
            <p:cNvGrpSpPr/>
            <p:nvPr/>
          </p:nvGrpSpPr>
          <p:grpSpPr>
            <a:xfrm>
              <a:off x="6991350" y="1181100"/>
              <a:ext cx="4686300" cy="4686300"/>
              <a:chOff x="6991350" y="1181100"/>
              <a:chExt cx="4686300" cy="4686300"/>
            </a:xfrm>
          </p:grpSpPr>
          <p:sp>
            <p:nvSpPr>
              <p:cNvPr id="21" name="Ellipse 21"/>
              <p:cNvSpPr/>
              <p:nvPr/>
            </p:nvSpPr>
            <p:spPr>
              <a:xfrm>
                <a:off x="6991350" y="1181100"/>
                <a:ext cx="1638300" cy="1638300"/>
              </a:xfrm>
              <a:prstGeom prst="ellipse">
                <a:avLst/>
              </a:prstGeom>
              <a:solidFill>
                <a:srgbClr val="FFFFFF"/>
              </a:solidFill>
              <a:ln w="23812">
                <a:solidFill>
                  <a:srgbClr val="0E2A47"/>
                </a:solidFill>
              </a:ln>
            </p:spPr>
          </p:sp>
          <p:sp>
            <p:nvSpPr>
              <p:cNvPr id="22" name="Ellipse 22"/>
              <p:cNvSpPr/>
              <p:nvPr/>
            </p:nvSpPr>
            <p:spPr>
              <a:xfrm>
                <a:off x="10039350" y="1181100"/>
                <a:ext cx="1638300" cy="1638300"/>
              </a:xfrm>
              <a:prstGeom prst="ellipse">
                <a:avLst/>
              </a:prstGeom>
              <a:solidFill>
                <a:srgbClr val="FFFFFF"/>
              </a:solidFill>
              <a:ln w="23812">
                <a:solidFill>
                  <a:srgbClr val="0E2A47"/>
                </a:solidFill>
              </a:ln>
            </p:spPr>
          </p:sp>
          <p:sp>
            <p:nvSpPr>
              <p:cNvPr id="23" name="Ellipse 23"/>
              <p:cNvSpPr/>
              <p:nvPr/>
            </p:nvSpPr>
            <p:spPr>
              <a:xfrm>
                <a:off x="10039350" y="4229100"/>
                <a:ext cx="1638300" cy="1638300"/>
              </a:xfrm>
              <a:prstGeom prst="ellipse">
                <a:avLst/>
              </a:prstGeom>
              <a:solidFill>
                <a:srgbClr val="FFFFFF"/>
              </a:solidFill>
              <a:ln w="23812">
                <a:solidFill>
                  <a:srgbClr val="0E2A47"/>
                </a:solidFill>
              </a:ln>
            </p:spPr>
          </p:sp>
          <p:sp>
            <p:nvSpPr>
              <p:cNvPr id="24" name="Ellipse 24"/>
              <p:cNvSpPr/>
              <p:nvPr/>
            </p:nvSpPr>
            <p:spPr>
              <a:xfrm>
                <a:off x="6991350" y="4229100"/>
                <a:ext cx="1638300" cy="1638300"/>
              </a:xfrm>
              <a:prstGeom prst="ellipse">
                <a:avLst/>
              </a:prstGeom>
              <a:solidFill>
                <a:srgbClr val="FFFFFF"/>
              </a:solidFill>
              <a:ln w="23812">
                <a:solidFill>
                  <a:srgbClr val="0E2A47"/>
                </a:solidFill>
              </a:ln>
            </p:spPr>
          </p:sp>
        </p:grpSp>
        <p:grpSp>
          <p:nvGrpSpPr>
            <p:cNvPr id="30" name="Group 30"/>
            <p:cNvGrpSpPr/>
            <p:nvPr/>
          </p:nvGrpSpPr>
          <p:grpSpPr>
            <a:xfrm>
              <a:off x="7143750" y="1333500"/>
              <a:ext cx="4381500" cy="4381500"/>
              <a:chOff x="7143750" y="1333500"/>
              <a:chExt cx="4381500" cy="4381500"/>
            </a:xfrm>
          </p:grpSpPr>
          <p:sp>
            <p:nvSpPr>
              <p:cNvPr id="26" name="Ellipse 26"/>
              <p:cNvSpPr/>
              <p:nvPr/>
            </p:nvSpPr>
            <p:spPr>
              <a:xfrm>
                <a:off x="7143750" y="1333500"/>
                <a:ext cx="1333500" cy="1333500"/>
              </a:xfrm>
              <a:prstGeom prst="ellipse">
                <a:avLst/>
              </a:prstGeom>
              <a:noFill/>
              <a:ln w="14288">
                <a:solidFill>
                  <a:srgbClr val="9AA8B8"/>
                </a:solidFill>
                <a:prstDash val="dash"/>
              </a:ln>
            </p:spPr>
          </p:sp>
          <p:sp>
            <p:nvSpPr>
              <p:cNvPr id="27" name="Ellipse 27"/>
              <p:cNvSpPr/>
              <p:nvPr/>
            </p:nvSpPr>
            <p:spPr>
              <a:xfrm>
                <a:off x="10191750" y="1333500"/>
                <a:ext cx="1333500" cy="1333500"/>
              </a:xfrm>
              <a:prstGeom prst="ellipse">
                <a:avLst/>
              </a:prstGeom>
              <a:noFill/>
              <a:ln w="14288">
                <a:solidFill>
                  <a:srgbClr val="9AA8B8"/>
                </a:solidFill>
                <a:prstDash val="dash"/>
              </a:ln>
            </p:spPr>
          </p:sp>
          <p:sp>
            <p:nvSpPr>
              <p:cNvPr id="28" name="Ellipse 28"/>
              <p:cNvSpPr/>
              <p:nvPr/>
            </p:nvSpPr>
            <p:spPr>
              <a:xfrm>
                <a:off x="10191750" y="4381500"/>
                <a:ext cx="1333500" cy="1333500"/>
              </a:xfrm>
              <a:prstGeom prst="ellipse">
                <a:avLst/>
              </a:prstGeom>
              <a:noFill/>
              <a:ln w="14288">
                <a:solidFill>
                  <a:srgbClr val="9AA8B8"/>
                </a:solidFill>
                <a:prstDash val="dash"/>
              </a:ln>
            </p:spPr>
          </p:sp>
          <p:sp>
            <p:nvSpPr>
              <p:cNvPr id="29" name="Ellipse 29"/>
              <p:cNvSpPr/>
              <p:nvPr/>
            </p:nvSpPr>
            <p:spPr>
              <a:xfrm>
                <a:off x="7143750" y="4381500"/>
                <a:ext cx="1333500" cy="1333500"/>
              </a:xfrm>
              <a:prstGeom prst="ellipse">
                <a:avLst/>
              </a:prstGeom>
              <a:noFill/>
              <a:ln w="14288">
                <a:solidFill>
                  <a:srgbClr val="9AA8B8"/>
                </a:solidFill>
                <a:prstDash val="dash"/>
              </a:ln>
            </p:spPr>
          </p:sp>
        </p:grpSp>
        <p:sp>
          <p:nvSpPr>
            <p:cNvPr id="31" name="Ellipse 31"/>
            <p:cNvSpPr/>
            <p:nvPr/>
          </p:nvSpPr>
          <p:spPr>
            <a:xfrm rot="-1500000">
              <a:off x="7105650" y="1905000"/>
              <a:ext cx="1409700" cy="190500"/>
            </a:xfrm>
            <a:prstGeom prst="ellipse">
              <a:avLst/>
            </a:prstGeom>
            <a:solidFill>
              <a:srgbClr val="E8590C">
                <a:alpha val="35000"/>
              </a:srgbClr>
            </a:solidFill>
            <a:ln>
              <a:noFill/>
            </a:ln>
          </p:spPr>
        </p:sp>
        <p:sp>
          <p:nvSpPr>
            <p:cNvPr id="32" name="Ellipse 32"/>
            <p:cNvSpPr/>
            <p:nvPr/>
          </p:nvSpPr>
          <p:spPr>
            <a:xfrm rot="1500000">
              <a:off x="10153650" y="1905000"/>
              <a:ext cx="1409700" cy="190500"/>
            </a:xfrm>
            <a:prstGeom prst="ellipse">
              <a:avLst/>
            </a:prstGeom>
            <a:solidFill>
              <a:srgbClr val="0B7A75">
                <a:alpha val="35000"/>
              </a:srgbClr>
            </a:solidFill>
            <a:ln>
              <a:noFill/>
            </a:ln>
          </p:spPr>
        </p:sp>
        <p:sp>
          <p:nvSpPr>
            <p:cNvPr id="33" name="Ellipse 33"/>
            <p:cNvSpPr/>
            <p:nvPr/>
          </p:nvSpPr>
          <p:spPr>
            <a:xfrm rot="-1500000">
              <a:off x="10153650" y="4953000"/>
              <a:ext cx="1409700" cy="190500"/>
            </a:xfrm>
            <a:prstGeom prst="ellipse">
              <a:avLst/>
            </a:prstGeom>
            <a:solidFill>
              <a:srgbClr val="E8590C">
                <a:alpha val="35000"/>
              </a:srgbClr>
            </a:solidFill>
            <a:ln>
              <a:noFill/>
            </a:ln>
          </p:spPr>
        </p:sp>
        <p:sp>
          <p:nvSpPr>
            <p:cNvPr id="34" name="Ellipse 34"/>
            <p:cNvSpPr/>
            <p:nvPr/>
          </p:nvSpPr>
          <p:spPr>
            <a:xfrm rot="1500000">
              <a:off x="7105650" y="4953000"/>
              <a:ext cx="1409700" cy="190500"/>
            </a:xfrm>
            <a:prstGeom prst="ellipse">
              <a:avLst/>
            </a:prstGeom>
            <a:solidFill>
              <a:srgbClr val="0B7A75">
                <a:alpha val="35000"/>
              </a:srgbClr>
            </a:solidFill>
            <a:ln>
              <a:noFill/>
            </a:ln>
          </p:spPr>
        </p:sp>
        <p:grpSp>
          <p:nvGrpSpPr>
            <p:cNvPr id="39" name="Group 39"/>
            <p:cNvGrpSpPr/>
            <p:nvPr/>
          </p:nvGrpSpPr>
          <p:grpSpPr>
            <a:xfrm>
              <a:off x="7667625" y="1857375"/>
              <a:ext cx="3333750" cy="3333750"/>
              <a:chOff x="7667625" y="1857375"/>
              <a:chExt cx="3333750" cy="3333750"/>
            </a:xfrm>
          </p:grpSpPr>
          <p:sp>
            <p:nvSpPr>
              <p:cNvPr id="35" name="Ellipse 35"/>
              <p:cNvSpPr/>
              <p:nvPr/>
            </p:nvSpPr>
            <p:spPr>
              <a:xfrm>
                <a:off x="7667625" y="1857375"/>
                <a:ext cx="285750" cy="285750"/>
              </a:xfrm>
              <a:prstGeom prst="ellipse">
                <a:avLst/>
              </a:prstGeom>
              <a:solidFill>
                <a:srgbClr val="0E2A47"/>
              </a:solidFill>
              <a:ln>
                <a:noFill/>
              </a:ln>
            </p:spPr>
          </p:sp>
          <p:sp>
            <p:nvSpPr>
              <p:cNvPr id="36" name="Ellipse 36"/>
              <p:cNvSpPr/>
              <p:nvPr/>
            </p:nvSpPr>
            <p:spPr>
              <a:xfrm>
                <a:off x="10715625" y="1857375"/>
                <a:ext cx="285750" cy="285750"/>
              </a:xfrm>
              <a:prstGeom prst="ellipse">
                <a:avLst/>
              </a:prstGeom>
              <a:solidFill>
                <a:srgbClr val="0E2A47"/>
              </a:solidFill>
              <a:ln>
                <a:noFill/>
              </a:ln>
            </p:spPr>
          </p:sp>
          <p:sp>
            <p:nvSpPr>
              <p:cNvPr id="37" name="Ellipse 37"/>
              <p:cNvSpPr/>
              <p:nvPr/>
            </p:nvSpPr>
            <p:spPr>
              <a:xfrm>
                <a:off x="10715625" y="4905375"/>
                <a:ext cx="285750" cy="285750"/>
              </a:xfrm>
              <a:prstGeom prst="ellipse">
                <a:avLst/>
              </a:prstGeom>
              <a:solidFill>
                <a:srgbClr val="0E2A47"/>
              </a:solidFill>
              <a:ln>
                <a:noFill/>
              </a:ln>
            </p:spPr>
          </p:sp>
          <p:sp>
            <p:nvSpPr>
              <p:cNvPr id="38" name="Ellipse 38"/>
              <p:cNvSpPr/>
              <p:nvPr/>
            </p:nvSpPr>
            <p:spPr>
              <a:xfrm>
                <a:off x="7667625" y="4905375"/>
                <a:ext cx="285750" cy="285750"/>
              </a:xfrm>
              <a:prstGeom prst="ellipse">
                <a:avLst/>
              </a:prstGeom>
              <a:solidFill>
                <a:srgbClr val="0E2A47"/>
              </a:solidFill>
              <a:ln>
                <a:noFill/>
              </a:ln>
            </p:spPr>
          </p:sp>
        </p:grpSp>
        <p:sp>
          <p:nvSpPr>
            <p:cNvPr id="40" name="Freeform 40"/>
            <p:cNvSpPr/>
            <p:nvPr/>
          </p:nvSpPr>
          <p:spPr>
            <a:xfrm>
              <a:off x="6934771" y="988262"/>
              <a:ext cx="1751457" cy="507163"/>
            </a:xfrm>
            <a:custGeom>
              <a:avLst/>
              <a:gdLst/>
              <a:ahLst/>
              <a:cxnLst/>
              <a:rect l="l" t="t" r="r" b="b"/>
              <a:pathLst>
                <a:path w="1751457" h="507163">
                  <a:moveTo>
                    <a:pt x="0" y="507163"/>
                  </a:moveTo>
                  <a:cubicBezTo>
                    <a:pt x="180001" y="193460"/>
                    <a:pt x="514051" y="0"/>
                    <a:pt x="875729" y="0"/>
                  </a:cubicBezTo>
                  <a:cubicBezTo>
                    <a:pt x="1237406" y="0"/>
                    <a:pt x="1571456" y="193460"/>
                    <a:pt x="1751457" y="507163"/>
                  </a:cubicBezTo>
                </a:path>
              </a:pathLst>
            </a:custGeom>
            <a:noFill/>
            <a:ln w="38100">
              <a:solidFill>
                <a:srgbClr val="E8590C"/>
              </a:solidFill>
              <a:tailEnd type="triangle" w="lg" len="lg"/>
            </a:ln>
          </p:spPr>
        </p:sp>
        <p:sp>
          <p:nvSpPr>
            <p:cNvPr id="41" name="Freeform 41"/>
            <p:cNvSpPr/>
            <p:nvPr/>
          </p:nvSpPr>
          <p:spPr>
            <a:xfrm>
              <a:off x="9982772" y="988262"/>
              <a:ext cx="1751457" cy="507163"/>
            </a:xfrm>
            <a:custGeom>
              <a:avLst/>
              <a:gdLst/>
              <a:ahLst/>
              <a:cxnLst/>
              <a:rect l="l" t="t" r="r" b="b"/>
              <a:pathLst>
                <a:path w="1751457" h="507163">
                  <a:moveTo>
                    <a:pt x="1751457" y="507163"/>
                  </a:moveTo>
                  <a:cubicBezTo>
                    <a:pt x="1571456" y="193460"/>
                    <a:pt x="1237406" y="0"/>
                    <a:pt x="875729" y="0"/>
                  </a:cubicBezTo>
                  <a:cubicBezTo>
                    <a:pt x="514051" y="0"/>
                    <a:pt x="180001" y="193460"/>
                    <a:pt x="0" y="507163"/>
                  </a:cubicBezTo>
                </a:path>
              </a:pathLst>
            </a:custGeom>
            <a:noFill/>
            <a:ln w="38100">
              <a:solidFill>
                <a:srgbClr val="0B7A75"/>
              </a:solidFill>
              <a:tailEnd type="triangle" w="lg" len="lg"/>
            </a:ln>
          </p:spPr>
        </p:sp>
        <p:sp>
          <p:nvSpPr>
            <p:cNvPr id="42" name="Freeform 42"/>
            <p:cNvSpPr/>
            <p:nvPr/>
          </p:nvSpPr>
          <p:spPr>
            <a:xfrm>
              <a:off x="9982772" y="5553075"/>
              <a:ext cx="1751457" cy="507163"/>
            </a:xfrm>
            <a:custGeom>
              <a:avLst/>
              <a:gdLst/>
              <a:ahLst/>
              <a:cxnLst/>
              <a:rect l="l" t="t" r="r" b="b"/>
              <a:pathLst>
                <a:path w="1751457" h="507163">
                  <a:moveTo>
                    <a:pt x="1751457" y="0"/>
                  </a:moveTo>
                  <a:cubicBezTo>
                    <a:pt x="1571456" y="313704"/>
                    <a:pt x="1237406" y="507163"/>
                    <a:pt x="875729" y="507163"/>
                  </a:cubicBezTo>
                  <a:cubicBezTo>
                    <a:pt x="514051" y="507163"/>
                    <a:pt x="180001" y="313704"/>
                    <a:pt x="0" y="0"/>
                  </a:cubicBezTo>
                </a:path>
              </a:pathLst>
            </a:custGeom>
            <a:noFill/>
            <a:ln w="38100">
              <a:solidFill>
                <a:srgbClr val="E8590C"/>
              </a:solidFill>
              <a:tailEnd type="triangle" w="lg" len="lg"/>
            </a:ln>
          </p:spPr>
        </p:sp>
        <p:sp>
          <p:nvSpPr>
            <p:cNvPr id="43" name="Freeform 43"/>
            <p:cNvSpPr/>
            <p:nvPr/>
          </p:nvSpPr>
          <p:spPr>
            <a:xfrm>
              <a:off x="6934771" y="5553075"/>
              <a:ext cx="1751457" cy="507163"/>
            </a:xfrm>
            <a:custGeom>
              <a:avLst/>
              <a:gdLst/>
              <a:ahLst/>
              <a:cxnLst/>
              <a:rect l="l" t="t" r="r" b="b"/>
              <a:pathLst>
                <a:path w="1751457" h="507163">
                  <a:moveTo>
                    <a:pt x="0" y="0"/>
                  </a:moveTo>
                  <a:cubicBezTo>
                    <a:pt x="180001" y="313704"/>
                    <a:pt x="514051" y="507163"/>
                    <a:pt x="875729" y="507163"/>
                  </a:cubicBezTo>
                  <a:cubicBezTo>
                    <a:pt x="1237406" y="507163"/>
                    <a:pt x="1571456" y="313704"/>
                    <a:pt x="1751457" y="0"/>
                  </a:cubicBezTo>
                </a:path>
              </a:pathLst>
            </a:custGeom>
            <a:noFill/>
            <a:ln w="38100">
              <a:solidFill>
                <a:srgbClr val="0B7A75"/>
              </a:solidFill>
              <a:tailEnd type="triangle" w="lg" len="lg"/>
            </a:ln>
          </p:spPr>
        </p:sp>
        <p:sp>
          <p:nvSpPr>
            <p:cNvPr id="44" name="Rectangle 44"/>
            <p:cNvSpPr/>
            <p:nvPr/>
          </p:nvSpPr>
          <p:spPr>
            <a:xfrm>
              <a:off x="8763000" y="2809875"/>
              <a:ext cx="1143000" cy="1428750"/>
            </a:xfrm>
            <a:prstGeom prst="roundRect">
              <a:avLst>
                <a:gd name="adj" fmla="val 13333"/>
              </a:avLst>
            </a:prstGeom>
            <a:solidFill>
              <a:srgbClr val="0E2A47"/>
            </a:solidFill>
            <a:ln>
              <a:noFill/>
            </a:ln>
          </p:spPr>
        </p:sp>
        <p:sp>
          <p:nvSpPr>
            <p:cNvPr id="45" name="Polygon 45"/>
            <p:cNvSpPr/>
            <p:nvPr/>
          </p:nvSpPr>
          <p:spPr>
            <a:xfrm>
              <a:off x="9182100" y="2495550"/>
              <a:ext cx="304800" cy="228600"/>
            </a:xfrm>
            <a:custGeom>
              <a:avLst/>
              <a:gdLst/>
              <a:ahLst/>
              <a:cxnLst/>
              <a:rect l="l" t="t" r="r" b="b"/>
              <a:pathLst>
                <a:path w="304800" h="228600">
                  <a:moveTo>
                    <a:pt x="152400" y="0"/>
                  </a:moveTo>
                  <a:lnTo>
                    <a:pt x="304800" y="228600"/>
                  </a:lnTo>
                  <a:lnTo>
                    <a:pt x="0" y="228600"/>
                  </a:lnTo>
                  <a:close/>
                </a:path>
              </a:pathLst>
            </a:custGeom>
            <a:solidFill>
              <a:srgbClr val="E8590C"/>
            </a:solidFill>
            <a:ln>
              <a:noFill/>
            </a:ln>
          </p:spPr>
        </p:sp>
        <p:grpSp>
          <p:nvGrpSpPr>
            <p:cNvPr id="50" name="Group 50"/>
            <p:cNvGrpSpPr/>
            <p:nvPr/>
          </p:nvGrpSpPr>
          <p:grpSpPr>
            <a:xfrm>
              <a:off x="7685532" y="2317750"/>
              <a:ext cx="3297936" cy="3341370"/>
              <a:chOff x="7685532" y="2317750"/>
              <a:chExt cx="3297936" cy="3341370"/>
            </a:xfrm>
          </p:grpSpPr>
          <p:sp>
            <p:nvSpPr>
              <p:cNvPr id="46" name="TextBox 46"/>
              <p:cNvSpPr txBox="1"/>
              <p:nvPr/>
            </p:nvSpPr>
            <p:spPr>
              <a:xfrm>
                <a:off x="7685532" y="2317750"/>
                <a:ext cx="249936" cy="293370"/>
              </a:xfrm>
              <a:prstGeom prst="rect">
                <a:avLst/>
              </a:prstGeom>
              <a:noFill/>
              <a:ln>
                <a:noFill/>
              </a:ln>
            </p:spPr>
            <p:txBody>
              <a:bodyPr wrap="none" lIns="0" tIns="0" rIns="0" bIns="0" anchor="t" anchorCtr="0">
                <a:spAutoFit/>
              </a:bodyPr>
              <a:lstStyle/>
              <a:p>
                <a:pPr algn="ctr"/>
                <a:r>
                  <a:rPr lang="en" sz="1500" dirty="0">
                    <a:solidFill>
                      <a:srgbClr val="0E2A47"/>
                    </a:solidFill>
                    <a:latin typeface="Consolas"/>
                    <a:ea typeface="Consolas"/>
                    <a:cs typeface="Consolas"/>
                  </a:rPr>
                  <a:t>M1</a:t>
                </a:r>
              </a:p>
            </p:txBody>
          </p:sp>
          <p:sp>
            <p:nvSpPr>
              <p:cNvPr id="47" name="TextBox 47"/>
              <p:cNvSpPr txBox="1"/>
              <p:nvPr/>
            </p:nvSpPr>
            <p:spPr>
              <a:xfrm>
                <a:off x="10733532" y="2317750"/>
                <a:ext cx="249936" cy="293370"/>
              </a:xfrm>
              <a:prstGeom prst="rect">
                <a:avLst/>
              </a:prstGeom>
              <a:noFill/>
              <a:ln>
                <a:noFill/>
              </a:ln>
            </p:spPr>
            <p:txBody>
              <a:bodyPr wrap="none" lIns="0" tIns="0" rIns="0" bIns="0" anchor="t" anchorCtr="0">
                <a:spAutoFit/>
              </a:bodyPr>
              <a:lstStyle/>
              <a:p>
                <a:pPr algn="ctr"/>
                <a:r>
                  <a:rPr lang="en" sz="1500" dirty="0">
                    <a:solidFill>
                      <a:srgbClr val="0E2A47"/>
                    </a:solidFill>
                    <a:latin typeface="Consolas"/>
                    <a:ea typeface="Consolas"/>
                    <a:cs typeface="Consolas"/>
                  </a:rPr>
                  <a:t>M2</a:t>
                </a:r>
              </a:p>
            </p:txBody>
          </p:sp>
          <p:sp>
            <p:nvSpPr>
              <p:cNvPr id="48" name="TextBox 48"/>
              <p:cNvSpPr txBox="1"/>
              <p:nvPr/>
            </p:nvSpPr>
            <p:spPr>
              <a:xfrm>
                <a:off x="10733532" y="5365750"/>
                <a:ext cx="249936" cy="293370"/>
              </a:xfrm>
              <a:prstGeom prst="rect">
                <a:avLst/>
              </a:prstGeom>
              <a:noFill/>
              <a:ln>
                <a:noFill/>
              </a:ln>
            </p:spPr>
            <p:txBody>
              <a:bodyPr wrap="none" lIns="0" tIns="0" rIns="0" bIns="0" anchor="t" anchorCtr="0">
                <a:spAutoFit/>
              </a:bodyPr>
              <a:lstStyle/>
              <a:p>
                <a:pPr algn="ctr"/>
                <a:r>
                  <a:rPr lang="en" sz="1500" dirty="0">
                    <a:solidFill>
                      <a:srgbClr val="0E2A47"/>
                    </a:solidFill>
                    <a:latin typeface="Consolas"/>
                    <a:ea typeface="Consolas"/>
                    <a:cs typeface="Consolas"/>
                  </a:rPr>
                  <a:t>M3</a:t>
                </a:r>
              </a:p>
            </p:txBody>
          </p:sp>
          <p:sp>
            <p:nvSpPr>
              <p:cNvPr id="49" name="TextBox 49"/>
              <p:cNvSpPr txBox="1"/>
              <p:nvPr/>
            </p:nvSpPr>
            <p:spPr>
              <a:xfrm>
                <a:off x="7685532" y="5365750"/>
                <a:ext cx="249936" cy="293370"/>
              </a:xfrm>
              <a:prstGeom prst="rect">
                <a:avLst/>
              </a:prstGeom>
              <a:noFill/>
              <a:ln>
                <a:noFill/>
              </a:ln>
            </p:spPr>
            <p:txBody>
              <a:bodyPr wrap="none" lIns="0" tIns="0" rIns="0" bIns="0" anchor="t" anchorCtr="0">
                <a:spAutoFit/>
              </a:bodyPr>
              <a:lstStyle/>
              <a:p>
                <a:pPr algn="ctr"/>
                <a:r>
                  <a:rPr lang="en" sz="1500" dirty="0">
                    <a:solidFill>
                      <a:srgbClr val="0E2A47"/>
                    </a:solidFill>
                    <a:latin typeface="Consolas"/>
                    <a:ea typeface="Consolas"/>
                    <a:cs typeface="Consolas"/>
                  </a:rPr>
                  <a:t>M4</a:t>
                </a:r>
              </a:p>
            </p:txBody>
          </p:sp>
        </p:grpSp>
        <p:grpSp>
          <p:nvGrpSpPr>
            <p:cNvPr id="53" name="Group 53"/>
            <p:cNvGrpSpPr/>
            <p:nvPr/>
          </p:nvGrpSpPr>
          <p:grpSpPr>
            <a:xfrm>
              <a:off x="8905189" y="3302000"/>
              <a:ext cx="858622" cy="530733"/>
              <a:chOff x="8905189" y="3302000"/>
              <a:chExt cx="858622" cy="530733"/>
            </a:xfrm>
          </p:grpSpPr>
          <p:sp>
            <p:nvSpPr>
              <p:cNvPr id="51" name="TextBox 51"/>
              <p:cNvSpPr txBox="1"/>
              <p:nvPr/>
            </p:nvSpPr>
            <p:spPr>
              <a:xfrm>
                <a:off x="9063609" y="3302000"/>
                <a:ext cx="541782" cy="264033"/>
              </a:xfrm>
              <a:prstGeom prst="rect">
                <a:avLst/>
              </a:prstGeom>
              <a:noFill/>
              <a:ln>
                <a:noFill/>
              </a:ln>
            </p:spPr>
            <p:txBody>
              <a:bodyPr wrap="none" lIns="0" tIns="0" rIns="0" bIns="0" anchor="t" anchorCtr="0">
                <a:spAutoFit/>
              </a:bodyPr>
              <a:lstStyle/>
              <a:p>
                <a:pPr algn="ctr"/>
                <a:r>
                  <a:rPr lang="en" sz="1350" dirty="0">
                    <a:solidFill>
                      <a:srgbClr val="FFFFFF"/>
                    </a:solidFill>
                    <a:latin typeface="Consolas"/>
                    <a:ea typeface="Consolas"/>
                    <a:cs typeface="Consolas"/>
                  </a:rPr>
                  <a:t>ESP32</a:t>
                </a:r>
              </a:p>
            </p:txBody>
          </p:sp>
          <p:sp>
            <p:nvSpPr>
              <p:cNvPr id="52" name="TextBox 52"/>
              <p:cNvSpPr txBox="1"/>
              <p:nvPr/>
            </p:nvSpPr>
            <p:spPr>
              <a:xfrm>
                <a:off x="8905189" y="3568700"/>
                <a:ext cx="858622" cy="264033"/>
              </a:xfrm>
              <a:prstGeom prst="rect">
                <a:avLst/>
              </a:prstGeom>
              <a:noFill/>
              <a:ln>
                <a:noFill/>
              </a:ln>
            </p:spPr>
            <p:txBody>
              <a:bodyPr wrap="none" lIns="0" tIns="0" rIns="0" bIns="0" anchor="t" anchorCtr="0">
                <a:spAutoFit/>
              </a:bodyPr>
              <a:lstStyle/>
              <a:p>
                <a:pPr algn="ctr"/>
                <a:r>
                  <a:rPr lang="en" sz="1350" dirty="0">
                    <a:solidFill>
                      <a:srgbClr val="FFFFFF"/>
                    </a:solidFill>
                    <a:latin typeface="Consolas"/>
                    <a:ea typeface="Consolas"/>
                    <a:cs typeface="Consolas"/>
                  </a:rPr>
                  <a:t>MPU-6050</a:t>
                </a:r>
              </a:p>
            </p:txBody>
          </p:sp>
        </p:grpSp>
      </p:gr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37" presetClass="entr" presetSubtype="0" fill="hold" nodeType="afterEffect">
                                  <p:stCondLst>
                                    <p:cond delay="1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00"/>
                                        <p:tgtEl>
                                          <p:spTgt spid="6"/>
                                        </p:tgtEl>
                                      </p:cBhvr>
                                    </p:animEffect>
                                    <p:anim calcmode="lin" valueType="num">
                                      <p:cBhvr>
                                        <p:cTn id="12" dur="700" fill="hold"/>
                                        <p:tgtEl>
                                          <p:spTgt spid="6"/>
                                        </p:tgtEl>
                                        <p:attrNameLst>
                                          <p:attrName>ppt_x</p:attrName>
                                        </p:attrNameLst>
                                      </p:cBhvr>
                                      <p:tavLst>
                                        <p:tav tm="0">
                                          <p:val>
                                            <p:strVal val="#ppt_x"/>
                                          </p:val>
                                        </p:tav>
                                        <p:tav tm="100000">
                                          <p:val>
                                            <p:strVal val="#ppt_x"/>
                                          </p:val>
                                        </p:tav>
                                      </p:tavLst>
                                    </p:anim>
                                    <p:anim calcmode="lin" valueType="num">
                                      <p:cBhvr>
                                        <p:cTn id="13" dur="630" decel="100000" fill="hold"/>
                                        <p:tgtEl>
                                          <p:spTgt spid="6"/>
                                        </p:tgtEl>
                                        <p:attrNameLst>
                                          <p:attrName>ppt_y</p:attrName>
                                        </p:attrNameLst>
                                      </p:cBhvr>
                                      <p:tavLst>
                                        <p:tav tm="0">
                                          <p:val>
                                            <p:strVal val="#ppt_y+1"/>
                                          </p:val>
                                        </p:tav>
                                        <p:tav tm="100000">
                                          <p:val>
                                            <p:strVal val="#ppt_y-.03"/>
                                          </p:val>
                                        </p:tav>
                                      </p:tavLst>
                                    </p:anim>
                                    <p:anim calcmode="lin" valueType="num">
                                      <p:cBhvr>
                                        <p:cTn id="14" dur="70" accel="100000" fill="hold">
                                          <p:stCondLst>
                                            <p:cond delay="630"/>
                                          </p:stCondLst>
                                        </p:cTn>
                                        <p:tgtEl>
                                          <p:spTgt spid="6"/>
                                        </p:tgtEl>
                                        <p:attrNameLst>
                                          <p:attrName>ppt_y</p:attrName>
                                        </p:attrNameLst>
                                      </p:cBhvr>
                                      <p:tavLst>
                                        <p:tav tm="0">
                                          <p:val>
                                            <p:strVal val="#ppt_y-.03"/>
                                          </p:val>
                                        </p:tav>
                                        <p:tav tm="100000">
                                          <p:val>
                                            <p:strVal val="#ppt_y"/>
                                          </p:val>
                                        </p:tav>
                                      </p:tavLst>
                                    </p:anim>
                                  </p:childTnLst>
                                </p:cTn>
                              </p:par>
                            </p:childTnLst>
                          </p:cTn>
                        </p:par>
                        <p:par>
                          <p:cTn id="15" fill="hold">
                            <p:stCondLst>
                              <p:cond delay="500"/>
                            </p:stCondLst>
                            <p:childTnLst>
                              <p:par>
                                <p:cTn id="16" presetID="53" presetClass="entr" presetSubtype="16" fill="hold" nodeType="withEffect">
                                  <p:stCondLst>
                                    <p:cond delay="0"/>
                                  </p:stCondLst>
                                  <p:childTnLst>
                                    <p:set>
                                      <p:cBhvr>
                                        <p:cTn id="17" dur="1" fill="hold">
                                          <p:stCondLst>
                                            <p:cond delay="0"/>
                                          </p:stCondLst>
                                        </p:cTn>
                                        <p:tgtEl>
                                          <p:spTgt spid="54"/>
                                        </p:tgtEl>
                                        <p:attrNameLst>
                                          <p:attrName>style.visibility</p:attrName>
                                        </p:attrNameLst>
                                      </p:cBhvr>
                                      <p:to>
                                        <p:strVal val="visible"/>
                                      </p:to>
                                    </p:set>
                                    <p:anim calcmode="lin" valueType="num">
                                      <p:cBhvr>
                                        <p:cTn id="18" dur="900" fill="hold"/>
                                        <p:tgtEl>
                                          <p:spTgt spid="54"/>
                                        </p:tgtEl>
                                        <p:attrNameLst>
                                          <p:attrName>ppt_w</p:attrName>
                                        </p:attrNameLst>
                                      </p:cBhvr>
                                      <p:tavLst>
                                        <p:tav tm="0">
                                          <p:val>
                                            <p:fltVal val="0"/>
                                          </p:val>
                                        </p:tav>
                                        <p:tav tm="100000">
                                          <p:val>
                                            <p:strVal val="#ppt_w"/>
                                          </p:val>
                                        </p:tav>
                                      </p:tavLst>
                                    </p:anim>
                                    <p:anim calcmode="lin" valueType="num">
                                      <p:cBhvr>
                                        <p:cTn id="19" dur="900" fill="hold"/>
                                        <p:tgtEl>
                                          <p:spTgt spid="54"/>
                                        </p:tgtEl>
                                        <p:attrNameLst>
                                          <p:attrName>ppt_h</p:attrName>
                                        </p:attrNameLst>
                                      </p:cBhvr>
                                      <p:tavLst>
                                        <p:tav tm="0">
                                          <p:val>
                                            <p:fltVal val="0"/>
                                          </p:val>
                                        </p:tav>
                                        <p:tav tm="100000">
                                          <p:val>
                                            <p:strVal val="#ppt_h"/>
                                          </p:val>
                                        </p:tav>
                                      </p:tavLst>
                                    </p:anim>
                                    <p:animEffect transition="in" filter="fade">
                                      <p:cBhvr>
                                        <p:cTn id="20" dur="900"/>
                                        <p:tgtEl>
                                          <p:spTgt spid="54"/>
                                        </p:tgtEl>
                                      </p:cBhvr>
                                    </p:animEffect>
                                  </p:childTnLst>
                                </p:cTn>
                              </p:par>
                            </p:childTnLst>
                          </p:cTn>
                        </p:par>
                        <p:par>
                          <p:cTn id="21" fill="hold">
                            <p:stCondLst>
                              <p:cond delay="1400"/>
                            </p:stCondLst>
                            <p:childTnLst>
                              <p:par>
                                <p:cTn id="22" presetID="10" presetClass="entr" presetSubtype="0" fill="hold" nodeType="afterEffect">
                                  <p:stCondLst>
                                    <p:cond delay="1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childTnLst>
                          </p:cTn>
                        </p:par>
                        <p:par>
                          <p:cTn id="25" fill="hold">
                            <p:stCondLst>
                              <p:cond delay="2100"/>
                            </p:stCondLst>
                            <p:childTnLst>
                              <p:par>
                                <p:cTn id="26" presetID="22" presetClass="entr" presetSubtype="2" fill="hold" nodeType="afterEffect">
                                  <p:stCondLst>
                                    <p:cond delay="10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6729563" cy="880364"/>
            <a:chOff x="592836" y="539750"/>
            <a:chExt cx="6729563" cy="880364"/>
          </a:xfrm>
        </p:grpSpPr>
        <p:sp>
          <p:nvSpPr>
            <p:cNvPr id="2" name="TextBox 2"/>
            <p:cNvSpPr txBox="1"/>
            <p:nvPr/>
          </p:nvSpPr>
          <p:spPr>
            <a:xfrm>
              <a:off x="602742" y="539750"/>
              <a:ext cx="1515770"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02 / ROADMAP</a:t>
              </a:r>
            </a:p>
          </p:txBody>
        </p:sp>
        <p:sp>
          <p:nvSpPr>
            <p:cNvPr id="3" name="TextBox 3"/>
            <p:cNvSpPr txBox="1"/>
            <p:nvPr/>
          </p:nvSpPr>
          <p:spPr>
            <a:xfrm>
              <a:off x="592836" y="774700"/>
              <a:ext cx="6729563"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Five stops from physics to flight</a:t>
              </a:r>
            </a:p>
          </p:txBody>
        </p:sp>
      </p:grpSp>
      <p:sp>
        <p:nvSpPr>
          <p:cNvPr id="5" name="ground-decor"/>
          <p:cNvSpPr/>
          <p:nvPr/>
        </p:nvSpPr>
        <p:spPr>
          <a:xfrm>
            <a:off x="609600" y="6210300"/>
            <a:ext cx="10972800" cy="9525"/>
          </a:xfrm>
          <a:custGeom>
            <a:avLst/>
            <a:gdLst/>
            <a:ahLst/>
            <a:cxnLst/>
            <a:rect l="l" t="t" r="r" b="b"/>
            <a:pathLst>
              <a:path w="10972800" h="9525">
                <a:moveTo>
                  <a:pt x="0" y="0"/>
                </a:moveTo>
                <a:lnTo>
                  <a:pt x="10972800" y="0"/>
                </a:lnTo>
              </a:path>
            </a:pathLst>
          </a:custGeom>
          <a:noFill/>
          <a:ln w="19050">
            <a:solidFill>
              <a:srgbClr val="CBD5E1"/>
            </a:solidFill>
            <a:prstDash val="dash"/>
          </a:ln>
        </p:spPr>
      </p:sp>
      <p:grpSp>
        <p:nvGrpSpPr>
          <p:cNvPr id="13" name="phase-1"/>
          <p:cNvGrpSpPr/>
          <p:nvPr/>
        </p:nvGrpSpPr>
        <p:grpSpPr>
          <a:xfrm>
            <a:off x="590550" y="1479550"/>
            <a:ext cx="1710739" cy="4635500"/>
            <a:chOff x="590550" y="1479550"/>
            <a:chExt cx="1710739" cy="4635500"/>
          </a:xfrm>
        </p:grpSpPr>
        <p:sp>
          <p:nvSpPr>
            <p:cNvPr id="6" name="TextBox 6"/>
            <p:cNvSpPr txBox="1"/>
            <p:nvPr/>
          </p:nvSpPr>
          <p:spPr>
            <a:xfrm>
              <a:off x="590550" y="1479550"/>
              <a:ext cx="781461" cy="933450"/>
            </a:xfrm>
            <a:prstGeom prst="rect">
              <a:avLst/>
            </a:prstGeom>
            <a:noFill/>
            <a:ln>
              <a:noFill/>
            </a:ln>
          </p:spPr>
          <p:txBody>
            <a:bodyPr wrap="none" lIns="0" tIns="0" rIns="0" bIns="0" anchor="t" anchorCtr="0">
              <a:spAutoFit/>
            </a:bodyPr>
            <a:lstStyle/>
            <a:p>
              <a:pPr algn="l"/>
              <a:r>
                <a:rPr lang="en" sz="4800" b="1" dirty="0">
                  <a:solidFill>
                    <a:srgbClr val="E8590C"/>
                  </a:solidFill>
                  <a:latin typeface="+mn-lt"/>
                  <a:ea typeface="+mn-ea"/>
                  <a:cs typeface="+mn-cs"/>
                </a:rPr>
                <a:t>01</a:t>
              </a:r>
            </a:p>
          </p:txBody>
        </p:sp>
        <p:sp>
          <p:nvSpPr>
            <p:cNvPr id="7" name="TextBox 7"/>
            <p:cNvSpPr txBox="1"/>
            <p:nvPr/>
          </p:nvSpPr>
          <p:spPr>
            <a:xfrm>
              <a:off x="599694" y="2254250"/>
              <a:ext cx="1701595"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Flight physics</a:t>
              </a:r>
            </a:p>
          </p:txBody>
        </p:sp>
        <p:sp>
          <p:nvSpPr>
            <p:cNvPr id="8" name="TextBox 8"/>
            <p:cNvSpPr txBox="1"/>
            <p:nvPr/>
          </p:nvSpPr>
          <p:spPr>
            <a:xfrm>
              <a:off x="601980" y="2654300"/>
              <a:ext cx="1668837" cy="8267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How 4 motors steer</a:t>
              </a:r>
              <a:br>
                <a:rPr lang="en" sz="1500" dirty="0">
                  <a:solidFill>
                    <a:srgbClr val="4A5A6E"/>
                  </a:solidFill>
                  <a:latin typeface="+mn-lt"/>
                  <a:ea typeface="+mn-ea"/>
                  <a:cs typeface="+mn-cs"/>
                </a:rPr>
              </a:br>
              <a:r>
                <a:rPr lang="en" sz="1500" dirty="0">
                  <a:solidFill>
                    <a:srgbClr val="4A5A6E"/>
                  </a:solidFill>
                  <a:latin typeface="+mn-lt"/>
                  <a:ea typeface="+mn-ea"/>
                  <a:cs typeface="+mn-cs"/>
                </a:rPr>
                <a:t>roll, pitch, yaw</a:t>
              </a:r>
              <a:br>
                <a:rPr lang="en" sz="1500" dirty="0">
                  <a:solidFill>
                    <a:srgbClr val="4A5A6E"/>
                  </a:solidFill>
                  <a:latin typeface="+mn-lt"/>
                  <a:ea typeface="+mn-ea"/>
                  <a:cs typeface="+mn-cs"/>
                </a:rPr>
              </a:br>
              <a:r>
                <a:rPr lang="en" sz="1500" dirty="0">
                  <a:solidFill>
                    <a:srgbClr val="4A5A6E"/>
                  </a:solidFill>
                  <a:latin typeface="+mn-lt"/>
                  <a:ea typeface="+mn-ea"/>
                  <a:cs typeface="+mn-cs"/>
                </a:rPr>
                <a:t>and thrust</a:t>
              </a:r>
            </a:p>
          </p:txBody>
        </p:sp>
        <p:sp>
          <p:nvSpPr>
            <p:cNvPr id="9" name="TextBox 9"/>
            <p:cNvSpPr txBox="1"/>
            <p:nvPr/>
          </p:nvSpPr>
          <p:spPr>
            <a:xfrm>
              <a:off x="602742" y="3683000"/>
              <a:ext cx="1069848"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SLIDES 3–4</a:t>
              </a:r>
            </a:p>
          </p:txBody>
        </p:sp>
        <p:sp>
          <p:nvSpPr>
            <p:cNvPr id="10" name="Line 10"/>
            <p:cNvSpPr/>
            <p:nvPr/>
          </p:nvSpPr>
          <p:spPr>
            <a:xfrm>
              <a:off x="1609725" y="4000500"/>
              <a:ext cx="9525" cy="1676400"/>
            </a:xfrm>
            <a:custGeom>
              <a:avLst/>
              <a:gdLst/>
              <a:ahLst/>
              <a:cxnLst/>
              <a:rect l="l" t="t" r="r" b="b"/>
              <a:pathLst>
                <a:path w="9525" h="1676400">
                  <a:moveTo>
                    <a:pt x="0" y="0"/>
                  </a:moveTo>
                  <a:lnTo>
                    <a:pt x="0" y="1676400"/>
                  </a:lnTo>
                </a:path>
              </a:pathLst>
            </a:custGeom>
            <a:noFill/>
            <a:ln w="14288">
              <a:solidFill>
                <a:srgbClr val="9AA8B8"/>
              </a:solidFill>
              <a:prstDash val="sysDot"/>
            </a:ln>
          </p:spPr>
        </p:sp>
        <p:sp>
          <p:nvSpPr>
            <p:cNvPr id="11" name="Ellipse 11"/>
            <p:cNvSpPr/>
            <p:nvPr/>
          </p:nvSpPr>
          <p:spPr>
            <a:xfrm>
              <a:off x="1400175" y="5695950"/>
              <a:ext cx="419100" cy="419100"/>
            </a:xfrm>
            <a:prstGeom prst="ellipse">
              <a:avLst/>
            </a:prstGeom>
            <a:solidFill>
              <a:srgbClr val="FFFFFF"/>
            </a:solidFill>
            <a:ln w="28575">
              <a:solidFill>
                <a:srgbClr val="0E2A47"/>
              </a:solidFill>
            </a:ln>
          </p:spPr>
        </p:sp>
        <p:sp>
          <p:nvSpPr>
            <p:cNvPr id="12" name="Ellipse 12"/>
            <p:cNvSpPr/>
            <p:nvPr/>
          </p:nvSpPr>
          <p:spPr>
            <a:xfrm>
              <a:off x="1524000" y="5819775"/>
              <a:ext cx="171450" cy="171450"/>
            </a:xfrm>
            <a:prstGeom prst="ellipse">
              <a:avLst/>
            </a:prstGeom>
            <a:solidFill>
              <a:srgbClr val="0E2A47"/>
            </a:solidFill>
            <a:ln>
              <a:noFill/>
            </a:ln>
          </p:spPr>
        </p:sp>
      </p:grpSp>
      <p:grpSp>
        <p:nvGrpSpPr>
          <p:cNvPr id="22" name="phase-2"/>
          <p:cNvGrpSpPr/>
          <p:nvPr/>
        </p:nvGrpSpPr>
        <p:grpSpPr>
          <a:xfrm>
            <a:off x="1819275" y="1479550"/>
            <a:ext cx="2469194" cy="4387850"/>
            <a:chOff x="1819275" y="1479550"/>
            <a:chExt cx="2469194" cy="4387850"/>
          </a:xfrm>
        </p:grpSpPr>
        <p:sp>
          <p:nvSpPr>
            <p:cNvPr id="14" name="Line 14"/>
            <p:cNvSpPr/>
            <p:nvPr/>
          </p:nvSpPr>
          <p:spPr>
            <a:xfrm>
              <a:off x="1819275" y="5638800"/>
              <a:ext cx="1819275" cy="228600"/>
            </a:xfrm>
            <a:custGeom>
              <a:avLst/>
              <a:gdLst/>
              <a:ahLst/>
              <a:cxnLst/>
              <a:rect l="l" t="t" r="r" b="b"/>
              <a:pathLst>
                <a:path w="1819275" h="228600">
                  <a:moveTo>
                    <a:pt x="0" y="228600"/>
                  </a:moveTo>
                  <a:lnTo>
                    <a:pt x="1819275" y="0"/>
                  </a:lnTo>
                </a:path>
              </a:pathLst>
            </a:custGeom>
            <a:noFill/>
            <a:ln w="38100">
              <a:solidFill>
                <a:srgbClr val="0E2A47"/>
              </a:solidFill>
            </a:ln>
          </p:spPr>
        </p:sp>
        <p:sp>
          <p:nvSpPr>
            <p:cNvPr id="15" name="TextBox 15"/>
            <p:cNvSpPr txBox="1"/>
            <p:nvPr/>
          </p:nvSpPr>
          <p:spPr>
            <a:xfrm>
              <a:off x="2828925" y="1479550"/>
              <a:ext cx="781461" cy="933450"/>
            </a:xfrm>
            <a:prstGeom prst="rect">
              <a:avLst/>
            </a:prstGeom>
            <a:noFill/>
            <a:ln>
              <a:noFill/>
            </a:ln>
          </p:spPr>
          <p:txBody>
            <a:bodyPr wrap="none" lIns="0" tIns="0" rIns="0" bIns="0" anchor="t" anchorCtr="0">
              <a:spAutoFit/>
            </a:bodyPr>
            <a:lstStyle/>
            <a:p>
              <a:pPr algn="l"/>
              <a:r>
                <a:rPr lang="en" sz="4800" b="1" dirty="0">
                  <a:solidFill>
                    <a:srgbClr val="E8590C"/>
                  </a:solidFill>
                  <a:latin typeface="+mn-lt"/>
                  <a:ea typeface="+mn-ea"/>
                  <a:cs typeface="+mn-cs"/>
                </a:rPr>
                <a:t>02</a:t>
              </a:r>
            </a:p>
          </p:txBody>
        </p:sp>
        <p:sp>
          <p:nvSpPr>
            <p:cNvPr id="16" name="TextBox 16"/>
            <p:cNvSpPr txBox="1"/>
            <p:nvPr/>
          </p:nvSpPr>
          <p:spPr>
            <a:xfrm>
              <a:off x="2838069" y="2254250"/>
              <a:ext cx="1450400"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Micro build</a:t>
              </a:r>
            </a:p>
          </p:txBody>
        </p:sp>
        <p:sp>
          <p:nvSpPr>
            <p:cNvPr id="17" name="TextBox 17"/>
            <p:cNvSpPr txBox="1"/>
            <p:nvPr/>
          </p:nvSpPr>
          <p:spPr>
            <a:xfrm>
              <a:off x="2840355" y="2654300"/>
              <a:ext cx="1329823" cy="8267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Parts, the driver</a:t>
              </a:r>
              <a:br>
                <a:rPr lang="en" sz="1500" dirty="0">
                  <a:solidFill>
                    <a:srgbClr val="4A5A6E"/>
                  </a:solidFill>
                  <a:latin typeface="+mn-lt"/>
                  <a:ea typeface="+mn-ea"/>
                  <a:cs typeface="+mn-cs"/>
                </a:rPr>
              </a:br>
              <a:r>
                <a:rPr lang="en" sz="1500" dirty="0">
                  <a:solidFill>
                    <a:srgbClr val="4A5A6E"/>
                  </a:solidFill>
                  <a:latin typeface="+mn-lt"/>
                  <a:ea typeface="+mn-ea"/>
                  <a:cs typeface="+mn-cs"/>
                </a:rPr>
                <a:t>that failed, and</a:t>
              </a:r>
              <a:br>
                <a:rPr lang="en" sz="1500" dirty="0">
                  <a:solidFill>
                    <a:srgbClr val="4A5A6E"/>
                  </a:solidFill>
                  <a:latin typeface="+mn-lt"/>
                  <a:ea typeface="+mn-ea"/>
                  <a:cs typeface="+mn-cs"/>
                </a:rPr>
              </a:br>
              <a:r>
                <a:rPr lang="en" sz="1500" dirty="0">
                  <a:solidFill>
                    <a:srgbClr val="4A5A6E"/>
                  </a:solidFill>
                  <a:latin typeface="+mn-lt"/>
                  <a:ea typeface="+mn-ea"/>
                  <a:cs typeface="+mn-cs"/>
                </a:rPr>
                <a:t>the MOSFET fix</a:t>
              </a:r>
            </a:p>
          </p:txBody>
        </p:sp>
        <p:sp>
          <p:nvSpPr>
            <p:cNvPr id="18" name="TextBox 18"/>
            <p:cNvSpPr txBox="1"/>
            <p:nvPr/>
          </p:nvSpPr>
          <p:spPr>
            <a:xfrm>
              <a:off x="2841117" y="3683000"/>
              <a:ext cx="1069848"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SLIDES 5–9</a:t>
              </a:r>
            </a:p>
          </p:txBody>
        </p:sp>
        <p:sp>
          <p:nvSpPr>
            <p:cNvPr id="19" name="Line 19"/>
            <p:cNvSpPr/>
            <p:nvPr/>
          </p:nvSpPr>
          <p:spPr>
            <a:xfrm>
              <a:off x="3848100" y="4000500"/>
              <a:ext cx="9525" cy="1409700"/>
            </a:xfrm>
            <a:custGeom>
              <a:avLst/>
              <a:gdLst/>
              <a:ahLst/>
              <a:cxnLst/>
              <a:rect l="l" t="t" r="r" b="b"/>
              <a:pathLst>
                <a:path w="9525" h="1409700">
                  <a:moveTo>
                    <a:pt x="0" y="0"/>
                  </a:moveTo>
                  <a:lnTo>
                    <a:pt x="0" y="1409700"/>
                  </a:lnTo>
                </a:path>
              </a:pathLst>
            </a:custGeom>
            <a:noFill/>
            <a:ln w="14288">
              <a:solidFill>
                <a:srgbClr val="9AA8B8"/>
              </a:solidFill>
              <a:prstDash val="sysDot"/>
            </a:ln>
          </p:spPr>
        </p:sp>
        <p:sp>
          <p:nvSpPr>
            <p:cNvPr id="20" name="Ellipse 20"/>
            <p:cNvSpPr/>
            <p:nvPr/>
          </p:nvSpPr>
          <p:spPr>
            <a:xfrm>
              <a:off x="3638550" y="5410200"/>
              <a:ext cx="419100" cy="419100"/>
            </a:xfrm>
            <a:prstGeom prst="ellipse">
              <a:avLst/>
            </a:prstGeom>
            <a:solidFill>
              <a:srgbClr val="FFFFFF"/>
            </a:solidFill>
            <a:ln w="28575">
              <a:solidFill>
                <a:srgbClr val="0E2A47"/>
              </a:solidFill>
            </a:ln>
          </p:spPr>
        </p:sp>
        <p:sp>
          <p:nvSpPr>
            <p:cNvPr id="21" name="Ellipse 21"/>
            <p:cNvSpPr/>
            <p:nvPr/>
          </p:nvSpPr>
          <p:spPr>
            <a:xfrm>
              <a:off x="3762375" y="5534025"/>
              <a:ext cx="171450" cy="171450"/>
            </a:xfrm>
            <a:prstGeom prst="ellipse">
              <a:avLst/>
            </a:prstGeom>
            <a:solidFill>
              <a:srgbClr val="0E2A47"/>
            </a:solidFill>
            <a:ln>
              <a:noFill/>
            </a:ln>
          </p:spPr>
        </p:sp>
      </p:grpSp>
      <p:grpSp>
        <p:nvGrpSpPr>
          <p:cNvPr id="31" name="phase-3"/>
          <p:cNvGrpSpPr/>
          <p:nvPr/>
        </p:nvGrpSpPr>
        <p:grpSpPr>
          <a:xfrm>
            <a:off x="4057650" y="1479550"/>
            <a:ext cx="2477281" cy="4102100"/>
            <a:chOff x="4057650" y="1479550"/>
            <a:chExt cx="2477281" cy="4102100"/>
          </a:xfrm>
        </p:grpSpPr>
        <p:sp>
          <p:nvSpPr>
            <p:cNvPr id="23" name="Line 23"/>
            <p:cNvSpPr/>
            <p:nvPr/>
          </p:nvSpPr>
          <p:spPr>
            <a:xfrm>
              <a:off x="4057650" y="5324475"/>
              <a:ext cx="1819275" cy="257175"/>
            </a:xfrm>
            <a:custGeom>
              <a:avLst/>
              <a:gdLst/>
              <a:ahLst/>
              <a:cxnLst/>
              <a:rect l="l" t="t" r="r" b="b"/>
              <a:pathLst>
                <a:path w="1819275" h="257175">
                  <a:moveTo>
                    <a:pt x="0" y="257175"/>
                  </a:moveTo>
                  <a:lnTo>
                    <a:pt x="1819275" y="0"/>
                  </a:lnTo>
                </a:path>
              </a:pathLst>
            </a:custGeom>
            <a:noFill/>
            <a:ln w="38100">
              <a:solidFill>
                <a:srgbClr val="0E2A47"/>
              </a:solidFill>
            </a:ln>
          </p:spPr>
        </p:sp>
        <p:sp>
          <p:nvSpPr>
            <p:cNvPr id="24" name="TextBox 24"/>
            <p:cNvSpPr txBox="1"/>
            <p:nvPr/>
          </p:nvSpPr>
          <p:spPr>
            <a:xfrm>
              <a:off x="5067300" y="1479550"/>
              <a:ext cx="781461" cy="933450"/>
            </a:xfrm>
            <a:prstGeom prst="rect">
              <a:avLst/>
            </a:prstGeom>
            <a:noFill/>
            <a:ln>
              <a:noFill/>
            </a:ln>
          </p:spPr>
          <p:txBody>
            <a:bodyPr wrap="none" lIns="0" tIns="0" rIns="0" bIns="0" anchor="t" anchorCtr="0">
              <a:spAutoFit/>
            </a:bodyPr>
            <a:lstStyle/>
            <a:p>
              <a:pPr algn="l"/>
              <a:r>
                <a:rPr lang="en" sz="4800" b="1" dirty="0">
                  <a:solidFill>
                    <a:srgbClr val="E8590C"/>
                  </a:solidFill>
                  <a:latin typeface="+mn-lt"/>
                  <a:ea typeface="+mn-ea"/>
                  <a:cs typeface="+mn-cs"/>
                </a:rPr>
                <a:t>03</a:t>
              </a:r>
            </a:p>
          </p:txBody>
        </p:sp>
        <p:sp>
          <p:nvSpPr>
            <p:cNvPr id="25" name="TextBox 25"/>
            <p:cNvSpPr txBox="1"/>
            <p:nvPr/>
          </p:nvSpPr>
          <p:spPr>
            <a:xfrm>
              <a:off x="5076444" y="2254250"/>
              <a:ext cx="1181094"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Firmware</a:t>
              </a:r>
            </a:p>
          </p:txBody>
        </p:sp>
        <p:sp>
          <p:nvSpPr>
            <p:cNvPr id="26" name="TextBox 26"/>
            <p:cNvSpPr txBox="1"/>
            <p:nvPr/>
          </p:nvSpPr>
          <p:spPr>
            <a:xfrm>
              <a:off x="5078730" y="2654300"/>
              <a:ext cx="1456201" cy="8267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500 Hz loop, PID,</a:t>
              </a:r>
              <a:br>
                <a:rPr lang="en" sz="1500" dirty="0">
                  <a:solidFill>
                    <a:srgbClr val="4A5A6E"/>
                  </a:solidFill>
                  <a:latin typeface="+mn-lt"/>
                  <a:ea typeface="+mn-ea"/>
                  <a:cs typeface="+mn-cs"/>
                </a:rPr>
              </a:br>
              <a:r>
                <a:rPr lang="en" sz="1500" dirty="0">
                  <a:solidFill>
                    <a:srgbClr val="4A5A6E"/>
                  </a:solidFill>
                  <a:latin typeface="+mn-lt"/>
                  <a:ea typeface="+mn-ea"/>
                  <a:cs typeface="+mn-cs"/>
                </a:rPr>
                <a:t>motor mixer and</a:t>
              </a:r>
              <a:br>
                <a:rPr lang="en" sz="1500" dirty="0">
                  <a:solidFill>
                    <a:srgbClr val="4A5A6E"/>
                  </a:solidFill>
                  <a:latin typeface="+mn-lt"/>
                  <a:ea typeface="+mn-ea"/>
                  <a:cs typeface="+mn-cs"/>
                </a:rPr>
              </a:br>
              <a:r>
                <a:rPr lang="en" sz="1500" dirty="0">
                  <a:solidFill>
                    <a:srgbClr val="4A5A6E"/>
                  </a:solidFill>
                  <a:latin typeface="+mn-lt"/>
                  <a:ea typeface="+mn-ea"/>
                  <a:cs typeface="+mn-cs"/>
                </a:rPr>
                <a:t>radio links</a:t>
              </a:r>
            </a:p>
          </p:txBody>
        </p:sp>
        <p:sp>
          <p:nvSpPr>
            <p:cNvPr id="27" name="TextBox 27"/>
            <p:cNvSpPr txBox="1"/>
            <p:nvPr/>
          </p:nvSpPr>
          <p:spPr>
            <a:xfrm>
              <a:off x="5079492" y="3683000"/>
              <a:ext cx="1281074"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SLIDES 10–12</a:t>
              </a:r>
            </a:p>
          </p:txBody>
        </p:sp>
        <p:sp>
          <p:nvSpPr>
            <p:cNvPr id="28" name="Line 28"/>
            <p:cNvSpPr/>
            <p:nvPr/>
          </p:nvSpPr>
          <p:spPr>
            <a:xfrm>
              <a:off x="6086475" y="4000500"/>
              <a:ext cx="9525" cy="1076325"/>
            </a:xfrm>
            <a:custGeom>
              <a:avLst/>
              <a:gdLst/>
              <a:ahLst/>
              <a:cxnLst/>
              <a:rect l="l" t="t" r="r" b="b"/>
              <a:pathLst>
                <a:path w="9525" h="1076325">
                  <a:moveTo>
                    <a:pt x="0" y="0"/>
                  </a:moveTo>
                  <a:lnTo>
                    <a:pt x="0" y="1076325"/>
                  </a:lnTo>
                </a:path>
              </a:pathLst>
            </a:custGeom>
            <a:noFill/>
            <a:ln w="14288">
              <a:solidFill>
                <a:srgbClr val="9AA8B8"/>
              </a:solidFill>
              <a:prstDash val="sysDot"/>
            </a:ln>
          </p:spPr>
        </p:sp>
        <p:sp>
          <p:nvSpPr>
            <p:cNvPr id="29" name="Ellipse 29"/>
            <p:cNvSpPr/>
            <p:nvPr/>
          </p:nvSpPr>
          <p:spPr>
            <a:xfrm>
              <a:off x="5876925" y="5076825"/>
              <a:ext cx="419100" cy="419100"/>
            </a:xfrm>
            <a:prstGeom prst="ellipse">
              <a:avLst/>
            </a:prstGeom>
            <a:solidFill>
              <a:srgbClr val="FFFFFF"/>
            </a:solidFill>
            <a:ln w="28575">
              <a:solidFill>
                <a:srgbClr val="0E2A47"/>
              </a:solidFill>
            </a:ln>
          </p:spPr>
        </p:sp>
        <p:sp>
          <p:nvSpPr>
            <p:cNvPr id="30" name="Ellipse 30"/>
            <p:cNvSpPr/>
            <p:nvPr/>
          </p:nvSpPr>
          <p:spPr>
            <a:xfrm>
              <a:off x="6000750" y="5200650"/>
              <a:ext cx="171450" cy="171450"/>
            </a:xfrm>
            <a:prstGeom prst="ellipse">
              <a:avLst/>
            </a:prstGeom>
            <a:solidFill>
              <a:srgbClr val="0E2A47"/>
            </a:solidFill>
            <a:ln>
              <a:noFill/>
            </a:ln>
          </p:spPr>
        </p:sp>
      </p:grpSp>
      <p:grpSp>
        <p:nvGrpSpPr>
          <p:cNvPr id="40" name="phase-4"/>
          <p:cNvGrpSpPr/>
          <p:nvPr/>
        </p:nvGrpSpPr>
        <p:grpSpPr>
          <a:xfrm>
            <a:off x="6296025" y="1479550"/>
            <a:ext cx="2759564" cy="3768725"/>
            <a:chOff x="6296025" y="1479550"/>
            <a:chExt cx="2759564" cy="3768725"/>
          </a:xfrm>
        </p:grpSpPr>
        <p:sp>
          <p:nvSpPr>
            <p:cNvPr id="32" name="Line 32"/>
            <p:cNvSpPr/>
            <p:nvPr/>
          </p:nvSpPr>
          <p:spPr>
            <a:xfrm>
              <a:off x="6296025" y="4943475"/>
              <a:ext cx="1819275" cy="304800"/>
            </a:xfrm>
            <a:custGeom>
              <a:avLst/>
              <a:gdLst/>
              <a:ahLst/>
              <a:cxnLst/>
              <a:rect l="l" t="t" r="r" b="b"/>
              <a:pathLst>
                <a:path w="1819275" h="304800">
                  <a:moveTo>
                    <a:pt x="0" y="304800"/>
                  </a:moveTo>
                  <a:lnTo>
                    <a:pt x="1819275" y="0"/>
                  </a:lnTo>
                </a:path>
              </a:pathLst>
            </a:custGeom>
            <a:noFill/>
            <a:ln w="38100">
              <a:solidFill>
                <a:srgbClr val="0E2A47"/>
              </a:solidFill>
            </a:ln>
          </p:spPr>
        </p:sp>
        <p:sp>
          <p:nvSpPr>
            <p:cNvPr id="33" name="TextBox 33"/>
            <p:cNvSpPr txBox="1"/>
            <p:nvPr/>
          </p:nvSpPr>
          <p:spPr>
            <a:xfrm>
              <a:off x="7305675" y="1479550"/>
              <a:ext cx="781461" cy="933450"/>
            </a:xfrm>
            <a:prstGeom prst="rect">
              <a:avLst/>
            </a:prstGeom>
            <a:noFill/>
            <a:ln>
              <a:noFill/>
            </a:ln>
          </p:spPr>
          <p:txBody>
            <a:bodyPr wrap="none" lIns="0" tIns="0" rIns="0" bIns="0" anchor="t" anchorCtr="0">
              <a:spAutoFit/>
            </a:bodyPr>
            <a:lstStyle/>
            <a:p>
              <a:pPr algn="l"/>
              <a:r>
                <a:rPr lang="en" sz="4800" b="1" dirty="0">
                  <a:solidFill>
                    <a:srgbClr val="E8590C"/>
                  </a:solidFill>
                  <a:latin typeface="+mn-lt"/>
                  <a:ea typeface="+mn-ea"/>
                  <a:cs typeface="+mn-cs"/>
                </a:rPr>
                <a:t>04</a:t>
              </a:r>
            </a:p>
          </p:txBody>
        </p:sp>
        <p:sp>
          <p:nvSpPr>
            <p:cNvPr id="34" name="TextBox 34"/>
            <p:cNvSpPr txBox="1"/>
            <p:nvPr/>
          </p:nvSpPr>
          <p:spPr>
            <a:xfrm>
              <a:off x="7314819" y="2254250"/>
              <a:ext cx="1729896"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Pro FPV stack</a:t>
              </a:r>
            </a:p>
          </p:txBody>
        </p:sp>
        <p:sp>
          <p:nvSpPr>
            <p:cNvPr id="35" name="TextBox 35"/>
            <p:cNvSpPr txBox="1"/>
            <p:nvPr/>
          </p:nvSpPr>
          <p:spPr>
            <a:xfrm>
              <a:off x="7317105" y="2654300"/>
              <a:ext cx="1738484"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Brushless motors,</a:t>
              </a:r>
              <a:br>
                <a:rPr lang="en" sz="1500" dirty="0">
                  <a:solidFill>
                    <a:srgbClr val="4A5A6E"/>
                  </a:solidFill>
                  <a:latin typeface="+mn-lt"/>
                  <a:ea typeface="+mn-ea"/>
                  <a:cs typeface="+mn-cs"/>
                </a:rPr>
              </a:br>
              <a:r>
                <a:rPr lang="en" sz="1500" dirty="0">
                  <a:solidFill>
                    <a:srgbClr val="4A5A6E"/>
                  </a:solidFill>
                  <a:latin typeface="+mn-lt"/>
                  <a:ea typeface="+mn-ea"/>
                  <a:cs typeface="+mn-cs"/>
                </a:rPr>
                <a:t>DShot and 6S power</a:t>
              </a:r>
            </a:p>
          </p:txBody>
        </p:sp>
        <p:sp>
          <p:nvSpPr>
            <p:cNvPr id="36" name="TextBox 36"/>
            <p:cNvSpPr txBox="1"/>
            <p:nvPr/>
          </p:nvSpPr>
          <p:spPr>
            <a:xfrm>
              <a:off x="7317867" y="3683000"/>
              <a:ext cx="1281074"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SLIDES 13–17</a:t>
              </a:r>
            </a:p>
          </p:txBody>
        </p:sp>
        <p:sp>
          <p:nvSpPr>
            <p:cNvPr id="37" name="Line 37"/>
            <p:cNvSpPr/>
            <p:nvPr/>
          </p:nvSpPr>
          <p:spPr>
            <a:xfrm>
              <a:off x="8324850" y="4000500"/>
              <a:ext cx="9525" cy="695325"/>
            </a:xfrm>
            <a:custGeom>
              <a:avLst/>
              <a:gdLst/>
              <a:ahLst/>
              <a:cxnLst/>
              <a:rect l="l" t="t" r="r" b="b"/>
              <a:pathLst>
                <a:path w="9525" h="695325">
                  <a:moveTo>
                    <a:pt x="0" y="0"/>
                  </a:moveTo>
                  <a:lnTo>
                    <a:pt x="0" y="695325"/>
                  </a:lnTo>
                </a:path>
              </a:pathLst>
            </a:custGeom>
            <a:noFill/>
            <a:ln w="14288">
              <a:solidFill>
                <a:srgbClr val="9AA8B8"/>
              </a:solidFill>
              <a:prstDash val="sysDot"/>
            </a:ln>
          </p:spPr>
        </p:sp>
        <p:sp>
          <p:nvSpPr>
            <p:cNvPr id="38" name="Ellipse 38"/>
            <p:cNvSpPr/>
            <p:nvPr/>
          </p:nvSpPr>
          <p:spPr>
            <a:xfrm>
              <a:off x="8115300" y="4695825"/>
              <a:ext cx="419100" cy="419100"/>
            </a:xfrm>
            <a:prstGeom prst="ellipse">
              <a:avLst/>
            </a:prstGeom>
            <a:solidFill>
              <a:srgbClr val="FFFFFF"/>
            </a:solidFill>
            <a:ln w="28575">
              <a:solidFill>
                <a:srgbClr val="0E2A47"/>
              </a:solidFill>
            </a:ln>
          </p:spPr>
        </p:sp>
        <p:sp>
          <p:nvSpPr>
            <p:cNvPr id="39" name="Ellipse 39"/>
            <p:cNvSpPr/>
            <p:nvPr/>
          </p:nvSpPr>
          <p:spPr>
            <a:xfrm>
              <a:off x="8239125" y="4819650"/>
              <a:ext cx="171450" cy="171450"/>
            </a:xfrm>
            <a:prstGeom prst="ellipse">
              <a:avLst/>
            </a:prstGeom>
            <a:solidFill>
              <a:srgbClr val="0E2A47"/>
            </a:solidFill>
            <a:ln>
              <a:noFill/>
            </a:ln>
          </p:spPr>
        </p:sp>
      </p:grpSp>
      <p:grpSp>
        <p:nvGrpSpPr>
          <p:cNvPr id="50" name="phase-5"/>
          <p:cNvGrpSpPr/>
          <p:nvPr/>
        </p:nvGrpSpPr>
        <p:grpSpPr>
          <a:xfrm>
            <a:off x="8534400" y="1479550"/>
            <a:ext cx="2895600" cy="3387725"/>
            <a:chOff x="8534400" y="1479550"/>
            <a:chExt cx="2895600" cy="3387725"/>
          </a:xfrm>
        </p:grpSpPr>
        <p:sp>
          <p:nvSpPr>
            <p:cNvPr id="41" name="Line 41"/>
            <p:cNvSpPr/>
            <p:nvPr/>
          </p:nvSpPr>
          <p:spPr>
            <a:xfrm>
              <a:off x="8534400" y="4514850"/>
              <a:ext cx="1819275" cy="352425"/>
            </a:xfrm>
            <a:custGeom>
              <a:avLst/>
              <a:gdLst/>
              <a:ahLst/>
              <a:cxnLst/>
              <a:rect l="l" t="t" r="r" b="b"/>
              <a:pathLst>
                <a:path w="1819275" h="352425">
                  <a:moveTo>
                    <a:pt x="0" y="352425"/>
                  </a:moveTo>
                  <a:lnTo>
                    <a:pt x="1819275" y="0"/>
                  </a:lnTo>
                </a:path>
              </a:pathLst>
            </a:custGeom>
            <a:noFill/>
            <a:ln w="38100">
              <a:solidFill>
                <a:srgbClr val="0E2A47"/>
              </a:solidFill>
            </a:ln>
          </p:spPr>
        </p:sp>
        <p:sp>
          <p:nvSpPr>
            <p:cNvPr id="42" name="TextBox 42"/>
            <p:cNvSpPr txBox="1"/>
            <p:nvPr/>
          </p:nvSpPr>
          <p:spPr>
            <a:xfrm>
              <a:off x="9544050" y="1479550"/>
              <a:ext cx="781461" cy="933450"/>
            </a:xfrm>
            <a:prstGeom prst="rect">
              <a:avLst/>
            </a:prstGeom>
            <a:noFill/>
            <a:ln>
              <a:noFill/>
            </a:ln>
          </p:spPr>
          <p:txBody>
            <a:bodyPr wrap="none" lIns="0" tIns="0" rIns="0" bIns="0" anchor="t" anchorCtr="0">
              <a:spAutoFit/>
            </a:bodyPr>
            <a:lstStyle/>
            <a:p>
              <a:pPr algn="l"/>
              <a:r>
                <a:rPr lang="en" sz="4800" b="1" dirty="0">
                  <a:solidFill>
                    <a:srgbClr val="E8590C"/>
                  </a:solidFill>
                  <a:latin typeface="+mn-lt"/>
                  <a:ea typeface="+mn-ea"/>
                  <a:cs typeface="+mn-cs"/>
                </a:rPr>
                <a:t>05</a:t>
              </a:r>
            </a:p>
          </p:txBody>
        </p:sp>
        <p:sp>
          <p:nvSpPr>
            <p:cNvPr id="43" name="TextBox 43"/>
            <p:cNvSpPr txBox="1"/>
            <p:nvPr/>
          </p:nvSpPr>
          <p:spPr>
            <a:xfrm>
              <a:off x="9553194" y="2254250"/>
              <a:ext cx="1167006"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Fly safely</a:t>
              </a:r>
            </a:p>
          </p:txBody>
        </p:sp>
        <p:sp>
          <p:nvSpPr>
            <p:cNvPr id="44" name="TextBox 44"/>
            <p:cNvSpPr txBox="1"/>
            <p:nvPr/>
          </p:nvSpPr>
          <p:spPr>
            <a:xfrm>
              <a:off x="9555480" y="2654300"/>
              <a:ext cx="1566501"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Bench rules, flight</a:t>
              </a:r>
              <a:br>
                <a:rPr lang="en" sz="1500" dirty="0">
                  <a:solidFill>
                    <a:srgbClr val="4A5A6E"/>
                  </a:solidFill>
                  <a:latin typeface="+mn-lt"/>
                  <a:ea typeface="+mn-ea"/>
                  <a:cs typeface="+mn-cs"/>
                </a:rPr>
              </a:br>
              <a:r>
                <a:rPr lang="en" sz="1500" dirty="0">
                  <a:solidFill>
                    <a:srgbClr val="4A5A6E"/>
                  </a:solidFill>
                  <a:latin typeface="+mn-lt"/>
                  <a:ea typeface="+mn-ea"/>
                  <a:cs typeface="+mn-cs"/>
                </a:rPr>
                <a:t>modes, PID tuning</a:t>
              </a:r>
            </a:p>
          </p:txBody>
        </p:sp>
        <p:sp>
          <p:nvSpPr>
            <p:cNvPr id="45" name="TextBox 45"/>
            <p:cNvSpPr txBox="1"/>
            <p:nvPr/>
          </p:nvSpPr>
          <p:spPr>
            <a:xfrm>
              <a:off x="9556242" y="3683000"/>
              <a:ext cx="1281074"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SLIDES 18–20</a:t>
              </a:r>
            </a:p>
          </p:txBody>
        </p:sp>
        <p:sp>
          <p:nvSpPr>
            <p:cNvPr id="46" name="Line 46"/>
            <p:cNvSpPr/>
            <p:nvPr/>
          </p:nvSpPr>
          <p:spPr>
            <a:xfrm>
              <a:off x="10563225" y="4000500"/>
              <a:ext cx="9525" cy="266700"/>
            </a:xfrm>
            <a:custGeom>
              <a:avLst/>
              <a:gdLst/>
              <a:ahLst/>
              <a:cxnLst/>
              <a:rect l="l" t="t" r="r" b="b"/>
              <a:pathLst>
                <a:path w="9525" h="266700">
                  <a:moveTo>
                    <a:pt x="0" y="0"/>
                  </a:moveTo>
                  <a:lnTo>
                    <a:pt x="0" y="266700"/>
                  </a:lnTo>
                </a:path>
              </a:pathLst>
            </a:custGeom>
            <a:noFill/>
            <a:ln w="14288">
              <a:solidFill>
                <a:srgbClr val="9AA8B8"/>
              </a:solidFill>
              <a:prstDash val="sysDot"/>
            </a:ln>
          </p:spPr>
        </p:sp>
        <p:sp>
          <p:nvSpPr>
            <p:cNvPr id="47" name="Ellipse 47"/>
            <p:cNvSpPr/>
            <p:nvPr/>
          </p:nvSpPr>
          <p:spPr>
            <a:xfrm>
              <a:off x="10353675" y="4267200"/>
              <a:ext cx="419100" cy="419100"/>
            </a:xfrm>
            <a:prstGeom prst="ellipse">
              <a:avLst/>
            </a:prstGeom>
            <a:solidFill>
              <a:srgbClr val="E8590C"/>
            </a:solidFill>
            <a:ln>
              <a:noFill/>
            </a:ln>
          </p:spPr>
        </p:sp>
        <p:sp>
          <p:nvSpPr>
            <p:cNvPr id="48" name="Ellipse 48"/>
            <p:cNvSpPr/>
            <p:nvPr/>
          </p:nvSpPr>
          <p:spPr>
            <a:xfrm>
              <a:off x="10477500" y="4391025"/>
              <a:ext cx="171450" cy="171450"/>
            </a:xfrm>
            <a:prstGeom prst="ellipse">
              <a:avLst/>
            </a:prstGeom>
            <a:solidFill>
              <a:srgbClr val="FFFFFF"/>
            </a:solidFill>
            <a:ln>
              <a:noFill/>
            </a:ln>
          </p:spPr>
        </p:sp>
        <p:sp>
          <p:nvSpPr>
            <p:cNvPr id="49" name="Line 49"/>
            <p:cNvSpPr/>
            <p:nvPr/>
          </p:nvSpPr>
          <p:spPr>
            <a:xfrm flipV="1">
              <a:off x="10772775" y="4133850"/>
              <a:ext cx="657225" cy="266700"/>
            </a:xfrm>
            <a:prstGeom prst="line">
              <a:avLst/>
            </a:prstGeom>
            <a:noFill/>
            <a:ln w="38100">
              <a:solidFill>
                <a:srgbClr val="E8590C"/>
              </a:solidFill>
              <a:tailEnd type="triangle" w="lg" len="lg"/>
            </a:ln>
          </p:spPr>
        </p:sp>
      </p:grpSp>
      <p:grpSp>
        <p:nvGrpSpPr>
          <p:cNvPr id="53" name="footer"/>
          <p:cNvGrpSpPr/>
          <p:nvPr/>
        </p:nvGrpSpPr>
        <p:grpSpPr>
          <a:xfrm>
            <a:off x="603504" y="6457950"/>
            <a:ext cx="10984992" cy="247396"/>
            <a:chOff x="603504" y="6457950"/>
            <a:chExt cx="10984992" cy="247396"/>
          </a:xfrm>
        </p:grpSpPr>
        <p:sp>
          <p:nvSpPr>
            <p:cNvPr id="51" name="TextBox 51"/>
            <p:cNvSpPr txBox="1"/>
            <p:nvPr/>
          </p:nvSpPr>
          <p:spPr>
            <a:xfrm>
              <a:off x="603504" y="6457950"/>
              <a:ext cx="2801015"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Build, Fly &amp; Tune a Drone from Scratch</a:t>
              </a:r>
            </a:p>
          </p:txBody>
        </p:sp>
        <p:sp>
          <p:nvSpPr>
            <p:cNvPr id="52" name="TextBox 52"/>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02 / 21</a:t>
              </a:r>
            </a:p>
          </p:txBody>
        </p:sp>
      </p:grpSp>
    </p:spTree>
  </p:cSld>
  <p:clrMapOvr>
    <a:masterClrMapping/>
  </p:clrMapOvr>
  <mc:AlternateContent xmlns:mc="http://schemas.openxmlformats.org/markup-compatibility/2006" xmlns:p14="http://schemas.microsoft.com/office/powerpoint/2010/main">
    <mc:Choice Requires="p14">
      <p:transition spd="med" p14:dur="6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450"/>
                                        <p:tgtEl>
                                          <p:spTgt spid="13"/>
                                        </p:tgtEl>
                                      </p:cBhvr>
                                    </p:animEffect>
                                  </p:childTnLst>
                                </p:cTn>
                              </p:par>
                            </p:childTnLst>
                          </p:cTn>
                        </p:par>
                        <p:par>
                          <p:cTn id="8" fill="hold">
                            <p:stCondLst>
                              <p:cond delay="450"/>
                            </p:stCondLst>
                            <p:childTnLst>
                              <p:par>
                                <p:cTn id="9" presetID="22" presetClass="entr" presetSubtype="1" fill="hold" nodeType="afterEffect">
                                  <p:stCondLst>
                                    <p:cond delay="10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450"/>
                                        <p:tgtEl>
                                          <p:spTgt spid="22"/>
                                        </p:tgtEl>
                                      </p:cBhvr>
                                    </p:animEffect>
                                  </p:childTnLst>
                                </p:cTn>
                              </p:par>
                            </p:childTnLst>
                          </p:cTn>
                        </p:par>
                        <p:par>
                          <p:cTn id="12" fill="hold">
                            <p:stCondLst>
                              <p:cond delay="1000"/>
                            </p:stCondLst>
                            <p:childTnLst>
                              <p:par>
                                <p:cTn id="13" presetID="22" presetClass="entr" presetSubtype="1" fill="hold" nodeType="afterEffect">
                                  <p:stCondLst>
                                    <p:cond delay="100"/>
                                  </p:stCondLst>
                                  <p:childTnLst>
                                    <p:set>
                                      <p:cBhvr>
                                        <p:cTn id="14" dur="1" fill="hold">
                                          <p:stCondLst>
                                            <p:cond delay="0"/>
                                          </p:stCondLst>
                                        </p:cTn>
                                        <p:tgtEl>
                                          <p:spTgt spid="31"/>
                                        </p:tgtEl>
                                        <p:attrNameLst>
                                          <p:attrName>style.visibility</p:attrName>
                                        </p:attrNameLst>
                                      </p:cBhvr>
                                      <p:to>
                                        <p:strVal val="visible"/>
                                      </p:to>
                                    </p:set>
                                    <p:animEffect transition="in" filter="wipe(up)">
                                      <p:cBhvr>
                                        <p:cTn id="15" dur="450"/>
                                        <p:tgtEl>
                                          <p:spTgt spid="31"/>
                                        </p:tgtEl>
                                      </p:cBhvr>
                                    </p:animEffect>
                                  </p:childTnLst>
                                </p:cTn>
                              </p:par>
                            </p:childTnLst>
                          </p:cTn>
                        </p:par>
                        <p:par>
                          <p:cTn id="16" fill="hold">
                            <p:stCondLst>
                              <p:cond delay="1550"/>
                            </p:stCondLst>
                            <p:childTnLst>
                              <p:par>
                                <p:cTn id="17" presetID="22" presetClass="entr" presetSubtype="1" fill="hold" nodeType="afterEffect">
                                  <p:stCondLst>
                                    <p:cond delay="100"/>
                                  </p:stCondLst>
                                  <p:childTnLst>
                                    <p:set>
                                      <p:cBhvr>
                                        <p:cTn id="18" dur="1" fill="hold">
                                          <p:stCondLst>
                                            <p:cond delay="0"/>
                                          </p:stCondLst>
                                        </p:cTn>
                                        <p:tgtEl>
                                          <p:spTgt spid="40"/>
                                        </p:tgtEl>
                                        <p:attrNameLst>
                                          <p:attrName>style.visibility</p:attrName>
                                        </p:attrNameLst>
                                      </p:cBhvr>
                                      <p:to>
                                        <p:strVal val="visible"/>
                                      </p:to>
                                    </p:set>
                                    <p:animEffect transition="in" filter="wipe(up)">
                                      <p:cBhvr>
                                        <p:cTn id="19" dur="450"/>
                                        <p:tgtEl>
                                          <p:spTgt spid="40"/>
                                        </p:tgtEl>
                                      </p:cBhvr>
                                    </p:animEffect>
                                  </p:childTnLst>
                                </p:cTn>
                              </p:par>
                            </p:childTnLst>
                          </p:cTn>
                        </p:par>
                        <p:par>
                          <p:cTn id="20" fill="hold">
                            <p:stCondLst>
                              <p:cond delay="2100"/>
                            </p:stCondLst>
                            <p:childTnLst>
                              <p:par>
                                <p:cTn id="21" presetID="22" presetClass="entr" presetSubtype="1" fill="hold" nodeType="afterEffect">
                                  <p:stCondLst>
                                    <p:cond delay="100"/>
                                  </p:stCondLst>
                                  <p:childTnLst>
                                    <p:set>
                                      <p:cBhvr>
                                        <p:cTn id="22" dur="1" fill="hold">
                                          <p:stCondLst>
                                            <p:cond delay="0"/>
                                          </p:stCondLst>
                                        </p:cTn>
                                        <p:tgtEl>
                                          <p:spTgt spid="50"/>
                                        </p:tgtEl>
                                        <p:attrNameLst>
                                          <p:attrName>style.visibility</p:attrName>
                                        </p:attrNameLst>
                                      </p:cBhvr>
                                      <p:to>
                                        <p:strVal val="visible"/>
                                      </p:to>
                                    </p:set>
                                    <p:animEffect transition="in" filter="wipe(up)">
                                      <p:cBhvr>
                                        <p:cTn id="23" dur="4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6333342" cy="880364"/>
            <a:chOff x="592836" y="539750"/>
            <a:chExt cx="6333342" cy="880364"/>
          </a:xfrm>
        </p:grpSpPr>
        <p:sp>
          <p:nvSpPr>
            <p:cNvPr id="2" name="TextBox 2"/>
            <p:cNvSpPr txBox="1"/>
            <p:nvPr/>
          </p:nvSpPr>
          <p:spPr>
            <a:xfrm>
              <a:off x="602742" y="539750"/>
              <a:ext cx="2404415"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03 / FLIGHT PHYSICS</a:t>
              </a:r>
            </a:p>
          </p:txBody>
        </p:sp>
        <p:sp>
          <p:nvSpPr>
            <p:cNvPr id="3" name="TextBox 3"/>
            <p:cNvSpPr txBox="1"/>
            <p:nvPr/>
          </p:nvSpPr>
          <p:spPr>
            <a:xfrm>
              <a:off x="592836" y="774700"/>
              <a:ext cx="6333342"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How four motors steer a quad</a:t>
              </a:r>
            </a:p>
          </p:txBody>
        </p:sp>
      </p:grpSp>
      <p:grpSp>
        <p:nvGrpSpPr>
          <p:cNvPr id="41" name="quad-x"/>
          <p:cNvGrpSpPr/>
          <p:nvPr/>
        </p:nvGrpSpPr>
        <p:grpSpPr>
          <a:xfrm>
            <a:off x="669893" y="1552647"/>
            <a:ext cx="4375213" cy="4609956"/>
            <a:chOff x="669893" y="1552647"/>
            <a:chExt cx="4375213" cy="4609956"/>
          </a:xfrm>
        </p:grpSpPr>
        <p:grpSp>
          <p:nvGrpSpPr>
            <p:cNvPr id="9" name="Group 9"/>
            <p:cNvGrpSpPr/>
            <p:nvPr/>
          </p:nvGrpSpPr>
          <p:grpSpPr>
            <a:xfrm>
              <a:off x="1428750" y="2428875"/>
              <a:ext cx="2857500" cy="2857500"/>
              <a:chOff x="1428750" y="2428875"/>
              <a:chExt cx="2857500" cy="2857500"/>
            </a:xfrm>
          </p:grpSpPr>
          <p:sp>
            <p:nvSpPr>
              <p:cNvPr id="5" name="Line 5"/>
              <p:cNvSpPr/>
              <p:nvPr/>
            </p:nvSpPr>
            <p:spPr>
              <a:xfrm>
                <a:off x="1428750" y="2428875"/>
                <a:ext cx="1428750" cy="1428750"/>
              </a:xfrm>
              <a:custGeom>
                <a:avLst/>
                <a:gdLst/>
                <a:ahLst/>
                <a:cxnLst/>
                <a:rect l="l" t="t" r="r" b="b"/>
                <a:pathLst>
                  <a:path w="1428750" h="1428750">
                    <a:moveTo>
                      <a:pt x="1428750" y="1428750"/>
                    </a:moveTo>
                    <a:lnTo>
                      <a:pt x="0" y="0"/>
                    </a:lnTo>
                  </a:path>
                </a:pathLst>
              </a:custGeom>
              <a:noFill/>
              <a:ln w="114300" cap="rnd">
                <a:solidFill>
                  <a:srgbClr val="0E2A47"/>
                </a:solidFill>
              </a:ln>
            </p:spPr>
          </p:sp>
          <p:sp>
            <p:nvSpPr>
              <p:cNvPr id="6" name="Line 6"/>
              <p:cNvSpPr/>
              <p:nvPr/>
            </p:nvSpPr>
            <p:spPr>
              <a:xfrm>
                <a:off x="2857500" y="2428875"/>
                <a:ext cx="1428750" cy="1428750"/>
              </a:xfrm>
              <a:custGeom>
                <a:avLst/>
                <a:gdLst/>
                <a:ahLst/>
                <a:cxnLst/>
                <a:rect l="l" t="t" r="r" b="b"/>
                <a:pathLst>
                  <a:path w="1428750" h="1428750">
                    <a:moveTo>
                      <a:pt x="0" y="1428750"/>
                    </a:moveTo>
                    <a:lnTo>
                      <a:pt x="1428750" y="0"/>
                    </a:lnTo>
                  </a:path>
                </a:pathLst>
              </a:custGeom>
              <a:noFill/>
              <a:ln w="114300" cap="rnd">
                <a:solidFill>
                  <a:srgbClr val="0E2A47"/>
                </a:solidFill>
              </a:ln>
            </p:spPr>
          </p:sp>
          <p:sp>
            <p:nvSpPr>
              <p:cNvPr id="7" name="Line 7"/>
              <p:cNvSpPr/>
              <p:nvPr/>
            </p:nvSpPr>
            <p:spPr>
              <a:xfrm>
                <a:off x="2857500" y="3857625"/>
                <a:ext cx="1428750" cy="1428750"/>
              </a:xfrm>
              <a:custGeom>
                <a:avLst/>
                <a:gdLst/>
                <a:ahLst/>
                <a:cxnLst/>
                <a:rect l="l" t="t" r="r" b="b"/>
                <a:pathLst>
                  <a:path w="1428750" h="1428750">
                    <a:moveTo>
                      <a:pt x="0" y="0"/>
                    </a:moveTo>
                    <a:lnTo>
                      <a:pt x="1428750" y="1428750"/>
                    </a:lnTo>
                  </a:path>
                </a:pathLst>
              </a:custGeom>
              <a:noFill/>
              <a:ln w="114300" cap="rnd">
                <a:solidFill>
                  <a:srgbClr val="0E2A47"/>
                </a:solidFill>
              </a:ln>
            </p:spPr>
          </p:sp>
          <p:sp>
            <p:nvSpPr>
              <p:cNvPr id="8" name="Line 8"/>
              <p:cNvSpPr/>
              <p:nvPr/>
            </p:nvSpPr>
            <p:spPr>
              <a:xfrm>
                <a:off x="1428750" y="3857625"/>
                <a:ext cx="1428750" cy="1428750"/>
              </a:xfrm>
              <a:custGeom>
                <a:avLst/>
                <a:gdLst/>
                <a:ahLst/>
                <a:cxnLst/>
                <a:rect l="l" t="t" r="r" b="b"/>
                <a:pathLst>
                  <a:path w="1428750" h="1428750">
                    <a:moveTo>
                      <a:pt x="1428750" y="0"/>
                    </a:moveTo>
                    <a:lnTo>
                      <a:pt x="0" y="1428750"/>
                    </a:lnTo>
                  </a:path>
                </a:pathLst>
              </a:custGeom>
              <a:noFill/>
              <a:ln w="114300" cap="rnd">
                <a:solidFill>
                  <a:srgbClr val="0E2A47"/>
                </a:solidFill>
              </a:ln>
            </p:spPr>
          </p:sp>
        </p:grpSp>
        <p:grpSp>
          <p:nvGrpSpPr>
            <p:cNvPr id="14" name="Group 14"/>
            <p:cNvGrpSpPr/>
            <p:nvPr/>
          </p:nvGrpSpPr>
          <p:grpSpPr>
            <a:xfrm>
              <a:off x="685800" y="1685925"/>
              <a:ext cx="4343400" cy="4343400"/>
              <a:chOff x="685800" y="1685925"/>
              <a:chExt cx="4343400" cy="4343400"/>
            </a:xfrm>
          </p:grpSpPr>
          <p:sp>
            <p:nvSpPr>
              <p:cNvPr id="10" name="Ellipse 10"/>
              <p:cNvSpPr/>
              <p:nvPr/>
            </p:nvSpPr>
            <p:spPr>
              <a:xfrm>
                <a:off x="685800" y="1685925"/>
                <a:ext cx="1485900" cy="1485900"/>
              </a:xfrm>
              <a:prstGeom prst="ellipse">
                <a:avLst/>
              </a:prstGeom>
              <a:solidFill>
                <a:srgbClr val="FFFFFF"/>
              </a:solidFill>
              <a:ln w="23812">
                <a:solidFill>
                  <a:srgbClr val="0E2A47"/>
                </a:solidFill>
              </a:ln>
            </p:spPr>
          </p:sp>
          <p:sp>
            <p:nvSpPr>
              <p:cNvPr id="11" name="Ellipse 11"/>
              <p:cNvSpPr/>
              <p:nvPr/>
            </p:nvSpPr>
            <p:spPr>
              <a:xfrm>
                <a:off x="3543300" y="1685925"/>
                <a:ext cx="1485900" cy="1485900"/>
              </a:xfrm>
              <a:prstGeom prst="ellipse">
                <a:avLst/>
              </a:prstGeom>
              <a:solidFill>
                <a:srgbClr val="FFFFFF"/>
              </a:solidFill>
              <a:ln w="23812">
                <a:solidFill>
                  <a:srgbClr val="0E2A47"/>
                </a:solidFill>
              </a:ln>
            </p:spPr>
          </p:sp>
          <p:sp>
            <p:nvSpPr>
              <p:cNvPr id="12" name="Ellipse 12"/>
              <p:cNvSpPr/>
              <p:nvPr/>
            </p:nvSpPr>
            <p:spPr>
              <a:xfrm>
                <a:off x="3543300" y="4543425"/>
                <a:ext cx="1485900" cy="1485900"/>
              </a:xfrm>
              <a:prstGeom prst="ellipse">
                <a:avLst/>
              </a:prstGeom>
              <a:solidFill>
                <a:srgbClr val="FFFFFF"/>
              </a:solidFill>
              <a:ln w="23812">
                <a:solidFill>
                  <a:srgbClr val="0E2A47"/>
                </a:solidFill>
              </a:ln>
            </p:spPr>
          </p:sp>
          <p:sp>
            <p:nvSpPr>
              <p:cNvPr id="13" name="Ellipse 13"/>
              <p:cNvSpPr/>
              <p:nvPr/>
            </p:nvSpPr>
            <p:spPr>
              <a:xfrm>
                <a:off x="685800" y="4543425"/>
                <a:ext cx="1485900" cy="1485900"/>
              </a:xfrm>
              <a:prstGeom prst="ellipse">
                <a:avLst/>
              </a:prstGeom>
              <a:solidFill>
                <a:srgbClr val="FFFFFF"/>
              </a:solidFill>
              <a:ln w="23812">
                <a:solidFill>
                  <a:srgbClr val="0E2A47"/>
                </a:solidFill>
              </a:ln>
            </p:spPr>
          </p:sp>
        </p:grpSp>
        <p:sp>
          <p:nvSpPr>
            <p:cNvPr id="15" name="Ellipse 15"/>
            <p:cNvSpPr/>
            <p:nvPr/>
          </p:nvSpPr>
          <p:spPr>
            <a:xfrm rot="-1500000">
              <a:off x="819150" y="2352675"/>
              <a:ext cx="1219200" cy="152400"/>
            </a:xfrm>
            <a:prstGeom prst="ellipse">
              <a:avLst/>
            </a:prstGeom>
            <a:solidFill>
              <a:srgbClr val="E8590C">
                <a:alpha val="30000"/>
              </a:srgbClr>
            </a:solidFill>
            <a:ln>
              <a:noFill/>
            </a:ln>
          </p:spPr>
        </p:sp>
        <p:sp>
          <p:nvSpPr>
            <p:cNvPr id="16" name="Ellipse 16"/>
            <p:cNvSpPr/>
            <p:nvPr/>
          </p:nvSpPr>
          <p:spPr>
            <a:xfrm rot="1500000">
              <a:off x="3676650" y="2352675"/>
              <a:ext cx="1219200" cy="152400"/>
            </a:xfrm>
            <a:prstGeom prst="ellipse">
              <a:avLst/>
            </a:prstGeom>
            <a:solidFill>
              <a:srgbClr val="0B7A75">
                <a:alpha val="30000"/>
              </a:srgbClr>
            </a:solidFill>
            <a:ln>
              <a:noFill/>
            </a:ln>
          </p:spPr>
        </p:sp>
        <p:sp>
          <p:nvSpPr>
            <p:cNvPr id="17" name="Ellipse 17"/>
            <p:cNvSpPr/>
            <p:nvPr/>
          </p:nvSpPr>
          <p:spPr>
            <a:xfrm rot="-1500000">
              <a:off x="3676650" y="5210175"/>
              <a:ext cx="1219200" cy="152400"/>
            </a:xfrm>
            <a:prstGeom prst="ellipse">
              <a:avLst/>
            </a:prstGeom>
            <a:solidFill>
              <a:srgbClr val="E8590C">
                <a:alpha val="30000"/>
              </a:srgbClr>
            </a:solidFill>
            <a:ln>
              <a:noFill/>
            </a:ln>
          </p:spPr>
        </p:sp>
        <p:sp>
          <p:nvSpPr>
            <p:cNvPr id="18" name="Ellipse 18"/>
            <p:cNvSpPr/>
            <p:nvPr/>
          </p:nvSpPr>
          <p:spPr>
            <a:xfrm rot="1500000">
              <a:off x="819150" y="5210175"/>
              <a:ext cx="1219200" cy="152400"/>
            </a:xfrm>
            <a:prstGeom prst="ellipse">
              <a:avLst/>
            </a:prstGeom>
            <a:solidFill>
              <a:srgbClr val="0B7A75">
                <a:alpha val="30000"/>
              </a:srgbClr>
            </a:solidFill>
            <a:ln>
              <a:noFill/>
            </a:ln>
          </p:spPr>
        </p:sp>
        <p:grpSp>
          <p:nvGrpSpPr>
            <p:cNvPr id="23" name="Group 23"/>
            <p:cNvGrpSpPr/>
            <p:nvPr/>
          </p:nvGrpSpPr>
          <p:grpSpPr>
            <a:xfrm>
              <a:off x="1304925" y="2305050"/>
              <a:ext cx="3105150" cy="3105150"/>
              <a:chOff x="1304925" y="2305050"/>
              <a:chExt cx="3105150" cy="3105150"/>
            </a:xfrm>
          </p:grpSpPr>
          <p:sp>
            <p:nvSpPr>
              <p:cNvPr id="19" name="Ellipse 19"/>
              <p:cNvSpPr/>
              <p:nvPr/>
            </p:nvSpPr>
            <p:spPr>
              <a:xfrm>
                <a:off x="1304925" y="2305050"/>
                <a:ext cx="247650" cy="247650"/>
              </a:xfrm>
              <a:prstGeom prst="ellipse">
                <a:avLst/>
              </a:prstGeom>
              <a:solidFill>
                <a:srgbClr val="0E2A47"/>
              </a:solidFill>
              <a:ln>
                <a:noFill/>
              </a:ln>
            </p:spPr>
          </p:sp>
          <p:sp>
            <p:nvSpPr>
              <p:cNvPr id="20" name="Ellipse 20"/>
              <p:cNvSpPr/>
              <p:nvPr/>
            </p:nvSpPr>
            <p:spPr>
              <a:xfrm>
                <a:off x="4162425" y="2305050"/>
                <a:ext cx="247650" cy="247650"/>
              </a:xfrm>
              <a:prstGeom prst="ellipse">
                <a:avLst/>
              </a:prstGeom>
              <a:solidFill>
                <a:srgbClr val="0E2A47"/>
              </a:solidFill>
              <a:ln>
                <a:noFill/>
              </a:ln>
            </p:spPr>
          </p:sp>
          <p:sp>
            <p:nvSpPr>
              <p:cNvPr id="21" name="Ellipse 21"/>
              <p:cNvSpPr/>
              <p:nvPr/>
            </p:nvSpPr>
            <p:spPr>
              <a:xfrm>
                <a:off x="4162425" y="5162550"/>
                <a:ext cx="247650" cy="247650"/>
              </a:xfrm>
              <a:prstGeom prst="ellipse">
                <a:avLst/>
              </a:prstGeom>
              <a:solidFill>
                <a:srgbClr val="0E2A47"/>
              </a:solidFill>
              <a:ln>
                <a:noFill/>
              </a:ln>
            </p:spPr>
          </p:sp>
          <p:sp>
            <p:nvSpPr>
              <p:cNvPr id="22" name="Ellipse 22"/>
              <p:cNvSpPr/>
              <p:nvPr/>
            </p:nvSpPr>
            <p:spPr>
              <a:xfrm>
                <a:off x="1304925" y="5162550"/>
                <a:ext cx="247650" cy="247650"/>
              </a:xfrm>
              <a:prstGeom prst="ellipse">
                <a:avLst/>
              </a:prstGeom>
              <a:solidFill>
                <a:srgbClr val="0E2A47"/>
              </a:solidFill>
              <a:ln>
                <a:noFill/>
              </a:ln>
            </p:spPr>
          </p:sp>
        </p:grpSp>
        <p:sp>
          <p:nvSpPr>
            <p:cNvPr id="24" name="Freeform 24"/>
            <p:cNvSpPr/>
            <p:nvPr/>
          </p:nvSpPr>
          <p:spPr>
            <a:xfrm>
              <a:off x="669893" y="1552647"/>
              <a:ext cx="1517714" cy="438078"/>
            </a:xfrm>
            <a:custGeom>
              <a:avLst/>
              <a:gdLst/>
              <a:ahLst/>
              <a:cxnLst/>
              <a:rect l="l" t="t" r="r" b="b"/>
              <a:pathLst>
                <a:path w="1517714" h="438078">
                  <a:moveTo>
                    <a:pt x="0" y="438078"/>
                  </a:moveTo>
                  <a:cubicBezTo>
                    <a:pt x="156547" y="166991"/>
                    <a:pt x="445814" y="0"/>
                    <a:pt x="758857" y="0"/>
                  </a:cubicBezTo>
                  <a:cubicBezTo>
                    <a:pt x="1071899" y="0"/>
                    <a:pt x="1361167" y="166991"/>
                    <a:pt x="1517714" y="438078"/>
                  </a:cubicBezTo>
                </a:path>
              </a:pathLst>
            </a:custGeom>
            <a:noFill/>
            <a:ln w="38100">
              <a:solidFill>
                <a:srgbClr val="E8590C"/>
              </a:solidFill>
              <a:tailEnd type="triangle" w="lg" len="lg"/>
            </a:ln>
          </p:spPr>
        </p:sp>
        <p:sp>
          <p:nvSpPr>
            <p:cNvPr id="25" name="Freeform 25"/>
            <p:cNvSpPr/>
            <p:nvPr/>
          </p:nvSpPr>
          <p:spPr>
            <a:xfrm>
              <a:off x="3527393" y="1552647"/>
              <a:ext cx="1517713" cy="438078"/>
            </a:xfrm>
            <a:custGeom>
              <a:avLst/>
              <a:gdLst/>
              <a:ahLst/>
              <a:cxnLst/>
              <a:rect l="l" t="t" r="r" b="b"/>
              <a:pathLst>
                <a:path w="1517713" h="438078">
                  <a:moveTo>
                    <a:pt x="1517713" y="438078"/>
                  </a:moveTo>
                  <a:cubicBezTo>
                    <a:pt x="1361167" y="166991"/>
                    <a:pt x="1071899" y="0"/>
                    <a:pt x="758857" y="0"/>
                  </a:cubicBezTo>
                  <a:cubicBezTo>
                    <a:pt x="445814" y="0"/>
                    <a:pt x="156547" y="166991"/>
                    <a:pt x="0" y="438078"/>
                  </a:cubicBezTo>
                </a:path>
              </a:pathLst>
            </a:custGeom>
            <a:noFill/>
            <a:ln w="38100">
              <a:solidFill>
                <a:srgbClr val="0B7A75"/>
              </a:solidFill>
              <a:tailEnd type="triangle" w="lg" len="lg"/>
            </a:ln>
          </p:spPr>
        </p:sp>
        <p:sp>
          <p:nvSpPr>
            <p:cNvPr id="26" name="Freeform 26"/>
            <p:cNvSpPr/>
            <p:nvPr/>
          </p:nvSpPr>
          <p:spPr>
            <a:xfrm>
              <a:off x="3527393" y="5724525"/>
              <a:ext cx="1517713" cy="438078"/>
            </a:xfrm>
            <a:custGeom>
              <a:avLst/>
              <a:gdLst/>
              <a:ahLst/>
              <a:cxnLst/>
              <a:rect l="l" t="t" r="r" b="b"/>
              <a:pathLst>
                <a:path w="1517713" h="438078">
                  <a:moveTo>
                    <a:pt x="1517713" y="0"/>
                  </a:moveTo>
                  <a:cubicBezTo>
                    <a:pt x="1361167" y="271088"/>
                    <a:pt x="1071899" y="438078"/>
                    <a:pt x="758857" y="438078"/>
                  </a:cubicBezTo>
                  <a:cubicBezTo>
                    <a:pt x="445814" y="438078"/>
                    <a:pt x="156547" y="271088"/>
                    <a:pt x="0" y="0"/>
                  </a:cubicBezTo>
                </a:path>
              </a:pathLst>
            </a:custGeom>
            <a:noFill/>
            <a:ln w="38100">
              <a:solidFill>
                <a:srgbClr val="E8590C"/>
              </a:solidFill>
              <a:tailEnd type="triangle" w="lg" len="lg"/>
            </a:ln>
          </p:spPr>
        </p:sp>
        <p:sp>
          <p:nvSpPr>
            <p:cNvPr id="27" name="Freeform 27"/>
            <p:cNvSpPr/>
            <p:nvPr/>
          </p:nvSpPr>
          <p:spPr>
            <a:xfrm>
              <a:off x="669893" y="5724525"/>
              <a:ext cx="1517714" cy="438078"/>
            </a:xfrm>
            <a:custGeom>
              <a:avLst/>
              <a:gdLst/>
              <a:ahLst/>
              <a:cxnLst/>
              <a:rect l="l" t="t" r="r" b="b"/>
              <a:pathLst>
                <a:path w="1517714" h="438078">
                  <a:moveTo>
                    <a:pt x="0" y="0"/>
                  </a:moveTo>
                  <a:cubicBezTo>
                    <a:pt x="156547" y="271088"/>
                    <a:pt x="445814" y="438078"/>
                    <a:pt x="758857" y="438078"/>
                  </a:cubicBezTo>
                  <a:cubicBezTo>
                    <a:pt x="1071899" y="438078"/>
                    <a:pt x="1361167" y="271088"/>
                    <a:pt x="1517714" y="0"/>
                  </a:cubicBezTo>
                </a:path>
              </a:pathLst>
            </a:custGeom>
            <a:noFill/>
            <a:ln w="38100">
              <a:solidFill>
                <a:srgbClr val="0B7A75"/>
              </a:solidFill>
              <a:tailEnd type="triangle" w="lg" len="lg"/>
            </a:ln>
          </p:spPr>
        </p:sp>
        <p:sp>
          <p:nvSpPr>
            <p:cNvPr id="28" name="Rectangle 28"/>
            <p:cNvSpPr/>
            <p:nvPr/>
          </p:nvSpPr>
          <p:spPr>
            <a:xfrm>
              <a:off x="2400300" y="3305175"/>
              <a:ext cx="914400" cy="1104900"/>
            </a:xfrm>
            <a:prstGeom prst="roundRect">
              <a:avLst>
                <a:gd name="adj" fmla="val 14583"/>
              </a:avLst>
            </a:prstGeom>
            <a:solidFill>
              <a:srgbClr val="0E2A47"/>
            </a:solidFill>
            <a:ln>
              <a:noFill/>
            </a:ln>
          </p:spPr>
        </p:sp>
        <p:sp>
          <p:nvSpPr>
            <p:cNvPr id="29" name="Polygon 29"/>
            <p:cNvSpPr/>
            <p:nvPr/>
          </p:nvSpPr>
          <p:spPr>
            <a:xfrm>
              <a:off x="2743200" y="3009900"/>
              <a:ext cx="228600" cy="190500"/>
            </a:xfrm>
            <a:custGeom>
              <a:avLst/>
              <a:gdLst/>
              <a:ahLst/>
              <a:cxnLst/>
              <a:rect l="l" t="t" r="r" b="b"/>
              <a:pathLst>
                <a:path w="228600" h="190500">
                  <a:moveTo>
                    <a:pt x="114300" y="0"/>
                  </a:moveTo>
                  <a:lnTo>
                    <a:pt x="228600" y="190500"/>
                  </a:lnTo>
                  <a:lnTo>
                    <a:pt x="0" y="190500"/>
                  </a:lnTo>
                  <a:close/>
                </a:path>
              </a:pathLst>
            </a:custGeom>
            <a:solidFill>
              <a:srgbClr val="E8590C"/>
            </a:solidFill>
            <a:ln>
              <a:noFill/>
            </a:ln>
          </p:spPr>
        </p:sp>
        <p:sp>
          <p:nvSpPr>
            <p:cNvPr id="30" name="TextBox 30"/>
            <p:cNvSpPr txBox="1"/>
            <p:nvPr/>
          </p:nvSpPr>
          <p:spPr>
            <a:xfrm>
              <a:off x="2522830" y="3775075"/>
              <a:ext cx="669341" cy="234696"/>
            </a:xfrm>
            <a:prstGeom prst="rect">
              <a:avLst/>
            </a:prstGeom>
            <a:noFill/>
            <a:ln>
              <a:noFill/>
            </a:ln>
          </p:spPr>
          <p:txBody>
            <a:bodyPr wrap="none" lIns="0" tIns="0" rIns="0" bIns="0" anchor="t" anchorCtr="0">
              <a:spAutoFit/>
            </a:bodyPr>
            <a:lstStyle/>
            <a:p>
              <a:pPr algn="ctr"/>
              <a:r>
                <a:rPr lang="en" sz="1200" dirty="0">
                  <a:solidFill>
                    <a:srgbClr val="FFFFFF"/>
                  </a:solidFill>
                  <a:latin typeface="Consolas"/>
                  <a:ea typeface="Consolas"/>
                  <a:cs typeface="Consolas"/>
                </a:rPr>
                <a:t>FRONT ↑</a:t>
              </a:r>
            </a:p>
          </p:txBody>
        </p:sp>
        <p:grpSp>
          <p:nvGrpSpPr>
            <p:cNvPr id="35" name="Group 35"/>
            <p:cNvGrpSpPr/>
            <p:nvPr/>
          </p:nvGrpSpPr>
          <p:grpSpPr>
            <a:xfrm>
              <a:off x="1010412" y="2641600"/>
              <a:ext cx="3694176" cy="3150870"/>
              <a:chOff x="1010412" y="2641600"/>
              <a:chExt cx="3694176" cy="3150870"/>
            </a:xfrm>
          </p:grpSpPr>
          <p:sp>
            <p:nvSpPr>
              <p:cNvPr id="31" name="TextBox 31"/>
              <p:cNvSpPr txBox="1"/>
              <p:nvPr/>
            </p:nvSpPr>
            <p:spPr>
              <a:xfrm>
                <a:off x="1010412" y="2641600"/>
                <a:ext cx="836676" cy="293370"/>
              </a:xfrm>
              <a:prstGeom prst="rect">
                <a:avLst/>
              </a:prstGeom>
              <a:noFill/>
              <a:ln>
                <a:noFill/>
              </a:ln>
            </p:spPr>
            <p:txBody>
              <a:bodyPr wrap="none" lIns="0" tIns="0" rIns="0" bIns="0" anchor="t" anchorCtr="0">
                <a:spAutoFit/>
              </a:bodyPr>
              <a:lstStyle/>
              <a:p>
                <a:pPr algn="ctr"/>
                <a:r>
                  <a:rPr lang="en" sz="1500" dirty="0">
                    <a:solidFill>
                      <a:srgbClr val="0E2A47"/>
                    </a:solidFill>
                    <a:latin typeface="Consolas"/>
                    <a:ea typeface="Consolas"/>
                    <a:cs typeface="Consolas"/>
                  </a:rPr>
                  <a:t>M1 · FL</a:t>
                </a:r>
              </a:p>
            </p:txBody>
          </p:sp>
          <p:sp>
            <p:nvSpPr>
              <p:cNvPr id="32" name="TextBox 32"/>
              <p:cNvSpPr txBox="1"/>
              <p:nvPr/>
            </p:nvSpPr>
            <p:spPr>
              <a:xfrm>
                <a:off x="3867912" y="2641600"/>
                <a:ext cx="836676" cy="293370"/>
              </a:xfrm>
              <a:prstGeom prst="rect">
                <a:avLst/>
              </a:prstGeom>
              <a:noFill/>
              <a:ln>
                <a:noFill/>
              </a:ln>
            </p:spPr>
            <p:txBody>
              <a:bodyPr wrap="none" lIns="0" tIns="0" rIns="0" bIns="0" anchor="t" anchorCtr="0">
                <a:spAutoFit/>
              </a:bodyPr>
              <a:lstStyle/>
              <a:p>
                <a:pPr algn="ctr"/>
                <a:r>
                  <a:rPr lang="en" sz="1500" dirty="0">
                    <a:solidFill>
                      <a:srgbClr val="0E2A47"/>
                    </a:solidFill>
                    <a:latin typeface="Consolas"/>
                    <a:ea typeface="Consolas"/>
                    <a:cs typeface="Consolas"/>
                  </a:rPr>
                  <a:t>M2 · FR</a:t>
                </a:r>
              </a:p>
            </p:txBody>
          </p:sp>
          <p:sp>
            <p:nvSpPr>
              <p:cNvPr id="33" name="TextBox 33"/>
              <p:cNvSpPr txBox="1"/>
              <p:nvPr/>
            </p:nvSpPr>
            <p:spPr>
              <a:xfrm>
                <a:off x="3867912" y="5499100"/>
                <a:ext cx="836676" cy="293370"/>
              </a:xfrm>
              <a:prstGeom prst="rect">
                <a:avLst/>
              </a:prstGeom>
              <a:noFill/>
              <a:ln>
                <a:noFill/>
              </a:ln>
            </p:spPr>
            <p:txBody>
              <a:bodyPr wrap="none" lIns="0" tIns="0" rIns="0" bIns="0" anchor="t" anchorCtr="0">
                <a:spAutoFit/>
              </a:bodyPr>
              <a:lstStyle/>
              <a:p>
                <a:pPr algn="ctr"/>
                <a:r>
                  <a:rPr lang="en" sz="1500" dirty="0">
                    <a:solidFill>
                      <a:srgbClr val="0E2A47"/>
                    </a:solidFill>
                    <a:latin typeface="Consolas"/>
                    <a:ea typeface="Consolas"/>
                    <a:cs typeface="Consolas"/>
                  </a:rPr>
                  <a:t>M3 · RR</a:t>
                </a:r>
              </a:p>
            </p:txBody>
          </p:sp>
          <p:sp>
            <p:nvSpPr>
              <p:cNvPr id="34" name="TextBox 34"/>
              <p:cNvSpPr txBox="1"/>
              <p:nvPr/>
            </p:nvSpPr>
            <p:spPr>
              <a:xfrm>
                <a:off x="1010412" y="5499100"/>
                <a:ext cx="836676" cy="293370"/>
              </a:xfrm>
              <a:prstGeom prst="rect">
                <a:avLst/>
              </a:prstGeom>
              <a:noFill/>
              <a:ln>
                <a:noFill/>
              </a:ln>
            </p:spPr>
            <p:txBody>
              <a:bodyPr wrap="none" lIns="0" tIns="0" rIns="0" bIns="0" anchor="t" anchorCtr="0">
                <a:spAutoFit/>
              </a:bodyPr>
              <a:lstStyle/>
              <a:p>
                <a:pPr algn="ctr"/>
                <a:r>
                  <a:rPr lang="en" sz="1500" dirty="0">
                    <a:solidFill>
                      <a:srgbClr val="0E2A47"/>
                    </a:solidFill>
                    <a:latin typeface="Consolas"/>
                    <a:ea typeface="Consolas"/>
                    <a:cs typeface="Consolas"/>
                  </a:rPr>
                  <a:t>M4 · RL</a:t>
                </a:r>
              </a:p>
            </p:txBody>
          </p:sp>
        </p:grpSp>
        <p:grpSp>
          <p:nvGrpSpPr>
            <p:cNvPr id="40" name="Group 40"/>
            <p:cNvGrpSpPr/>
            <p:nvPr/>
          </p:nvGrpSpPr>
          <p:grpSpPr>
            <a:xfrm>
              <a:off x="1281836" y="2012950"/>
              <a:ext cx="3151327" cy="3092196"/>
              <a:chOff x="1281836" y="2012950"/>
              <a:chExt cx="3151327" cy="3092196"/>
            </a:xfrm>
          </p:grpSpPr>
          <p:sp>
            <p:nvSpPr>
              <p:cNvPr id="36" name="TextBox 36"/>
              <p:cNvSpPr txBox="1"/>
              <p:nvPr/>
            </p:nvSpPr>
            <p:spPr>
              <a:xfrm>
                <a:off x="1328776" y="2012950"/>
                <a:ext cx="199949" cy="234696"/>
              </a:xfrm>
              <a:prstGeom prst="rect">
                <a:avLst/>
              </a:prstGeom>
              <a:noFill/>
              <a:ln>
                <a:noFill/>
              </a:ln>
            </p:spPr>
            <p:txBody>
              <a:bodyPr wrap="none" lIns="0" tIns="0" rIns="0" bIns="0" anchor="t" anchorCtr="0">
                <a:spAutoFit/>
              </a:bodyPr>
              <a:lstStyle/>
              <a:p>
                <a:pPr algn="ctr"/>
                <a:r>
                  <a:rPr lang="en" sz="1200" b="1" dirty="0">
                    <a:solidFill>
                      <a:srgbClr val="C2410C"/>
                    </a:solidFill>
                    <a:latin typeface="Consolas"/>
                    <a:ea typeface="Consolas"/>
                    <a:cs typeface="Consolas"/>
                  </a:rPr>
                  <a:t>CW</a:t>
                </a:r>
              </a:p>
            </p:txBody>
          </p:sp>
          <p:sp>
            <p:nvSpPr>
              <p:cNvPr id="37" name="TextBox 37"/>
              <p:cNvSpPr txBox="1"/>
              <p:nvPr/>
            </p:nvSpPr>
            <p:spPr>
              <a:xfrm>
                <a:off x="4139336" y="2012950"/>
                <a:ext cx="293827" cy="234696"/>
              </a:xfrm>
              <a:prstGeom prst="rect">
                <a:avLst/>
              </a:prstGeom>
              <a:noFill/>
              <a:ln>
                <a:noFill/>
              </a:ln>
            </p:spPr>
            <p:txBody>
              <a:bodyPr wrap="none" lIns="0" tIns="0" rIns="0" bIns="0" anchor="t" anchorCtr="0">
                <a:spAutoFit/>
              </a:bodyPr>
              <a:lstStyle/>
              <a:p>
                <a:pPr algn="ctr"/>
                <a:r>
                  <a:rPr lang="en" sz="1200" b="1" dirty="0">
                    <a:solidFill>
                      <a:srgbClr val="0B7A75"/>
                    </a:solidFill>
                    <a:latin typeface="Consolas"/>
                    <a:ea typeface="Consolas"/>
                    <a:cs typeface="Consolas"/>
                  </a:rPr>
                  <a:t>CCW</a:t>
                </a:r>
              </a:p>
            </p:txBody>
          </p:sp>
          <p:sp>
            <p:nvSpPr>
              <p:cNvPr id="38" name="TextBox 38"/>
              <p:cNvSpPr txBox="1"/>
              <p:nvPr/>
            </p:nvSpPr>
            <p:spPr>
              <a:xfrm>
                <a:off x="4186276" y="4870450"/>
                <a:ext cx="199949" cy="234696"/>
              </a:xfrm>
              <a:prstGeom prst="rect">
                <a:avLst/>
              </a:prstGeom>
              <a:noFill/>
              <a:ln>
                <a:noFill/>
              </a:ln>
            </p:spPr>
            <p:txBody>
              <a:bodyPr wrap="none" lIns="0" tIns="0" rIns="0" bIns="0" anchor="t" anchorCtr="0">
                <a:spAutoFit/>
              </a:bodyPr>
              <a:lstStyle/>
              <a:p>
                <a:pPr algn="ctr"/>
                <a:r>
                  <a:rPr lang="en" sz="1200" b="1" dirty="0">
                    <a:solidFill>
                      <a:srgbClr val="C2410C"/>
                    </a:solidFill>
                    <a:latin typeface="Consolas"/>
                    <a:ea typeface="Consolas"/>
                    <a:cs typeface="Consolas"/>
                  </a:rPr>
                  <a:t>CW</a:t>
                </a:r>
              </a:p>
            </p:txBody>
          </p:sp>
          <p:sp>
            <p:nvSpPr>
              <p:cNvPr id="39" name="TextBox 39"/>
              <p:cNvSpPr txBox="1"/>
              <p:nvPr/>
            </p:nvSpPr>
            <p:spPr>
              <a:xfrm>
                <a:off x="1281836" y="4870450"/>
                <a:ext cx="293827" cy="234696"/>
              </a:xfrm>
              <a:prstGeom prst="rect">
                <a:avLst/>
              </a:prstGeom>
              <a:noFill/>
              <a:ln>
                <a:noFill/>
              </a:ln>
            </p:spPr>
            <p:txBody>
              <a:bodyPr wrap="none" lIns="0" tIns="0" rIns="0" bIns="0" anchor="t" anchorCtr="0">
                <a:spAutoFit/>
              </a:bodyPr>
              <a:lstStyle/>
              <a:p>
                <a:pPr algn="ctr"/>
                <a:r>
                  <a:rPr lang="en" sz="1200" b="1" dirty="0">
                    <a:solidFill>
                      <a:srgbClr val="0B7A75"/>
                    </a:solidFill>
                    <a:latin typeface="Consolas"/>
                    <a:ea typeface="Consolas"/>
                    <a:cs typeface="Consolas"/>
                  </a:rPr>
                  <a:t>CCW</a:t>
                </a:r>
              </a:p>
            </p:txBody>
          </p:sp>
        </p:grpSp>
      </p:grpSp>
      <p:grpSp>
        <p:nvGrpSpPr>
          <p:cNvPr id="53" name="move-roll"/>
          <p:cNvGrpSpPr/>
          <p:nvPr/>
        </p:nvGrpSpPr>
        <p:grpSpPr>
          <a:xfrm>
            <a:off x="5715000" y="1600200"/>
            <a:ext cx="2819400" cy="2171700"/>
            <a:chOff x="5715000" y="1600200"/>
            <a:chExt cx="2819400" cy="2171700"/>
          </a:xfrm>
        </p:grpSpPr>
        <p:sp>
          <p:nvSpPr>
            <p:cNvPr id="42" name="Rectangle 42"/>
            <p:cNvSpPr/>
            <p:nvPr/>
          </p:nvSpPr>
          <p:spPr>
            <a:xfrm>
              <a:off x="5715000" y="1600200"/>
              <a:ext cx="2819400" cy="2171700"/>
            </a:xfrm>
            <a:prstGeom prst="roundRect">
              <a:avLst>
                <a:gd name="adj" fmla="val 5263"/>
              </a:avLst>
            </a:prstGeom>
            <a:solidFill>
              <a:srgbClr val="F3F6F9"/>
            </a:solidFill>
            <a:ln>
              <a:noFill/>
            </a:ln>
          </p:spPr>
        </p:sp>
        <p:grpSp>
          <p:nvGrpSpPr>
            <p:cNvPr id="45" name="Group 45"/>
            <p:cNvGrpSpPr/>
            <p:nvPr/>
          </p:nvGrpSpPr>
          <p:grpSpPr>
            <a:xfrm>
              <a:off x="6038850" y="2000250"/>
              <a:ext cx="571500" cy="571500"/>
              <a:chOff x="6038850" y="2000250"/>
              <a:chExt cx="571500" cy="571500"/>
            </a:xfrm>
          </p:grpSpPr>
          <p:sp>
            <p:nvSpPr>
              <p:cNvPr id="43" name="Line 43"/>
              <p:cNvSpPr/>
              <p:nvPr/>
            </p:nvSpPr>
            <p:spPr>
              <a:xfrm>
                <a:off x="6038850" y="2000250"/>
                <a:ext cx="571500" cy="571500"/>
              </a:xfrm>
              <a:custGeom>
                <a:avLst/>
                <a:gdLst/>
                <a:ahLst/>
                <a:cxnLst/>
                <a:rect l="l" t="t" r="r" b="b"/>
                <a:pathLst>
                  <a:path w="571500" h="571500">
                    <a:moveTo>
                      <a:pt x="0" y="0"/>
                    </a:moveTo>
                    <a:lnTo>
                      <a:pt x="571500" y="571500"/>
                    </a:lnTo>
                  </a:path>
                </a:pathLst>
              </a:custGeom>
              <a:noFill/>
              <a:ln w="28575">
                <a:solidFill>
                  <a:srgbClr val="0E2A47"/>
                </a:solidFill>
              </a:ln>
            </p:spPr>
          </p:sp>
          <p:sp>
            <p:nvSpPr>
              <p:cNvPr id="44" name="Line 44"/>
              <p:cNvSpPr/>
              <p:nvPr/>
            </p:nvSpPr>
            <p:spPr>
              <a:xfrm>
                <a:off x="6038850" y="2000250"/>
                <a:ext cx="571500" cy="571500"/>
              </a:xfrm>
              <a:custGeom>
                <a:avLst/>
                <a:gdLst/>
                <a:ahLst/>
                <a:cxnLst/>
                <a:rect l="l" t="t" r="r" b="b"/>
                <a:pathLst>
                  <a:path w="571500" h="571500">
                    <a:moveTo>
                      <a:pt x="571500" y="0"/>
                    </a:moveTo>
                    <a:lnTo>
                      <a:pt x="0" y="571500"/>
                    </a:lnTo>
                  </a:path>
                </a:pathLst>
              </a:custGeom>
              <a:noFill/>
              <a:ln w="28575">
                <a:solidFill>
                  <a:srgbClr val="0E2A47"/>
                </a:solidFill>
              </a:ln>
            </p:spPr>
          </p:sp>
        </p:grpSp>
        <p:sp>
          <p:nvSpPr>
            <p:cNvPr id="46" name="Ellipse 46"/>
            <p:cNvSpPr/>
            <p:nvPr/>
          </p:nvSpPr>
          <p:spPr>
            <a:xfrm>
              <a:off x="5895975" y="1857375"/>
              <a:ext cx="285750" cy="285750"/>
            </a:xfrm>
            <a:prstGeom prst="ellipse">
              <a:avLst/>
            </a:prstGeom>
            <a:solidFill>
              <a:srgbClr val="0E2A47"/>
            </a:solidFill>
            <a:ln>
              <a:noFill/>
            </a:ln>
          </p:spPr>
        </p:sp>
        <p:sp>
          <p:nvSpPr>
            <p:cNvPr id="47" name="Ellipse 47"/>
            <p:cNvSpPr/>
            <p:nvPr/>
          </p:nvSpPr>
          <p:spPr>
            <a:xfrm>
              <a:off x="6467475" y="1857375"/>
              <a:ext cx="285750" cy="285750"/>
            </a:xfrm>
            <a:prstGeom prst="ellipse">
              <a:avLst/>
            </a:prstGeom>
            <a:solidFill>
              <a:srgbClr val="FFFFFF"/>
            </a:solidFill>
            <a:ln w="19050">
              <a:solidFill>
                <a:srgbClr val="0E2A47"/>
              </a:solidFill>
            </a:ln>
          </p:spPr>
        </p:sp>
        <p:sp>
          <p:nvSpPr>
            <p:cNvPr id="48" name="Ellipse 48"/>
            <p:cNvSpPr/>
            <p:nvPr/>
          </p:nvSpPr>
          <p:spPr>
            <a:xfrm>
              <a:off x="6467475" y="2428875"/>
              <a:ext cx="285750" cy="285750"/>
            </a:xfrm>
            <a:prstGeom prst="ellipse">
              <a:avLst/>
            </a:prstGeom>
            <a:solidFill>
              <a:srgbClr val="FFFFFF"/>
            </a:solidFill>
            <a:ln w="19050">
              <a:solidFill>
                <a:srgbClr val="0E2A47"/>
              </a:solidFill>
            </a:ln>
          </p:spPr>
        </p:sp>
        <p:sp>
          <p:nvSpPr>
            <p:cNvPr id="49" name="Ellipse 49"/>
            <p:cNvSpPr/>
            <p:nvPr/>
          </p:nvSpPr>
          <p:spPr>
            <a:xfrm>
              <a:off x="5895975" y="2428875"/>
              <a:ext cx="285750" cy="285750"/>
            </a:xfrm>
            <a:prstGeom prst="ellipse">
              <a:avLst/>
            </a:prstGeom>
            <a:solidFill>
              <a:srgbClr val="0E2A47"/>
            </a:solidFill>
            <a:ln>
              <a:noFill/>
            </a:ln>
          </p:spPr>
        </p:sp>
        <p:sp>
          <p:nvSpPr>
            <p:cNvPr id="50" name="TextBox 50"/>
            <p:cNvSpPr txBox="1"/>
            <p:nvPr/>
          </p:nvSpPr>
          <p:spPr>
            <a:xfrm>
              <a:off x="6943344" y="1930400"/>
              <a:ext cx="507667"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Roll</a:t>
              </a:r>
            </a:p>
          </p:txBody>
        </p:sp>
        <p:sp>
          <p:nvSpPr>
            <p:cNvPr id="51" name="TextBox 51"/>
            <p:cNvSpPr txBox="1"/>
            <p:nvPr/>
          </p:nvSpPr>
          <p:spPr>
            <a:xfrm>
              <a:off x="6945630" y="2286000"/>
              <a:ext cx="862821"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lean right</a:t>
              </a:r>
            </a:p>
          </p:txBody>
        </p:sp>
        <p:sp>
          <p:nvSpPr>
            <p:cNvPr id="52" name="TextBox 52"/>
            <p:cNvSpPr txBox="1"/>
            <p:nvPr/>
          </p:nvSpPr>
          <p:spPr>
            <a:xfrm>
              <a:off x="5935218" y="2927350"/>
              <a:ext cx="1788090" cy="608457"/>
            </a:xfrm>
            <a:prstGeom prst="rect">
              <a:avLst/>
            </a:prstGeom>
            <a:noFill/>
            <a:ln>
              <a:noFill/>
            </a:ln>
          </p:spPr>
          <p:txBody>
            <a:bodyPr wrap="none" lIns="0" tIns="0" rIns="0" bIns="0" anchor="t" anchorCtr="0">
              <a:spAutoFit/>
            </a:bodyPr>
            <a:lstStyle/>
            <a:p>
              <a:pPr algn="l">
                <a:lnSpc>
                  <a:spcPts val="2250"/>
                </a:lnSpc>
              </a:pPr>
              <a:r>
                <a:rPr lang="en" sz="1650" dirty="0">
                  <a:solidFill>
                    <a:srgbClr val="0E2A47"/>
                  </a:solidFill>
                  <a:latin typeface="+mn-lt"/>
                  <a:ea typeface="+mn-ea"/>
                  <a:cs typeface="+mn-cs"/>
                </a:rPr>
                <a:t>M1 + M4 (left side)</a:t>
              </a:r>
              <a:br>
                <a:rPr lang="en" sz="1650" dirty="0">
                  <a:solidFill>
                    <a:srgbClr val="0E2A47"/>
                  </a:solidFill>
                  <a:latin typeface="+mn-lt"/>
                  <a:ea typeface="+mn-ea"/>
                  <a:cs typeface="+mn-cs"/>
                </a:rPr>
              </a:br>
              <a:r>
                <a:rPr lang="en" sz="1650" dirty="0">
                  <a:solidFill>
                    <a:srgbClr val="0E2A47"/>
                  </a:solidFill>
                  <a:latin typeface="+mn-lt"/>
                  <a:ea typeface="+mn-ea"/>
                  <a:cs typeface="+mn-cs"/>
                </a:rPr>
                <a:t>spin faster</a:t>
              </a:r>
            </a:p>
          </p:txBody>
        </p:sp>
      </p:grpSp>
      <p:grpSp>
        <p:nvGrpSpPr>
          <p:cNvPr id="65" name="move-pitch"/>
          <p:cNvGrpSpPr/>
          <p:nvPr/>
        </p:nvGrpSpPr>
        <p:grpSpPr>
          <a:xfrm>
            <a:off x="8763000" y="1600200"/>
            <a:ext cx="2819400" cy="2171700"/>
            <a:chOff x="8763000" y="1600200"/>
            <a:chExt cx="2819400" cy="2171700"/>
          </a:xfrm>
        </p:grpSpPr>
        <p:sp>
          <p:nvSpPr>
            <p:cNvPr id="54" name="Rectangle 54"/>
            <p:cNvSpPr/>
            <p:nvPr/>
          </p:nvSpPr>
          <p:spPr>
            <a:xfrm>
              <a:off x="8763000" y="1600200"/>
              <a:ext cx="2819400" cy="2171700"/>
            </a:xfrm>
            <a:prstGeom prst="roundRect">
              <a:avLst>
                <a:gd name="adj" fmla="val 5263"/>
              </a:avLst>
            </a:prstGeom>
            <a:solidFill>
              <a:srgbClr val="F3F6F9"/>
            </a:solidFill>
            <a:ln>
              <a:noFill/>
            </a:ln>
          </p:spPr>
        </p:sp>
        <p:grpSp>
          <p:nvGrpSpPr>
            <p:cNvPr id="57" name="Group 57"/>
            <p:cNvGrpSpPr/>
            <p:nvPr/>
          </p:nvGrpSpPr>
          <p:grpSpPr>
            <a:xfrm>
              <a:off x="9086850" y="2000250"/>
              <a:ext cx="571500" cy="571500"/>
              <a:chOff x="9086850" y="2000250"/>
              <a:chExt cx="571500" cy="571500"/>
            </a:xfrm>
          </p:grpSpPr>
          <p:sp>
            <p:nvSpPr>
              <p:cNvPr id="55" name="Line 55"/>
              <p:cNvSpPr/>
              <p:nvPr/>
            </p:nvSpPr>
            <p:spPr>
              <a:xfrm>
                <a:off x="9086850" y="2000250"/>
                <a:ext cx="571500" cy="571500"/>
              </a:xfrm>
              <a:custGeom>
                <a:avLst/>
                <a:gdLst/>
                <a:ahLst/>
                <a:cxnLst/>
                <a:rect l="l" t="t" r="r" b="b"/>
                <a:pathLst>
                  <a:path w="571500" h="571500">
                    <a:moveTo>
                      <a:pt x="0" y="0"/>
                    </a:moveTo>
                    <a:lnTo>
                      <a:pt x="571500" y="571500"/>
                    </a:lnTo>
                  </a:path>
                </a:pathLst>
              </a:custGeom>
              <a:noFill/>
              <a:ln w="28575">
                <a:solidFill>
                  <a:srgbClr val="0E2A47"/>
                </a:solidFill>
              </a:ln>
            </p:spPr>
          </p:sp>
          <p:sp>
            <p:nvSpPr>
              <p:cNvPr id="56" name="Line 56"/>
              <p:cNvSpPr/>
              <p:nvPr/>
            </p:nvSpPr>
            <p:spPr>
              <a:xfrm>
                <a:off x="9086850" y="2000250"/>
                <a:ext cx="571500" cy="571500"/>
              </a:xfrm>
              <a:custGeom>
                <a:avLst/>
                <a:gdLst/>
                <a:ahLst/>
                <a:cxnLst/>
                <a:rect l="l" t="t" r="r" b="b"/>
                <a:pathLst>
                  <a:path w="571500" h="571500">
                    <a:moveTo>
                      <a:pt x="571500" y="0"/>
                    </a:moveTo>
                    <a:lnTo>
                      <a:pt x="0" y="571500"/>
                    </a:lnTo>
                  </a:path>
                </a:pathLst>
              </a:custGeom>
              <a:noFill/>
              <a:ln w="28575">
                <a:solidFill>
                  <a:srgbClr val="0E2A47"/>
                </a:solidFill>
              </a:ln>
            </p:spPr>
          </p:sp>
        </p:grpSp>
        <p:sp>
          <p:nvSpPr>
            <p:cNvPr id="58" name="Ellipse 58"/>
            <p:cNvSpPr/>
            <p:nvPr/>
          </p:nvSpPr>
          <p:spPr>
            <a:xfrm>
              <a:off x="8943975" y="1857375"/>
              <a:ext cx="285750" cy="285750"/>
            </a:xfrm>
            <a:prstGeom prst="ellipse">
              <a:avLst/>
            </a:prstGeom>
            <a:solidFill>
              <a:srgbClr val="FFFFFF"/>
            </a:solidFill>
            <a:ln w="19050">
              <a:solidFill>
                <a:srgbClr val="0E2A47"/>
              </a:solidFill>
            </a:ln>
          </p:spPr>
        </p:sp>
        <p:sp>
          <p:nvSpPr>
            <p:cNvPr id="59" name="Ellipse 59"/>
            <p:cNvSpPr/>
            <p:nvPr/>
          </p:nvSpPr>
          <p:spPr>
            <a:xfrm>
              <a:off x="9515475" y="1857375"/>
              <a:ext cx="285750" cy="285750"/>
            </a:xfrm>
            <a:prstGeom prst="ellipse">
              <a:avLst/>
            </a:prstGeom>
            <a:solidFill>
              <a:srgbClr val="FFFFFF"/>
            </a:solidFill>
            <a:ln w="19050">
              <a:solidFill>
                <a:srgbClr val="0E2A47"/>
              </a:solidFill>
            </a:ln>
          </p:spPr>
        </p:sp>
        <p:sp>
          <p:nvSpPr>
            <p:cNvPr id="60" name="Ellipse 60"/>
            <p:cNvSpPr/>
            <p:nvPr/>
          </p:nvSpPr>
          <p:spPr>
            <a:xfrm>
              <a:off x="9515475" y="2428875"/>
              <a:ext cx="285750" cy="285750"/>
            </a:xfrm>
            <a:prstGeom prst="ellipse">
              <a:avLst/>
            </a:prstGeom>
            <a:solidFill>
              <a:srgbClr val="0E2A47"/>
            </a:solidFill>
            <a:ln>
              <a:noFill/>
            </a:ln>
          </p:spPr>
        </p:sp>
        <p:sp>
          <p:nvSpPr>
            <p:cNvPr id="61" name="Ellipse 61"/>
            <p:cNvSpPr/>
            <p:nvPr/>
          </p:nvSpPr>
          <p:spPr>
            <a:xfrm>
              <a:off x="8943975" y="2428875"/>
              <a:ext cx="285750" cy="285750"/>
            </a:xfrm>
            <a:prstGeom prst="ellipse">
              <a:avLst/>
            </a:prstGeom>
            <a:solidFill>
              <a:srgbClr val="0E2A47"/>
            </a:solidFill>
            <a:ln>
              <a:noFill/>
            </a:ln>
          </p:spPr>
        </p:sp>
        <p:sp>
          <p:nvSpPr>
            <p:cNvPr id="62" name="TextBox 62"/>
            <p:cNvSpPr txBox="1"/>
            <p:nvPr/>
          </p:nvSpPr>
          <p:spPr>
            <a:xfrm>
              <a:off x="9991344" y="1930400"/>
              <a:ext cx="648922"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Pitch</a:t>
              </a:r>
            </a:p>
          </p:txBody>
        </p:sp>
        <p:sp>
          <p:nvSpPr>
            <p:cNvPr id="63" name="TextBox 63"/>
            <p:cNvSpPr txBox="1"/>
            <p:nvPr/>
          </p:nvSpPr>
          <p:spPr>
            <a:xfrm>
              <a:off x="9993630" y="2286000"/>
              <a:ext cx="991854"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nose down</a:t>
              </a:r>
            </a:p>
          </p:txBody>
        </p:sp>
        <p:sp>
          <p:nvSpPr>
            <p:cNvPr id="64" name="TextBox 64"/>
            <p:cNvSpPr txBox="1"/>
            <p:nvPr/>
          </p:nvSpPr>
          <p:spPr>
            <a:xfrm>
              <a:off x="8983218" y="2927350"/>
              <a:ext cx="1833835" cy="608457"/>
            </a:xfrm>
            <a:prstGeom prst="rect">
              <a:avLst/>
            </a:prstGeom>
            <a:noFill/>
            <a:ln>
              <a:noFill/>
            </a:ln>
          </p:spPr>
          <p:txBody>
            <a:bodyPr wrap="none" lIns="0" tIns="0" rIns="0" bIns="0" anchor="t" anchorCtr="0">
              <a:spAutoFit/>
            </a:bodyPr>
            <a:lstStyle/>
            <a:p>
              <a:pPr algn="l">
                <a:lnSpc>
                  <a:spcPts val="2250"/>
                </a:lnSpc>
              </a:pPr>
              <a:r>
                <a:rPr lang="en" sz="1650" dirty="0">
                  <a:solidFill>
                    <a:srgbClr val="0E2A47"/>
                  </a:solidFill>
                  <a:latin typeface="+mn-lt"/>
                  <a:ea typeface="+mn-ea"/>
                  <a:cs typeface="+mn-cs"/>
                </a:rPr>
                <a:t>M3 + M4 (rear pair)</a:t>
              </a:r>
              <a:br>
                <a:rPr lang="en" sz="1650" dirty="0">
                  <a:solidFill>
                    <a:srgbClr val="0E2A47"/>
                  </a:solidFill>
                  <a:latin typeface="+mn-lt"/>
                  <a:ea typeface="+mn-ea"/>
                  <a:cs typeface="+mn-cs"/>
                </a:rPr>
              </a:br>
              <a:r>
                <a:rPr lang="en" sz="1650" dirty="0">
                  <a:solidFill>
                    <a:srgbClr val="0E2A47"/>
                  </a:solidFill>
                  <a:latin typeface="+mn-lt"/>
                  <a:ea typeface="+mn-ea"/>
                  <a:cs typeface="+mn-cs"/>
                </a:rPr>
                <a:t>spin faster</a:t>
              </a:r>
            </a:p>
          </p:txBody>
        </p:sp>
      </p:grpSp>
      <p:grpSp>
        <p:nvGrpSpPr>
          <p:cNvPr id="77" name="move-yaw"/>
          <p:cNvGrpSpPr/>
          <p:nvPr/>
        </p:nvGrpSpPr>
        <p:grpSpPr>
          <a:xfrm>
            <a:off x="5715000" y="3924300"/>
            <a:ext cx="2819400" cy="2171700"/>
            <a:chOff x="5715000" y="3924300"/>
            <a:chExt cx="2819400" cy="2171700"/>
          </a:xfrm>
        </p:grpSpPr>
        <p:sp>
          <p:nvSpPr>
            <p:cNvPr id="66" name="Rectangle 66"/>
            <p:cNvSpPr/>
            <p:nvPr/>
          </p:nvSpPr>
          <p:spPr>
            <a:xfrm>
              <a:off x="5715000" y="3924300"/>
              <a:ext cx="2819400" cy="2171700"/>
            </a:xfrm>
            <a:prstGeom prst="roundRect">
              <a:avLst>
                <a:gd name="adj" fmla="val 5263"/>
              </a:avLst>
            </a:prstGeom>
            <a:solidFill>
              <a:srgbClr val="F3F6F9"/>
            </a:solidFill>
            <a:ln>
              <a:noFill/>
            </a:ln>
          </p:spPr>
        </p:sp>
        <p:grpSp>
          <p:nvGrpSpPr>
            <p:cNvPr id="69" name="Group 69"/>
            <p:cNvGrpSpPr/>
            <p:nvPr/>
          </p:nvGrpSpPr>
          <p:grpSpPr>
            <a:xfrm>
              <a:off x="6038850" y="4324350"/>
              <a:ext cx="571500" cy="571500"/>
              <a:chOff x="6038850" y="4324350"/>
              <a:chExt cx="571500" cy="571500"/>
            </a:xfrm>
          </p:grpSpPr>
          <p:sp>
            <p:nvSpPr>
              <p:cNvPr id="67" name="Line 67"/>
              <p:cNvSpPr/>
              <p:nvPr/>
            </p:nvSpPr>
            <p:spPr>
              <a:xfrm>
                <a:off x="6038850" y="4324350"/>
                <a:ext cx="571500" cy="571500"/>
              </a:xfrm>
              <a:custGeom>
                <a:avLst/>
                <a:gdLst/>
                <a:ahLst/>
                <a:cxnLst/>
                <a:rect l="l" t="t" r="r" b="b"/>
                <a:pathLst>
                  <a:path w="571500" h="571500">
                    <a:moveTo>
                      <a:pt x="0" y="0"/>
                    </a:moveTo>
                    <a:lnTo>
                      <a:pt x="571500" y="571500"/>
                    </a:lnTo>
                  </a:path>
                </a:pathLst>
              </a:custGeom>
              <a:noFill/>
              <a:ln w="28575">
                <a:solidFill>
                  <a:srgbClr val="0E2A47"/>
                </a:solidFill>
              </a:ln>
            </p:spPr>
          </p:sp>
          <p:sp>
            <p:nvSpPr>
              <p:cNvPr id="68" name="Line 68"/>
              <p:cNvSpPr/>
              <p:nvPr/>
            </p:nvSpPr>
            <p:spPr>
              <a:xfrm>
                <a:off x="6038850" y="4324350"/>
                <a:ext cx="571500" cy="571500"/>
              </a:xfrm>
              <a:custGeom>
                <a:avLst/>
                <a:gdLst/>
                <a:ahLst/>
                <a:cxnLst/>
                <a:rect l="l" t="t" r="r" b="b"/>
                <a:pathLst>
                  <a:path w="571500" h="571500">
                    <a:moveTo>
                      <a:pt x="571500" y="0"/>
                    </a:moveTo>
                    <a:lnTo>
                      <a:pt x="0" y="571500"/>
                    </a:lnTo>
                  </a:path>
                </a:pathLst>
              </a:custGeom>
              <a:noFill/>
              <a:ln w="28575">
                <a:solidFill>
                  <a:srgbClr val="0E2A47"/>
                </a:solidFill>
              </a:ln>
            </p:spPr>
          </p:sp>
        </p:grpSp>
        <p:sp>
          <p:nvSpPr>
            <p:cNvPr id="70" name="Ellipse 70"/>
            <p:cNvSpPr/>
            <p:nvPr/>
          </p:nvSpPr>
          <p:spPr>
            <a:xfrm>
              <a:off x="5895975" y="4181475"/>
              <a:ext cx="285750" cy="285750"/>
            </a:xfrm>
            <a:prstGeom prst="ellipse">
              <a:avLst/>
            </a:prstGeom>
            <a:solidFill>
              <a:srgbClr val="FFFFFF"/>
            </a:solidFill>
            <a:ln w="19050">
              <a:solidFill>
                <a:srgbClr val="0E2A47"/>
              </a:solidFill>
            </a:ln>
          </p:spPr>
        </p:sp>
        <p:sp>
          <p:nvSpPr>
            <p:cNvPr id="71" name="Ellipse 71"/>
            <p:cNvSpPr/>
            <p:nvPr/>
          </p:nvSpPr>
          <p:spPr>
            <a:xfrm>
              <a:off x="6467475" y="4181475"/>
              <a:ext cx="285750" cy="285750"/>
            </a:xfrm>
            <a:prstGeom prst="ellipse">
              <a:avLst/>
            </a:prstGeom>
            <a:solidFill>
              <a:srgbClr val="0E2A47"/>
            </a:solidFill>
            <a:ln>
              <a:noFill/>
            </a:ln>
          </p:spPr>
        </p:sp>
        <p:sp>
          <p:nvSpPr>
            <p:cNvPr id="72" name="Ellipse 72"/>
            <p:cNvSpPr/>
            <p:nvPr/>
          </p:nvSpPr>
          <p:spPr>
            <a:xfrm>
              <a:off x="6467475" y="4752975"/>
              <a:ext cx="285750" cy="285750"/>
            </a:xfrm>
            <a:prstGeom prst="ellipse">
              <a:avLst/>
            </a:prstGeom>
            <a:solidFill>
              <a:srgbClr val="FFFFFF"/>
            </a:solidFill>
            <a:ln w="19050">
              <a:solidFill>
                <a:srgbClr val="0E2A47"/>
              </a:solidFill>
            </a:ln>
          </p:spPr>
        </p:sp>
        <p:sp>
          <p:nvSpPr>
            <p:cNvPr id="73" name="Ellipse 73"/>
            <p:cNvSpPr/>
            <p:nvPr/>
          </p:nvSpPr>
          <p:spPr>
            <a:xfrm>
              <a:off x="5895975" y="4752975"/>
              <a:ext cx="285750" cy="285750"/>
            </a:xfrm>
            <a:prstGeom prst="ellipse">
              <a:avLst/>
            </a:prstGeom>
            <a:solidFill>
              <a:srgbClr val="0E2A47"/>
            </a:solidFill>
            <a:ln>
              <a:noFill/>
            </a:ln>
          </p:spPr>
        </p:sp>
        <p:sp>
          <p:nvSpPr>
            <p:cNvPr id="74" name="TextBox 74"/>
            <p:cNvSpPr txBox="1"/>
            <p:nvPr/>
          </p:nvSpPr>
          <p:spPr>
            <a:xfrm>
              <a:off x="6943344" y="4254500"/>
              <a:ext cx="539330"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Yaw</a:t>
              </a:r>
            </a:p>
          </p:txBody>
        </p:sp>
        <p:sp>
          <p:nvSpPr>
            <p:cNvPr id="75" name="TextBox 75"/>
            <p:cNvSpPr txBox="1"/>
            <p:nvPr/>
          </p:nvSpPr>
          <p:spPr>
            <a:xfrm>
              <a:off x="6945630" y="4610100"/>
              <a:ext cx="858479"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turn right</a:t>
              </a:r>
            </a:p>
          </p:txBody>
        </p:sp>
        <p:sp>
          <p:nvSpPr>
            <p:cNvPr id="76" name="TextBox 76"/>
            <p:cNvSpPr txBox="1"/>
            <p:nvPr/>
          </p:nvSpPr>
          <p:spPr>
            <a:xfrm>
              <a:off x="5935218" y="5251450"/>
              <a:ext cx="1927106" cy="608457"/>
            </a:xfrm>
            <a:prstGeom prst="rect">
              <a:avLst/>
            </a:prstGeom>
            <a:noFill/>
            <a:ln>
              <a:noFill/>
            </a:ln>
          </p:spPr>
          <p:txBody>
            <a:bodyPr wrap="none" lIns="0" tIns="0" rIns="0" bIns="0" anchor="t" anchorCtr="0">
              <a:spAutoFit/>
            </a:bodyPr>
            <a:lstStyle/>
            <a:p>
              <a:pPr algn="l">
                <a:lnSpc>
                  <a:spcPts val="2250"/>
                </a:lnSpc>
              </a:pPr>
              <a:r>
                <a:rPr lang="en" sz="1650" dirty="0">
                  <a:solidFill>
                    <a:srgbClr val="0E2A47"/>
                  </a:solidFill>
                  <a:latin typeface="+mn-lt"/>
                  <a:ea typeface="+mn-ea"/>
                  <a:cs typeface="+mn-cs"/>
                </a:rPr>
                <a:t>M2 + M4 (CCW pair)</a:t>
              </a:r>
              <a:br>
                <a:rPr lang="en" sz="1650" dirty="0">
                  <a:solidFill>
                    <a:srgbClr val="0E2A47"/>
                  </a:solidFill>
                  <a:latin typeface="+mn-lt"/>
                  <a:ea typeface="+mn-ea"/>
                  <a:cs typeface="+mn-cs"/>
                </a:rPr>
              </a:br>
              <a:r>
                <a:rPr lang="en" sz="1650" dirty="0">
                  <a:solidFill>
                    <a:srgbClr val="0E2A47"/>
                  </a:solidFill>
                  <a:latin typeface="+mn-lt"/>
                  <a:ea typeface="+mn-ea"/>
                  <a:cs typeface="+mn-cs"/>
                </a:rPr>
                <a:t>spin faster</a:t>
              </a:r>
            </a:p>
          </p:txBody>
        </p:sp>
      </p:grpSp>
      <p:grpSp>
        <p:nvGrpSpPr>
          <p:cNvPr id="89" name="move-throttle"/>
          <p:cNvGrpSpPr/>
          <p:nvPr/>
        </p:nvGrpSpPr>
        <p:grpSpPr>
          <a:xfrm>
            <a:off x="8763000" y="3924300"/>
            <a:ext cx="2819400" cy="2171700"/>
            <a:chOff x="8763000" y="3924300"/>
            <a:chExt cx="2819400" cy="2171700"/>
          </a:xfrm>
        </p:grpSpPr>
        <p:sp>
          <p:nvSpPr>
            <p:cNvPr id="78" name="Rectangle 78"/>
            <p:cNvSpPr/>
            <p:nvPr/>
          </p:nvSpPr>
          <p:spPr>
            <a:xfrm>
              <a:off x="8763000" y="3924300"/>
              <a:ext cx="2819400" cy="2171700"/>
            </a:xfrm>
            <a:prstGeom prst="roundRect">
              <a:avLst>
                <a:gd name="adj" fmla="val 5263"/>
              </a:avLst>
            </a:prstGeom>
            <a:solidFill>
              <a:srgbClr val="F3F6F9"/>
            </a:solidFill>
            <a:ln>
              <a:noFill/>
            </a:ln>
          </p:spPr>
        </p:sp>
        <p:grpSp>
          <p:nvGrpSpPr>
            <p:cNvPr id="81" name="Group 81"/>
            <p:cNvGrpSpPr/>
            <p:nvPr/>
          </p:nvGrpSpPr>
          <p:grpSpPr>
            <a:xfrm>
              <a:off x="9086850" y="4324350"/>
              <a:ext cx="571500" cy="571500"/>
              <a:chOff x="9086850" y="4324350"/>
              <a:chExt cx="571500" cy="571500"/>
            </a:xfrm>
          </p:grpSpPr>
          <p:sp>
            <p:nvSpPr>
              <p:cNvPr id="79" name="Line 79"/>
              <p:cNvSpPr/>
              <p:nvPr/>
            </p:nvSpPr>
            <p:spPr>
              <a:xfrm>
                <a:off x="9086850" y="4324350"/>
                <a:ext cx="571500" cy="571500"/>
              </a:xfrm>
              <a:custGeom>
                <a:avLst/>
                <a:gdLst/>
                <a:ahLst/>
                <a:cxnLst/>
                <a:rect l="l" t="t" r="r" b="b"/>
                <a:pathLst>
                  <a:path w="571500" h="571500">
                    <a:moveTo>
                      <a:pt x="0" y="0"/>
                    </a:moveTo>
                    <a:lnTo>
                      <a:pt x="571500" y="571500"/>
                    </a:lnTo>
                  </a:path>
                </a:pathLst>
              </a:custGeom>
              <a:noFill/>
              <a:ln w="28575">
                <a:solidFill>
                  <a:srgbClr val="0E2A47"/>
                </a:solidFill>
              </a:ln>
            </p:spPr>
          </p:sp>
          <p:sp>
            <p:nvSpPr>
              <p:cNvPr id="80" name="Line 80"/>
              <p:cNvSpPr/>
              <p:nvPr/>
            </p:nvSpPr>
            <p:spPr>
              <a:xfrm>
                <a:off x="9086850" y="4324350"/>
                <a:ext cx="571500" cy="571500"/>
              </a:xfrm>
              <a:custGeom>
                <a:avLst/>
                <a:gdLst/>
                <a:ahLst/>
                <a:cxnLst/>
                <a:rect l="l" t="t" r="r" b="b"/>
                <a:pathLst>
                  <a:path w="571500" h="571500">
                    <a:moveTo>
                      <a:pt x="571500" y="0"/>
                    </a:moveTo>
                    <a:lnTo>
                      <a:pt x="0" y="571500"/>
                    </a:lnTo>
                  </a:path>
                </a:pathLst>
              </a:custGeom>
              <a:noFill/>
              <a:ln w="28575">
                <a:solidFill>
                  <a:srgbClr val="0E2A47"/>
                </a:solidFill>
              </a:ln>
            </p:spPr>
          </p:sp>
        </p:grpSp>
        <p:sp>
          <p:nvSpPr>
            <p:cNvPr id="82" name="Ellipse 82"/>
            <p:cNvSpPr/>
            <p:nvPr/>
          </p:nvSpPr>
          <p:spPr>
            <a:xfrm>
              <a:off x="8943975" y="4181475"/>
              <a:ext cx="285750" cy="285750"/>
            </a:xfrm>
            <a:prstGeom prst="ellipse">
              <a:avLst/>
            </a:prstGeom>
            <a:solidFill>
              <a:srgbClr val="0E2A47"/>
            </a:solidFill>
            <a:ln>
              <a:noFill/>
            </a:ln>
          </p:spPr>
        </p:sp>
        <p:sp>
          <p:nvSpPr>
            <p:cNvPr id="83" name="Ellipse 83"/>
            <p:cNvSpPr/>
            <p:nvPr/>
          </p:nvSpPr>
          <p:spPr>
            <a:xfrm>
              <a:off x="9515475" y="4181475"/>
              <a:ext cx="285750" cy="285750"/>
            </a:xfrm>
            <a:prstGeom prst="ellipse">
              <a:avLst/>
            </a:prstGeom>
            <a:solidFill>
              <a:srgbClr val="0E2A47"/>
            </a:solidFill>
            <a:ln>
              <a:noFill/>
            </a:ln>
          </p:spPr>
        </p:sp>
        <p:sp>
          <p:nvSpPr>
            <p:cNvPr id="84" name="Ellipse 84"/>
            <p:cNvSpPr/>
            <p:nvPr/>
          </p:nvSpPr>
          <p:spPr>
            <a:xfrm>
              <a:off x="9515475" y="4752975"/>
              <a:ext cx="285750" cy="285750"/>
            </a:xfrm>
            <a:prstGeom prst="ellipse">
              <a:avLst/>
            </a:prstGeom>
            <a:solidFill>
              <a:srgbClr val="0E2A47"/>
            </a:solidFill>
            <a:ln>
              <a:noFill/>
            </a:ln>
          </p:spPr>
        </p:sp>
        <p:sp>
          <p:nvSpPr>
            <p:cNvPr id="85" name="Ellipse 85"/>
            <p:cNvSpPr/>
            <p:nvPr/>
          </p:nvSpPr>
          <p:spPr>
            <a:xfrm>
              <a:off x="8943975" y="4752975"/>
              <a:ext cx="285750" cy="285750"/>
            </a:xfrm>
            <a:prstGeom prst="ellipse">
              <a:avLst/>
            </a:prstGeom>
            <a:solidFill>
              <a:srgbClr val="0E2A47"/>
            </a:solidFill>
            <a:ln>
              <a:noFill/>
            </a:ln>
          </p:spPr>
        </p:sp>
        <p:sp>
          <p:nvSpPr>
            <p:cNvPr id="86" name="TextBox 86"/>
            <p:cNvSpPr txBox="1"/>
            <p:nvPr/>
          </p:nvSpPr>
          <p:spPr>
            <a:xfrm>
              <a:off x="9991344" y="4254500"/>
              <a:ext cx="1024616"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Throttle</a:t>
              </a:r>
            </a:p>
          </p:txBody>
        </p:sp>
        <p:sp>
          <p:nvSpPr>
            <p:cNvPr id="87" name="TextBox 87"/>
            <p:cNvSpPr txBox="1"/>
            <p:nvPr/>
          </p:nvSpPr>
          <p:spPr>
            <a:xfrm>
              <a:off x="9993630" y="4610100"/>
              <a:ext cx="498963"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climb</a:t>
              </a:r>
            </a:p>
          </p:txBody>
        </p:sp>
        <p:sp>
          <p:nvSpPr>
            <p:cNvPr id="88" name="TextBox 88"/>
            <p:cNvSpPr txBox="1"/>
            <p:nvPr/>
          </p:nvSpPr>
          <p:spPr>
            <a:xfrm>
              <a:off x="8983218" y="5251450"/>
              <a:ext cx="1773024" cy="608457"/>
            </a:xfrm>
            <a:prstGeom prst="rect">
              <a:avLst/>
            </a:prstGeom>
            <a:noFill/>
            <a:ln>
              <a:noFill/>
            </a:ln>
          </p:spPr>
          <p:txBody>
            <a:bodyPr wrap="none" lIns="0" tIns="0" rIns="0" bIns="0" anchor="t" anchorCtr="0">
              <a:spAutoFit/>
            </a:bodyPr>
            <a:lstStyle/>
            <a:p>
              <a:pPr algn="l">
                <a:lnSpc>
                  <a:spcPts val="2250"/>
                </a:lnSpc>
              </a:pPr>
              <a:r>
                <a:rPr lang="en" sz="1650" dirty="0">
                  <a:solidFill>
                    <a:srgbClr val="0E2A47"/>
                  </a:solidFill>
                  <a:latin typeface="+mn-lt"/>
                  <a:ea typeface="+mn-ea"/>
                  <a:cs typeface="+mn-cs"/>
                </a:rPr>
                <a:t>All four together;</a:t>
              </a:r>
              <a:br>
                <a:rPr lang="en" sz="1650" dirty="0">
                  <a:solidFill>
                    <a:srgbClr val="0E2A47"/>
                  </a:solidFill>
                  <a:latin typeface="+mn-lt"/>
                  <a:ea typeface="+mn-ea"/>
                  <a:cs typeface="+mn-cs"/>
                </a:rPr>
              </a:br>
              <a:r>
                <a:rPr lang="en" sz="1650" dirty="0">
                  <a:solidFill>
                    <a:srgbClr val="0E2A47"/>
                  </a:solidFill>
                  <a:latin typeface="+mn-lt"/>
                  <a:ea typeface="+mn-ea"/>
                  <a:cs typeface="+mn-cs"/>
                </a:rPr>
                <a:t>aim for ≈ 2:1 thrust</a:t>
              </a:r>
            </a:p>
          </p:txBody>
        </p:sp>
      </p:grpSp>
      <p:grpSp>
        <p:nvGrpSpPr>
          <p:cNvPr id="92" name="footer"/>
          <p:cNvGrpSpPr/>
          <p:nvPr/>
        </p:nvGrpSpPr>
        <p:grpSpPr>
          <a:xfrm>
            <a:off x="603504" y="6457950"/>
            <a:ext cx="10984992" cy="247396"/>
            <a:chOff x="603504" y="6457950"/>
            <a:chExt cx="10984992" cy="247396"/>
          </a:xfrm>
        </p:grpSpPr>
        <p:sp>
          <p:nvSpPr>
            <p:cNvPr id="90" name="TextBox 90"/>
            <p:cNvSpPr txBox="1"/>
            <p:nvPr/>
          </p:nvSpPr>
          <p:spPr>
            <a:xfrm>
              <a:off x="603504" y="6457950"/>
              <a:ext cx="4775326"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Filled motor = spins faster · Body frame: X forward, Y right, Z down</a:t>
              </a:r>
            </a:p>
          </p:txBody>
        </p:sp>
        <p:sp>
          <p:nvSpPr>
            <p:cNvPr id="91" name="TextBox 91"/>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03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700" fill="hold"/>
                                        <p:tgtEl>
                                          <p:spTgt spid="41"/>
                                        </p:tgtEl>
                                        <p:attrNameLst>
                                          <p:attrName>ppt_w</p:attrName>
                                        </p:attrNameLst>
                                      </p:cBhvr>
                                      <p:tavLst>
                                        <p:tav tm="0">
                                          <p:val>
                                            <p:fltVal val="0"/>
                                          </p:val>
                                        </p:tav>
                                        <p:tav tm="100000">
                                          <p:val>
                                            <p:strVal val="#ppt_w"/>
                                          </p:val>
                                        </p:tav>
                                      </p:tavLst>
                                    </p:anim>
                                    <p:anim calcmode="lin" valueType="num">
                                      <p:cBhvr>
                                        <p:cTn id="8" dur="700" fill="hold"/>
                                        <p:tgtEl>
                                          <p:spTgt spid="41"/>
                                        </p:tgtEl>
                                        <p:attrNameLst>
                                          <p:attrName>ppt_h</p:attrName>
                                        </p:attrNameLst>
                                      </p:cBhvr>
                                      <p:tavLst>
                                        <p:tav tm="0">
                                          <p:val>
                                            <p:fltVal val="0"/>
                                          </p:val>
                                        </p:tav>
                                        <p:tav tm="100000">
                                          <p:val>
                                            <p:strVal val="#ppt_h"/>
                                          </p:val>
                                        </p:tav>
                                      </p:tavLst>
                                    </p:anim>
                                    <p:animEffect transition="in" filter="fade">
                                      <p:cBhvr>
                                        <p:cTn id="9" dur="700"/>
                                        <p:tgtEl>
                                          <p:spTgt spid="41"/>
                                        </p:tgtEl>
                                      </p:cBhvr>
                                    </p:animEffect>
                                  </p:childTnLst>
                                </p:cTn>
                              </p:par>
                            </p:childTnLst>
                          </p:cTn>
                        </p:par>
                        <p:par>
                          <p:cTn id="10" fill="hold">
                            <p:stCondLst>
                              <p:cond delay="700"/>
                            </p:stCondLst>
                            <p:childTnLst>
                              <p:par>
                                <p:cTn id="11" presetID="10" presetClass="entr" presetSubtype="0" fill="hold" nodeType="afterEffect">
                                  <p:stCondLst>
                                    <p:cond delay="10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450"/>
                                        <p:tgtEl>
                                          <p:spTgt spid="53"/>
                                        </p:tgtEl>
                                      </p:cBhvr>
                                    </p:animEffect>
                                  </p:childTnLst>
                                </p:cTn>
                              </p:par>
                            </p:childTnLst>
                          </p:cTn>
                        </p:par>
                        <p:par>
                          <p:cTn id="14" fill="hold">
                            <p:stCondLst>
                              <p:cond delay="1250"/>
                            </p:stCondLst>
                            <p:childTnLst>
                              <p:par>
                                <p:cTn id="15" presetID="10" presetClass="entr" presetSubtype="0" fill="hold" nodeType="afterEffect">
                                  <p:stCondLst>
                                    <p:cond delay="10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450"/>
                                        <p:tgtEl>
                                          <p:spTgt spid="65"/>
                                        </p:tgtEl>
                                      </p:cBhvr>
                                    </p:animEffect>
                                  </p:childTnLst>
                                </p:cTn>
                              </p:par>
                            </p:childTnLst>
                          </p:cTn>
                        </p:par>
                        <p:par>
                          <p:cTn id="18" fill="hold">
                            <p:stCondLst>
                              <p:cond delay="1800"/>
                            </p:stCondLst>
                            <p:childTnLst>
                              <p:par>
                                <p:cTn id="19" presetID="10" presetClass="entr" presetSubtype="0" fill="hold" nodeType="afterEffect">
                                  <p:stCondLst>
                                    <p:cond delay="100"/>
                                  </p:stCondLst>
                                  <p:childTnLst>
                                    <p:set>
                                      <p:cBhvr>
                                        <p:cTn id="20" dur="1" fill="hold">
                                          <p:stCondLst>
                                            <p:cond delay="0"/>
                                          </p:stCondLst>
                                        </p:cTn>
                                        <p:tgtEl>
                                          <p:spTgt spid="77"/>
                                        </p:tgtEl>
                                        <p:attrNameLst>
                                          <p:attrName>style.visibility</p:attrName>
                                        </p:attrNameLst>
                                      </p:cBhvr>
                                      <p:to>
                                        <p:strVal val="visible"/>
                                      </p:to>
                                    </p:set>
                                    <p:animEffect transition="in" filter="fade">
                                      <p:cBhvr>
                                        <p:cTn id="21" dur="450"/>
                                        <p:tgtEl>
                                          <p:spTgt spid="77"/>
                                        </p:tgtEl>
                                      </p:cBhvr>
                                    </p:animEffect>
                                  </p:childTnLst>
                                </p:cTn>
                              </p:par>
                            </p:childTnLst>
                          </p:cTn>
                        </p:par>
                        <p:par>
                          <p:cTn id="22" fill="hold">
                            <p:stCondLst>
                              <p:cond delay="2350"/>
                            </p:stCondLst>
                            <p:childTnLst>
                              <p:par>
                                <p:cTn id="23" presetID="10" presetClass="entr" presetSubtype="0" fill="hold" nodeType="afterEffect">
                                  <p:stCondLst>
                                    <p:cond delay="100"/>
                                  </p:stCondLst>
                                  <p:childTnLst>
                                    <p:set>
                                      <p:cBhvr>
                                        <p:cTn id="24" dur="1" fill="hold">
                                          <p:stCondLst>
                                            <p:cond delay="0"/>
                                          </p:stCondLst>
                                        </p:cTn>
                                        <p:tgtEl>
                                          <p:spTgt spid="89"/>
                                        </p:tgtEl>
                                        <p:attrNameLst>
                                          <p:attrName>style.visibility</p:attrName>
                                        </p:attrNameLst>
                                      </p:cBhvr>
                                      <p:to>
                                        <p:strVal val="visible"/>
                                      </p:to>
                                    </p:set>
                                    <p:animEffect transition="in" filter="fade">
                                      <p:cBhvr>
                                        <p:cTn id="25" dur="45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8001289" cy="880364"/>
            <a:chOff x="592836" y="539750"/>
            <a:chExt cx="8001289" cy="880364"/>
          </a:xfrm>
        </p:grpSpPr>
        <p:sp>
          <p:nvSpPr>
            <p:cNvPr id="2" name="TextBox 2"/>
            <p:cNvSpPr txBox="1"/>
            <p:nvPr/>
          </p:nvSpPr>
          <p:spPr>
            <a:xfrm>
              <a:off x="602742" y="539750"/>
              <a:ext cx="2150516"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04 / TWO MACHINES</a:t>
              </a:r>
            </a:p>
          </p:txBody>
        </p:sp>
        <p:sp>
          <p:nvSpPr>
            <p:cNvPr id="3" name="TextBox 3"/>
            <p:cNvSpPr txBox="1"/>
            <p:nvPr/>
          </p:nvSpPr>
          <p:spPr>
            <a:xfrm>
              <a:off x="592836" y="774700"/>
              <a:ext cx="8001289"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Same physics, very different machines</a:t>
              </a:r>
            </a:p>
          </p:txBody>
        </p:sp>
      </p:grpSp>
      <p:grpSp>
        <p:nvGrpSpPr>
          <p:cNvPr id="29" name="plane-micro"/>
          <p:cNvGrpSpPr/>
          <p:nvPr/>
        </p:nvGrpSpPr>
        <p:grpSpPr>
          <a:xfrm>
            <a:off x="609600" y="1524000"/>
            <a:ext cx="5257800" cy="4572000"/>
            <a:chOff x="609600" y="1524000"/>
            <a:chExt cx="5257800" cy="4572000"/>
          </a:xfrm>
        </p:grpSpPr>
        <p:sp>
          <p:nvSpPr>
            <p:cNvPr id="5" name="Rectangle 5"/>
            <p:cNvSpPr/>
            <p:nvPr/>
          </p:nvSpPr>
          <p:spPr>
            <a:xfrm>
              <a:off x="609600" y="1524000"/>
              <a:ext cx="5257800" cy="4572000"/>
            </a:xfrm>
            <a:prstGeom prst="roundRect">
              <a:avLst>
                <a:gd name="adj" fmla="val 3333"/>
              </a:avLst>
            </a:prstGeom>
            <a:solidFill>
              <a:srgbClr val="FFF3EA"/>
            </a:solidFill>
            <a:ln>
              <a:noFill/>
            </a:ln>
          </p:spPr>
        </p:sp>
        <p:sp>
          <p:nvSpPr>
            <p:cNvPr id="6" name="TextBox 6"/>
            <p:cNvSpPr txBox="1"/>
            <p:nvPr/>
          </p:nvSpPr>
          <p:spPr>
            <a:xfrm>
              <a:off x="904494" y="1758950"/>
              <a:ext cx="1967295"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Our micro quad</a:t>
              </a:r>
            </a:p>
          </p:txBody>
        </p:sp>
        <p:sp>
          <p:nvSpPr>
            <p:cNvPr id="7" name="TextBox 7"/>
            <p:cNvSpPr txBox="1"/>
            <p:nvPr/>
          </p:nvSpPr>
          <p:spPr>
            <a:xfrm>
              <a:off x="895350" y="2165350"/>
              <a:ext cx="2426237" cy="933450"/>
            </a:xfrm>
            <a:prstGeom prst="rect">
              <a:avLst/>
            </a:prstGeom>
            <a:noFill/>
            <a:ln>
              <a:noFill/>
            </a:ln>
          </p:spPr>
          <p:txBody>
            <a:bodyPr wrap="none" lIns="0" tIns="0" rIns="0" bIns="0" anchor="t" anchorCtr="0">
              <a:spAutoFit/>
            </a:bodyPr>
            <a:lstStyle/>
            <a:p>
              <a:pPr algn="l"/>
              <a:r>
                <a:rPr lang="en" sz="4800" b="1" dirty="0">
                  <a:solidFill>
                    <a:srgbClr val="C2410C"/>
                  </a:solidFill>
                  <a:latin typeface="+mn-lt"/>
                  <a:ea typeface="+mn-ea"/>
                  <a:cs typeface="+mn-cs"/>
                </a:rPr>
                <a:t>45–60 g</a:t>
              </a:r>
            </a:p>
          </p:txBody>
        </p:sp>
        <p:sp>
          <p:nvSpPr>
            <p:cNvPr id="8" name="TextBox 8"/>
            <p:cNvSpPr txBox="1"/>
            <p:nvPr/>
          </p:nvSpPr>
          <p:spPr>
            <a:xfrm>
              <a:off x="906780" y="2876550"/>
              <a:ext cx="1186919"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all-up weight</a:t>
              </a:r>
            </a:p>
          </p:txBody>
        </p:sp>
        <p:sp>
          <p:nvSpPr>
            <p:cNvPr id="9" name="Rectangle 9"/>
            <p:cNvSpPr/>
            <p:nvPr/>
          </p:nvSpPr>
          <p:spPr>
            <a:xfrm>
              <a:off x="3467100" y="1733550"/>
              <a:ext cx="2095500" cy="361950"/>
            </a:xfrm>
            <a:prstGeom prst="roundRect">
              <a:avLst>
                <a:gd name="adj" fmla="val 50000"/>
              </a:avLst>
            </a:prstGeom>
            <a:noFill/>
            <a:ln w="14288">
              <a:solidFill>
                <a:srgbClr val="C2410C"/>
              </a:solidFill>
            </a:ln>
          </p:spPr>
        </p:sp>
        <p:sp>
          <p:nvSpPr>
            <p:cNvPr id="10" name="TextBox 10"/>
            <p:cNvSpPr txBox="1"/>
            <p:nvPr/>
          </p:nvSpPr>
          <p:spPr>
            <a:xfrm>
              <a:off x="3642836" y="1803400"/>
              <a:ext cx="1744028" cy="293370"/>
            </a:xfrm>
            <a:prstGeom prst="rect">
              <a:avLst/>
            </a:prstGeom>
            <a:noFill/>
            <a:ln>
              <a:noFill/>
            </a:ln>
          </p:spPr>
          <p:txBody>
            <a:bodyPr wrap="none" lIns="0" tIns="0" rIns="0" bIns="0" anchor="t" anchorCtr="0">
              <a:spAutoFit/>
            </a:bodyPr>
            <a:lstStyle/>
            <a:p>
              <a:pPr algn="ctr"/>
              <a:r>
                <a:rPr lang="en" sz="1500" dirty="0">
                  <a:solidFill>
                    <a:srgbClr val="C2410C"/>
                  </a:solidFill>
                  <a:latin typeface="Consolas"/>
                  <a:ea typeface="Consolas"/>
                  <a:cs typeface="Consolas"/>
                </a:rPr>
                <a:t>1S LiPo · 3.7 V</a:t>
              </a:r>
            </a:p>
          </p:txBody>
        </p:sp>
        <p:grpSp>
          <p:nvGrpSpPr>
            <p:cNvPr id="16" name="Group 16"/>
            <p:cNvGrpSpPr/>
            <p:nvPr/>
          </p:nvGrpSpPr>
          <p:grpSpPr>
            <a:xfrm>
              <a:off x="914400" y="3314700"/>
              <a:ext cx="4648200" cy="2219325"/>
              <a:chOff x="914400" y="3314700"/>
              <a:chExt cx="4648200" cy="2219325"/>
            </a:xfrm>
          </p:grpSpPr>
          <p:sp>
            <p:nvSpPr>
              <p:cNvPr id="11" name="Line 11"/>
              <p:cNvSpPr/>
              <p:nvPr/>
            </p:nvSpPr>
            <p:spPr>
              <a:xfrm>
                <a:off x="914400" y="3314700"/>
                <a:ext cx="4648200" cy="9525"/>
              </a:xfrm>
              <a:custGeom>
                <a:avLst/>
                <a:gdLst/>
                <a:ahLst/>
                <a:cxnLst/>
                <a:rect l="l" t="t" r="r" b="b"/>
                <a:pathLst>
                  <a:path w="4648200" h="9525">
                    <a:moveTo>
                      <a:pt x="0" y="0"/>
                    </a:moveTo>
                    <a:lnTo>
                      <a:pt x="4648200" y="0"/>
                    </a:lnTo>
                  </a:path>
                </a:pathLst>
              </a:custGeom>
              <a:noFill/>
              <a:ln w="9525">
                <a:solidFill>
                  <a:srgbClr val="E9CDB8"/>
                </a:solidFill>
              </a:ln>
            </p:spPr>
          </p:sp>
          <p:sp>
            <p:nvSpPr>
              <p:cNvPr id="12" name="Line 12"/>
              <p:cNvSpPr/>
              <p:nvPr/>
            </p:nvSpPr>
            <p:spPr>
              <a:xfrm>
                <a:off x="914400" y="3867150"/>
                <a:ext cx="4648200" cy="9525"/>
              </a:xfrm>
              <a:custGeom>
                <a:avLst/>
                <a:gdLst/>
                <a:ahLst/>
                <a:cxnLst/>
                <a:rect l="l" t="t" r="r" b="b"/>
                <a:pathLst>
                  <a:path w="4648200" h="9525">
                    <a:moveTo>
                      <a:pt x="0" y="0"/>
                    </a:moveTo>
                    <a:lnTo>
                      <a:pt x="4648200" y="0"/>
                    </a:lnTo>
                  </a:path>
                </a:pathLst>
              </a:custGeom>
              <a:noFill/>
              <a:ln w="9525">
                <a:solidFill>
                  <a:srgbClr val="E9CDB8"/>
                </a:solidFill>
              </a:ln>
            </p:spPr>
          </p:sp>
          <p:sp>
            <p:nvSpPr>
              <p:cNvPr id="13" name="Line 13"/>
              <p:cNvSpPr/>
              <p:nvPr/>
            </p:nvSpPr>
            <p:spPr>
              <a:xfrm>
                <a:off x="914400" y="4419600"/>
                <a:ext cx="4648200" cy="9525"/>
              </a:xfrm>
              <a:custGeom>
                <a:avLst/>
                <a:gdLst/>
                <a:ahLst/>
                <a:cxnLst/>
                <a:rect l="l" t="t" r="r" b="b"/>
                <a:pathLst>
                  <a:path w="4648200" h="9525">
                    <a:moveTo>
                      <a:pt x="0" y="0"/>
                    </a:moveTo>
                    <a:lnTo>
                      <a:pt x="4648200" y="0"/>
                    </a:lnTo>
                  </a:path>
                </a:pathLst>
              </a:custGeom>
              <a:noFill/>
              <a:ln w="9525">
                <a:solidFill>
                  <a:srgbClr val="E9CDB8"/>
                </a:solidFill>
              </a:ln>
            </p:spPr>
          </p:sp>
          <p:sp>
            <p:nvSpPr>
              <p:cNvPr id="14" name="Line 14"/>
              <p:cNvSpPr/>
              <p:nvPr/>
            </p:nvSpPr>
            <p:spPr>
              <a:xfrm>
                <a:off x="914400" y="4972050"/>
                <a:ext cx="4648200" cy="9525"/>
              </a:xfrm>
              <a:custGeom>
                <a:avLst/>
                <a:gdLst/>
                <a:ahLst/>
                <a:cxnLst/>
                <a:rect l="l" t="t" r="r" b="b"/>
                <a:pathLst>
                  <a:path w="4648200" h="9525">
                    <a:moveTo>
                      <a:pt x="0" y="0"/>
                    </a:moveTo>
                    <a:lnTo>
                      <a:pt x="4648200" y="0"/>
                    </a:lnTo>
                  </a:path>
                </a:pathLst>
              </a:custGeom>
              <a:noFill/>
              <a:ln w="9525">
                <a:solidFill>
                  <a:srgbClr val="E9CDB8"/>
                </a:solidFill>
              </a:ln>
            </p:spPr>
          </p:sp>
          <p:sp>
            <p:nvSpPr>
              <p:cNvPr id="15" name="Line 15"/>
              <p:cNvSpPr/>
              <p:nvPr/>
            </p:nvSpPr>
            <p:spPr>
              <a:xfrm>
                <a:off x="914400" y="5524500"/>
                <a:ext cx="4648200" cy="9525"/>
              </a:xfrm>
              <a:custGeom>
                <a:avLst/>
                <a:gdLst/>
                <a:ahLst/>
                <a:cxnLst/>
                <a:rect l="l" t="t" r="r" b="b"/>
                <a:pathLst>
                  <a:path w="4648200" h="9525">
                    <a:moveTo>
                      <a:pt x="0" y="0"/>
                    </a:moveTo>
                    <a:lnTo>
                      <a:pt x="4648200" y="0"/>
                    </a:lnTo>
                  </a:path>
                </a:pathLst>
              </a:custGeom>
              <a:noFill/>
              <a:ln w="9525">
                <a:solidFill>
                  <a:srgbClr val="E9CDB8"/>
                </a:solidFill>
              </a:ln>
            </p:spPr>
          </p:sp>
        </p:grpSp>
        <p:grpSp>
          <p:nvGrpSpPr>
            <p:cNvPr id="22" name="Group 22"/>
            <p:cNvGrpSpPr/>
            <p:nvPr/>
          </p:nvGrpSpPr>
          <p:grpSpPr>
            <a:xfrm>
              <a:off x="907542" y="3492500"/>
              <a:ext cx="647395" cy="2473833"/>
              <a:chOff x="907542" y="3492500"/>
              <a:chExt cx="647395" cy="2473833"/>
            </a:xfrm>
          </p:grpSpPr>
          <p:sp>
            <p:nvSpPr>
              <p:cNvPr id="17" name="TextBox 17"/>
              <p:cNvSpPr txBox="1"/>
              <p:nvPr/>
            </p:nvSpPr>
            <p:spPr>
              <a:xfrm>
                <a:off x="907542" y="3492500"/>
                <a:ext cx="541782"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BRAIN</a:t>
                </a:r>
              </a:p>
            </p:txBody>
          </p:sp>
          <p:sp>
            <p:nvSpPr>
              <p:cNvPr id="18" name="TextBox 18"/>
              <p:cNvSpPr txBox="1"/>
              <p:nvPr/>
            </p:nvSpPr>
            <p:spPr>
              <a:xfrm>
                <a:off x="907542" y="4044950"/>
                <a:ext cx="647395"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MOTORS</a:t>
                </a:r>
              </a:p>
            </p:txBody>
          </p:sp>
          <p:sp>
            <p:nvSpPr>
              <p:cNvPr id="19" name="TextBox 19"/>
              <p:cNvSpPr txBox="1"/>
              <p:nvPr/>
            </p:nvSpPr>
            <p:spPr>
              <a:xfrm>
                <a:off x="907542" y="4597400"/>
                <a:ext cx="647395"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DRIVER</a:t>
                </a:r>
              </a:p>
            </p:txBody>
          </p:sp>
          <p:sp>
            <p:nvSpPr>
              <p:cNvPr id="20" name="TextBox 20"/>
              <p:cNvSpPr txBox="1"/>
              <p:nvPr/>
            </p:nvSpPr>
            <p:spPr>
              <a:xfrm>
                <a:off x="907542" y="5149850"/>
                <a:ext cx="541782"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RADIO</a:t>
                </a:r>
              </a:p>
            </p:txBody>
          </p:sp>
          <p:sp>
            <p:nvSpPr>
              <p:cNvPr id="21" name="TextBox 21"/>
              <p:cNvSpPr txBox="1"/>
              <p:nvPr/>
            </p:nvSpPr>
            <p:spPr>
              <a:xfrm>
                <a:off x="907542" y="5702300"/>
                <a:ext cx="436169"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GOAL</a:t>
                </a:r>
              </a:p>
            </p:txBody>
          </p:sp>
        </p:grpSp>
        <p:grpSp>
          <p:nvGrpSpPr>
            <p:cNvPr id="28" name="Group 28"/>
            <p:cNvGrpSpPr/>
            <p:nvPr/>
          </p:nvGrpSpPr>
          <p:grpSpPr>
            <a:xfrm>
              <a:off x="1952244" y="3435350"/>
              <a:ext cx="3732198" cy="2591181"/>
              <a:chOff x="1952244" y="3435350"/>
              <a:chExt cx="3732198" cy="2591181"/>
            </a:xfrm>
          </p:grpSpPr>
          <p:sp>
            <p:nvSpPr>
              <p:cNvPr id="23" name="TextBox 23"/>
              <p:cNvSpPr txBox="1"/>
              <p:nvPr/>
            </p:nvSpPr>
            <p:spPr>
              <a:xfrm>
                <a:off x="1952244" y="3435350"/>
                <a:ext cx="3560878"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ESP32, Arduino C++ we wrote</a:t>
                </a:r>
              </a:p>
            </p:txBody>
          </p:sp>
          <p:sp>
            <p:nvSpPr>
              <p:cNvPr id="24" name="TextBox 24"/>
              <p:cNvSpPr txBox="1"/>
              <p:nvPr/>
            </p:nvSpPr>
            <p:spPr>
              <a:xfrm>
                <a:off x="1952244" y="3987800"/>
                <a:ext cx="2602927"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8520 coreless brushed</a:t>
                </a:r>
              </a:p>
            </p:txBody>
          </p:sp>
          <p:sp>
            <p:nvSpPr>
              <p:cNvPr id="25" name="TextBox 25"/>
              <p:cNvSpPr txBox="1"/>
              <p:nvPr/>
            </p:nvSpPr>
            <p:spPr>
              <a:xfrm>
                <a:off x="1952244" y="4540250"/>
                <a:ext cx="3501422"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4 × AO3400 MOSFETs, PWM</a:t>
                </a:r>
              </a:p>
            </p:txBody>
          </p:sp>
          <p:sp>
            <p:nvSpPr>
              <p:cNvPr id="26" name="TextBox 26"/>
              <p:cNvSpPr txBox="1"/>
              <p:nvPr/>
            </p:nvSpPr>
            <p:spPr>
              <a:xfrm>
                <a:off x="1952244" y="5092700"/>
                <a:ext cx="3732198"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ESP-NOW remote + phone app</a:t>
                </a:r>
              </a:p>
            </p:txBody>
          </p:sp>
          <p:sp>
            <p:nvSpPr>
              <p:cNvPr id="27" name="TextBox 27"/>
              <p:cNvSpPr txBox="1"/>
              <p:nvPr/>
            </p:nvSpPr>
            <p:spPr>
              <a:xfrm>
                <a:off x="1952244" y="5645150"/>
                <a:ext cx="2129021" cy="381381"/>
              </a:xfrm>
              <a:prstGeom prst="rect">
                <a:avLst/>
              </a:prstGeom>
              <a:noFill/>
              <a:ln>
                <a:noFill/>
              </a:ln>
            </p:spPr>
            <p:txBody>
              <a:bodyPr wrap="none" lIns="0" tIns="0" rIns="0" bIns="0" anchor="t" anchorCtr="0">
                <a:spAutoFit/>
              </a:bodyPr>
              <a:lstStyle/>
              <a:p>
                <a:pPr algn="l"/>
                <a:r>
                  <a:rPr lang="en" sz="1950" b="1" dirty="0">
                    <a:solidFill>
                      <a:srgbClr val="C2410C"/>
                    </a:solidFill>
                    <a:latin typeface="+mn-lt"/>
                    <a:ea typeface="+mn-ea"/>
                    <a:cs typeface="+mn-cs"/>
                  </a:rPr>
                  <a:t>Learn every layer</a:t>
                </a:r>
              </a:p>
            </p:txBody>
          </p:sp>
        </p:grpSp>
      </p:grpSp>
      <p:grpSp>
        <p:nvGrpSpPr>
          <p:cNvPr id="54" name="plane-fpv"/>
          <p:cNvGrpSpPr/>
          <p:nvPr/>
        </p:nvGrpSpPr>
        <p:grpSpPr>
          <a:xfrm>
            <a:off x="6324600" y="1524000"/>
            <a:ext cx="5257800" cy="4572000"/>
            <a:chOff x="6324600" y="1524000"/>
            <a:chExt cx="5257800" cy="4572000"/>
          </a:xfrm>
        </p:grpSpPr>
        <p:sp>
          <p:nvSpPr>
            <p:cNvPr id="30" name="Rectangle 30"/>
            <p:cNvSpPr/>
            <p:nvPr/>
          </p:nvSpPr>
          <p:spPr>
            <a:xfrm>
              <a:off x="6324600" y="1524000"/>
              <a:ext cx="5257800" cy="4572000"/>
            </a:xfrm>
            <a:prstGeom prst="roundRect">
              <a:avLst>
                <a:gd name="adj" fmla="val 3333"/>
              </a:avLst>
            </a:prstGeom>
            <a:solidFill>
              <a:srgbClr val="E9F4F3"/>
            </a:solidFill>
            <a:ln>
              <a:noFill/>
            </a:ln>
          </p:spPr>
        </p:sp>
        <p:sp>
          <p:nvSpPr>
            <p:cNvPr id="31" name="TextBox 31"/>
            <p:cNvSpPr txBox="1"/>
            <p:nvPr/>
          </p:nvSpPr>
          <p:spPr>
            <a:xfrm>
              <a:off x="6619494" y="1758950"/>
              <a:ext cx="2058793"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5-inch FPV racer</a:t>
              </a:r>
            </a:p>
          </p:txBody>
        </p:sp>
        <p:sp>
          <p:nvSpPr>
            <p:cNvPr id="32" name="TextBox 32"/>
            <p:cNvSpPr txBox="1"/>
            <p:nvPr/>
          </p:nvSpPr>
          <p:spPr>
            <a:xfrm>
              <a:off x="6610350" y="2165350"/>
              <a:ext cx="3169598" cy="933450"/>
            </a:xfrm>
            <a:prstGeom prst="rect">
              <a:avLst/>
            </a:prstGeom>
            <a:noFill/>
            <a:ln>
              <a:noFill/>
            </a:ln>
          </p:spPr>
          <p:txBody>
            <a:bodyPr wrap="none" lIns="0" tIns="0" rIns="0" bIns="0" anchor="t" anchorCtr="0">
              <a:spAutoFit/>
            </a:bodyPr>
            <a:lstStyle/>
            <a:p>
              <a:pPr algn="l"/>
              <a:r>
                <a:rPr lang="en" sz="4800" b="1" dirty="0">
                  <a:solidFill>
                    <a:srgbClr val="0B7A75"/>
                  </a:solidFill>
                  <a:latin typeface="+mn-lt"/>
                  <a:ea typeface="+mn-ea"/>
                  <a:cs typeface="+mn-cs"/>
                </a:rPr>
                <a:t>550–680 g</a:t>
              </a:r>
            </a:p>
          </p:txBody>
        </p:sp>
        <p:sp>
          <p:nvSpPr>
            <p:cNvPr id="33" name="TextBox 33"/>
            <p:cNvSpPr txBox="1"/>
            <p:nvPr/>
          </p:nvSpPr>
          <p:spPr>
            <a:xfrm>
              <a:off x="6621780" y="2876550"/>
              <a:ext cx="1186919"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all-up weight</a:t>
              </a:r>
            </a:p>
          </p:txBody>
        </p:sp>
        <p:sp>
          <p:nvSpPr>
            <p:cNvPr id="34" name="Rectangle 34"/>
            <p:cNvSpPr/>
            <p:nvPr/>
          </p:nvSpPr>
          <p:spPr>
            <a:xfrm>
              <a:off x="9182100" y="1733550"/>
              <a:ext cx="2095500" cy="361950"/>
            </a:xfrm>
            <a:prstGeom prst="roundRect">
              <a:avLst>
                <a:gd name="adj" fmla="val 50000"/>
              </a:avLst>
            </a:prstGeom>
            <a:noFill/>
            <a:ln w="14288">
              <a:solidFill>
                <a:srgbClr val="0B7A75"/>
              </a:solidFill>
            </a:ln>
          </p:spPr>
        </p:sp>
        <p:sp>
          <p:nvSpPr>
            <p:cNvPr id="35" name="TextBox 35"/>
            <p:cNvSpPr txBox="1"/>
            <p:nvPr/>
          </p:nvSpPr>
          <p:spPr>
            <a:xfrm>
              <a:off x="9300210" y="1803400"/>
              <a:ext cx="1859280" cy="293370"/>
            </a:xfrm>
            <a:prstGeom prst="rect">
              <a:avLst/>
            </a:prstGeom>
            <a:noFill/>
            <a:ln>
              <a:noFill/>
            </a:ln>
          </p:spPr>
          <p:txBody>
            <a:bodyPr wrap="none" lIns="0" tIns="0" rIns="0" bIns="0" anchor="t" anchorCtr="0">
              <a:spAutoFit/>
            </a:bodyPr>
            <a:lstStyle/>
            <a:p>
              <a:pPr algn="ctr"/>
              <a:r>
                <a:rPr lang="en" sz="1500" dirty="0">
                  <a:solidFill>
                    <a:srgbClr val="0B7A75"/>
                  </a:solidFill>
                  <a:latin typeface="Consolas"/>
                  <a:ea typeface="Consolas"/>
                  <a:cs typeface="Consolas"/>
                </a:rPr>
                <a:t>6S LiPo · 22.2 V</a:t>
              </a:r>
            </a:p>
          </p:txBody>
        </p:sp>
        <p:grpSp>
          <p:nvGrpSpPr>
            <p:cNvPr id="41" name="Group 41"/>
            <p:cNvGrpSpPr/>
            <p:nvPr/>
          </p:nvGrpSpPr>
          <p:grpSpPr>
            <a:xfrm>
              <a:off x="6629400" y="3314700"/>
              <a:ext cx="4648200" cy="2219325"/>
              <a:chOff x="6629400" y="3314700"/>
              <a:chExt cx="4648200" cy="2219325"/>
            </a:xfrm>
          </p:grpSpPr>
          <p:sp>
            <p:nvSpPr>
              <p:cNvPr id="36" name="Line 36"/>
              <p:cNvSpPr/>
              <p:nvPr/>
            </p:nvSpPr>
            <p:spPr>
              <a:xfrm>
                <a:off x="6629400" y="3314700"/>
                <a:ext cx="4648200" cy="9525"/>
              </a:xfrm>
              <a:custGeom>
                <a:avLst/>
                <a:gdLst/>
                <a:ahLst/>
                <a:cxnLst/>
                <a:rect l="l" t="t" r="r" b="b"/>
                <a:pathLst>
                  <a:path w="4648200" h="9525">
                    <a:moveTo>
                      <a:pt x="0" y="0"/>
                    </a:moveTo>
                    <a:lnTo>
                      <a:pt x="4648200" y="0"/>
                    </a:lnTo>
                  </a:path>
                </a:pathLst>
              </a:custGeom>
              <a:noFill/>
              <a:ln w="9525">
                <a:solidFill>
                  <a:srgbClr val="BFDCD9"/>
                </a:solidFill>
              </a:ln>
            </p:spPr>
          </p:sp>
          <p:sp>
            <p:nvSpPr>
              <p:cNvPr id="37" name="Line 37"/>
              <p:cNvSpPr/>
              <p:nvPr/>
            </p:nvSpPr>
            <p:spPr>
              <a:xfrm>
                <a:off x="6629400" y="3867150"/>
                <a:ext cx="4648200" cy="9525"/>
              </a:xfrm>
              <a:custGeom>
                <a:avLst/>
                <a:gdLst/>
                <a:ahLst/>
                <a:cxnLst/>
                <a:rect l="l" t="t" r="r" b="b"/>
                <a:pathLst>
                  <a:path w="4648200" h="9525">
                    <a:moveTo>
                      <a:pt x="0" y="0"/>
                    </a:moveTo>
                    <a:lnTo>
                      <a:pt x="4648200" y="0"/>
                    </a:lnTo>
                  </a:path>
                </a:pathLst>
              </a:custGeom>
              <a:noFill/>
              <a:ln w="9525">
                <a:solidFill>
                  <a:srgbClr val="BFDCD9"/>
                </a:solidFill>
              </a:ln>
            </p:spPr>
          </p:sp>
          <p:sp>
            <p:nvSpPr>
              <p:cNvPr id="38" name="Line 38"/>
              <p:cNvSpPr/>
              <p:nvPr/>
            </p:nvSpPr>
            <p:spPr>
              <a:xfrm>
                <a:off x="6629400" y="4419600"/>
                <a:ext cx="4648200" cy="9525"/>
              </a:xfrm>
              <a:custGeom>
                <a:avLst/>
                <a:gdLst/>
                <a:ahLst/>
                <a:cxnLst/>
                <a:rect l="l" t="t" r="r" b="b"/>
                <a:pathLst>
                  <a:path w="4648200" h="9525">
                    <a:moveTo>
                      <a:pt x="0" y="0"/>
                    </a:moveTo>
                    <a:lnTo>
                      <a:pt x="4648200" y="0"/>
                    </a:lnTo>
                  </a:path>
                </a:pathLst>
              </a:custGeom>
              <a:noFill/>
              <a:ln w="9525">
                <a:solidFill>
                  <a:srgbClr val="BFDCD9"/>
                </a:solidFill>
              </a:ln>
            </p:spPr>
          </p:sp>
          <p:sp>
            <p:nvSpPr>
              <p:cNvPr id="39" name="Line 39"/>
              <p:cNvSpPr/>
              <p:nvPr/>
            </p:nvSpPr>
            <p:spPr>
              <a:xfrm>
                <a:off x="6629400" y="4972050"/>
                <a:ext cx="4648200" cy="9525"/>
              </a:xfrm>
              <a:custGeom>
                <a:avLst/>
                <a:gdLst/>
                <a:ahLst/>
                <a:cxnLst/>
                <a:rect l="l" t="t" r="r" b="b"/>
                <a:pathLst>
                  <a:path w="4648200" h="9525">
                    <a:moveTo>
                      <a:pt x="0" y="0"/>
                    </a:moveTo>
                    <a:lnTo>
                      <a:pt x="4648200" y="0"/>
                    </a:lnTo>
                  </a:path>
                </a:pathLst>
              </a:custGeom>
              <a:noFill/>
              <a:ln w="9525">
                <a:solidFill>
                  <a:srgbClr val="BFDCD9"/>
                </a:solidFill>
              </a:ln>
            </p:spPr>
          </p:sp>
          <p:sp>
            <p:nvSpPr>
              <p:cNvPr id="40" name="Line 40"/>
              <p:cNvSpPr/>
              <p:nvPr/>
            </p:nvSpPr>
            <p:spPr>
              <a:xfrm>
                <a:off x="6629400" y="5524500"/>
                <a:ext cx="4648200" cy="9525"/>
              </a:xfrm>
              <a:custGeom>
                <a:avLst/>
                <a:gdLst/>
                <a:ahLst/>
                <a:cxnLst/>
                <a:rect l="l" t="t" r="r" b="b"/>
                <a:pathLst>
                  <a:path w="4648200" h="9525">
                    <a:moveTo>
                      <a:pt x="0" y="0"/>
                    </a:moveTo>
                    <a:lnTo>
                      <a:pt x="4648200" y="0"/>
                    </a:lnTo>
                  </a:path>
                </a:pathLst>
              </a:custGeom>
              <a:noFill/>
              <a:ln w="9525">
                <a:solidFill>
                  <a:srgbClr val="BFDCD9"/>
                </a:solidFill>
              </a:ln>
            </p:spPr>
          </p:sp>
        </p:grpSp>
        <p:grpSp>
          <p:nvGrpSpPr>
            <p:cNvPr id="47" name="Group 47"/>
            <p:cNvGrpSpPr/>
            <p:nvPr/>
          </p:nvGrpSpPr>
          <p:grpSpPr>
            <a:xfrm>
              <a:off x="6622542" y="3492500"/>
              <a:ext cx="647395" cy="2473833"/>
              <a:chOff x="6622542" y="3492500"/>
              <a:chExt cx="647395" cy="2473833"/>
            </a:xfrm>
          </p:grpSpPr>
          <p:sp>
            <p:nvSpPr>
              <p:cNvPr id="42" name="TextBox 42"/>
              <p:cNvSpPr txBox="1"/>
              <p:nvPr/>
            </p:nvSpPr>
            <p:spPr>
              <a:xfrm>
                <a:off x="6622542" y="3492500"/>
                <a:ext cx="541782"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BRAIN</a:t>
                </a:r>
              </a:p>
            </p:txBody>
          </p:sp>
          <p:sp>
            <p:nvSpPr>
              <p:cNvPr id="43" name="TextBox 43"/>
              <p:cNvSpPr txBox="1"/>
              <p:nvPr/>
            </p:nvSpPr>
            <p:spPr>
              <a:xfrm>
                <a:off x="6622542" y="4044950"/>
                <a:ext cx="647395"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MOTORS</a:t>
                </a:r>
              </a:p>
            </p:txBody>
          </p:sp>
          <p:sp>
            <p:nvSpPr>
              <p:cNvPr id="44" name="TextBox 44"/>
              <p:cNvSpPr txBox="1"/>
              <p:nvPr/>
            </p:nvSpPr>
            <p:spPr>
              <a:xfrm>
                <a:off x="6622542" y="4597400"/>
                <a:ext cx="647395"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DRIVER</a:t>
                </a:r>
              </a:p>
            </p:txBody>
          </p:sp>
          <p:sp>
            <p:nvSpPr>
              <p:cNvPr id="45" name="TextBox 45"/>
              <p:cNvSpPr txBox="1"/>
              <p:nvPr/>
            </p:nvSpPr>
            <p:spPr>
              <a:xfrm>
                <a:off x="6622542" y="5149850"/>
                <a:ext cx="541782"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RADIO</a:t>
                </a:r>
              </a:p>
            </p:txBody>
          </p:sp>
          <p:sp>
            <p:nvSpPr>
              <p:cNvPr id="46" name="TextBox 46"/>
              <p:cNvSpPr txBox="1"/>
              <p:nvPr/>
            </p:nvSpPr>
            <p:spPr>
              <a:xfrm>
                <a:off x="6622542" y="5702300"/>
                <a:ext cx="436169" cy="264033"/>
              </a:xfrm>
              <a:prstGeom prst="rect">
                <a:avLst/>
              </a:prstGeom>
              <a:noFill/>
              <a:ln>
                <a:noFill/>
              </a:ln>
            </p:spPr>
            <p:txBody>
              <a:bodyPr wrap="none" lIns="0" tIns="0" rIns="0" bIns="0" anchor="t" anchorCtr="0">
                <a:spAutoFit/>
              </a:bodyPr>
              <a:lstStyle/>
              <a:p>
                <a:pPr algn="l"/>
                <a:r>
                  <a:rPr lang="en" sz="1350" dirty="0">
                    <a:solidFill>
                      <a:srgbClr val="6B7A8C"/>
                    </a:solidFill>
                    <a:latin typeface="Consolas"/>
                    <a:ea typeface="Consolas"/>
                    <a:cs typeface="Consolas"/>
                  </a:rPr>
                  <a:t>GOAL</a:t>
                </a:r>
              </a:p>
            </p:txBody>
          </p:sp>
        </p:grpSp>
        <p:grpSp>
          <p:nvGrpSpPr>
            <p:cNvPr id="53" name="Group 53"/>
            <p:cNvGrpSpPr/>
            <p:nvPr/>
          </p:nvGrpSpPr>
          <p:grpSpPr>
            <a:xfrm>
              <a:off x="7667244" y="3435350"/>
              <a:ext cx="3550932" cy="2591181"/>
              <a:chOff x="7667244" y="3435350"/>
              <a:chExt cx="3550932" cy="2591181"/>
            </a:xfrm>
          </p:grpSpPr>
          <p:sp>
            <p:nvSpPr>
              <p:cNvPr id="48" name="TextBox 48"/>
              <p:cNvSpPr txBox="1"/>
              <p:nvPr/>
            </p:nvSpPr>
            <p:spPr>
              <a:xfrm>
                <a:off x="7667244" y="3435350"/>
                <a:ext cx="3090480"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STM32 F7/H7 + Betaflight</a:t>
                </a:r>
              </a:p>
            </p:txBody>
          </p:sp>
          <p:sp>
            <p:nvSpPr>
              <p:cNvPr id="49" name="TextBox 49"/>
              <p:cNvSpPr txBox="1"/>
              <p:nvPr/>
            </p:nvSpPr>
            <p:spPr>
              <a:xfrm>
                <a:off x="7667244" y="3987800"/>
                <a:ext cx="3550932"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2207 brushless, 1750–1960 KV</a:t>
                </a:r>
              </a:p>
            </p:txBody>
          </p:sp>
          <p:sp>
            <p:nvSpPr>
              <p:cNvPr id="50" name="TextBox 50"/>
              <p:cNvSpPr txBox="1"/>
              <p:nvPr/>
            </p:nvSpPr>
            <p:spPr>
              <a:xfrm>
                <a:off x="7667244" y="4540250"/>
                <a:ext cx="2570002"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4-in-1 ESC, DShot600</a:t>
                </a:r>
              </a:p>
            </p:txBody>
          </p:sp>
          <p:sp>
            <p:nvSpPr>
              <p:cNvPr id="51" name="TextBox 51"/>
              <p:cNvSpPr txBox="1"/>
              <p:nvPr/>
            </p:nvSpPr>
            <p:spPr>
              <a:xfrm>
                <a:off x="7667244" y="5092700"/>
                <a:ext cx="2384827"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ExpressLRS, 2.4 GHz</a:t>
                </a:r>
              </a:p>
            </p:txBody>
          </p:sp>
          <p:sp>
            <p:nvSpPr>
              <p:cNvPr id="52" name="TextBox 52"/>
              <p:cNvSpPr txBox="1"/>
              <p:nvPr/>
            </p:nvSpPr>
            <p:spPr>
              <a:xfrm>
                <a:off x="7667244" y="5645150"/>
                <a:ext cx="2162802" cy="381381"/>
              </a:xfrm>
              <a:prstGeom prst="rect">
                <a:avLst/>
              </a:prstGeom>
              <a:noFill/>
              <a:ln>
                <a:noFill/>
              </a:ln>
            </p:spPr>
            <p:txBody>
              <a:bodyPr wrap="none" lIns="0" tIns="0" rIns="0" bIns="0" anchor="t" anchorCtr="0">
                <a:spAutoFit/>
              </a:bodyPr>
              <a:lstStyle/>
              <a:p>
                <a:pPr algn="l"/>
                <a:r>
                  <a:rPr lang="en" sz="1950" b="1" dirty="0">
                    <a:solidFill>
                      <a:srgbClr val="0B7A75"/>
                    </a:solidFill>
                    <a:latin typeface="+mn-lt"/>
                    <a:ea typeface="+mn-ea"/>
                    <a:cs typeface="+mn-cs"/>
                  </a:rPr>
                  <a:t>Speed and agility</a:t>
                </a:r>
              </a:p>
            </p:txBody>
          </p:sp>
        </p:grpSp>
      </p:grpSp>
      <p:grpSp>
        <p:nvGrpSpPr>
          <p:cNvPr id="57" name="footer"/>
          <p:cNvGrpSpPr/>
          <p:nvPr/>
        </p:nvGrpSpPr>
        <p:grpSpPr>
          <a:xfrm>
            <a:off x="603504" y="6457950"/>
            <a:ext cx="10984992" cy="247396"/>
            <a:chOff x="603504" y="6457950"/>
            <a:chExt cx="10984992" cy="247396"/>
          </a:xfrm>
        </p:grpSpPr>
        <p:sp>
          <p:nvSpPr>
            <p:cNvPr id="55" name="TextBox 55"/>
            <p:cNvSpPr txBox="1"/>
            <p:nvPr/>
          </p:nvSpPr>
          <p:spPr>
            <a:xfrm>
              <a:off x="603504" y="6457950"/>
              <a:ext cx="2801015"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Build, Fly &amp; Tune a Drone from Scratch</a:t>
              </a:r>
            </a:p>
          </p:txBody>
        </p:sp>
        <p:sp>
          <p:nvSpPr>
            <p:cNvPr id="56" name="TextBox 56"/>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04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600" fill="hold"/>
                                        <p:tgtEl>
                                          <p:spTgt spid="29"/>
                                        </p:tgtEl>
                                        <p:attrNameLst>
                                          <p:attrName>ppt_x</p:attrName>
                                        </p:attrNameLst>
                                      </p:cBhvr>
                                      <p:tavLst>
                                        <p:tav tm="0">
                                          <p:val>
                                            <p:strVal val="1+#ppt_w/2"/>
                                          </p:val>
                                        </p:tav>
                                        <p:tav tm="100000">
                                          <p:val>
                                            <p:strVal val="#ppt_x"/>
                                          </p:val>
                                        </p:tav>
                                      </p:tavLst>
                                    </p:anim>
                                    <p:anim calcmode="lin" valueType="num">
                                      <p:cBhvr additive="base">
                                        <p:cTn id="8" dur="600" fill="hold"/>
                                        <p:tgtEl>
                                          <p:spTgt spid="29"/>
                                        </p:tgtEl>
                                        <p:attrNameLst>
                                          <p:attrName>ppt_y</p:attrName>
                                        </p:attrNameLst>
                                      </p:cBhvr>
                                      <p:tavLst>
                                        <p:tav tm="0">
                                          <p:val>
                                            <p:strVal val="#ppt_y"/>
                                          </p:val>
                                        </p:tav>
                                        <p:tav tm="100000">
                                          <p:val>
                                            <p:strVal val="#ppt_y"/>
                                          </p:val>
                                        </p:tav>
                                      </p:tavLst>
                                    </p:anim>
                                  </p:childTnLst>
                                </p:cTn>
                              </p:par>
                            </p:childTnLst>
                          </p:cTn>
                        </p:par>
                        <p:par>
                          <p:cTn id="9" fill="hold">
                            <p:stCondLst>
                              <p:cond delay="600"/>
                            </p:stCondLst>
                            <p:childTnLst>
                              <p:par>
                                <p:cTn id="10" presetID="2" presetClass="entr" presetSubtype="8" fill="hold" nodeType="afterEffect">
                                  <p:stCondLst>
                                    <p:cond delay="10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600" fill="hold"/>
                                        <p:tgtEl>
                                          <p:spTgt spid="54"/>
                                        </p:tgtEl>
                                        <p:attrNameLst>
                                          <p:attrName>ppt_x</p:attrName>
                                        </p:attrNameLst>
                                      </p:cBhvr>
                                      <p:tavLst>
                                        <p:tav tm="0">
                                          <p:val>
                                            <p:strVal val="0-#ppt_w/2"/>
                                          </p:val>
                                        </p:tav>
                                        <p:tav tm="100000">
                                          <p:val>
                                            <p:strVal val="#ppt_x"/>
                                          </p:val>
                                        </p:tav>
                                      </p:tavLst>
                                    </p:anim>
                                    <p:anim calcmode="lin" valueType="num">
                                      <p:cBhvr additive="base">
                                        <p:cTn id="13" dur="6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rid-decor"/>
          <p:cNvSpPr/>
          <p:nvPr/>
        </p:nvSpPr>
        <p:spPr>
          <a:xfrm>
            <a:off x="4191000" y="1905000"/>
            <a:ext cx="3810000" cy="4191000"/>
          </a:xfrm>
          <a:custGeom>
            <a:avLst/>
            <a:gdLst/>
            <a:ahLst/>
            <a:cxnLst/>
            <a:rect l="l" t="t" r="r" b="b"/>
            <a:pathLst>
              <a:path w="3810000" h="4191000">
                <a:moveTo>
                  <a:pt x="0" y="0"/>
                </a:moveTo>
                <a:lnTo>
                  <a:pt x="0" y="4191000"/>
                </a:lnTo>
                <a:moveTo>
                  <a:pt x="381000" y="0"/>
                </a:moveTo>
                <a:lnTo>
                  <a:pt x="381000" y="4191000"/>
                </a:lnTo>
                <a:moveTo>
                  <a:pt x="762000" y="0"/>
                </a:moveTo>
                <a:lnTo>
                  <a:pt x="762000" y="4191000"/>
                </a:lnTo>
                <a:moveTo>
                  <a:pt x="1143000" y="0"/>
                </a:moveTo>
                <a:lnTo>
                  <a:pt x="1143000" y="4191000"/>
                </a:lnTo>
                <a:moveTo>
                  <a:pt x="1524000" y="0"/>
                </a:moveTo>
                <a:lnTo>
                  <a:pt x="1524000" y="4191000"/>
                </a:lnTo>
                <a:moveTo>
                  <a:pt x="1905000" y="0"/>
                </a:moveTo>
                <a:lnTo>
                  <a:pt x="1905000" y="4191000"/>
                </a:lnTo>
                <a:moveTo>
                  <a:pt x="2286000" y="0"/>
                </a:moveTo>
                <a:lnTo>
                  <a:pt x="2286000" y="4191000"/>
                </a:lnTo>
                <a:moveTo>
                  <a:pt x="2667000" y="0"/>
                </a:moveTo>
                <a:lnTo>
                  <a:pt x="2667000" y="4191000"/>
                </a:lnTo>
                <a:moveTo>
                  <a:pt x="3048000" y="0"/>
                </a:moveTo>
                <a:lnTo>
                  <a:pt x="3048000" y="4191000"/>
                </a:lnTo>
                <a:moveTo>
                  <a:pt x="3429000" y="0"/>
                </a:moveTo>
                <a:lnTo>
                  <a:pt x="3429000" y="4191000"/>
                </a:lnTo>
                <a:moveTo>
                  <a:pt x="3810000" y="0"/>
                </a:moveTo>
                <a:lnTo>
                  <a:pt x="3810000" y="4191000"/>
                </a:lnTo>
                <a:moveTo>
                  <a:pt x="0" y="0"/>
                </a:moveTo>
                <a:lnTo>
                  <a:pt x="3810000" y="0"/>
                </a:lnTo>
                <a:moveTo>
                  <a:pt x="0" y="381000"/>
                </a:moveTo>
                <a:lnTo>
                  <a:pt x="3810000" y="381000"/>
                </a:lnTo>
                <a:moveTo>
                  <a:pt x="0" y="762000"/>
                </a:moveTo>
                <a:lnTo>
                  <a:pt x="3810000" y="762000"/>
                </a:lnTo>
                <a:moveTo>
                  <a:pt x="0" y="1143000"/>
                </a:moveTo>
                <a:lnTo>
                  <a:pt x="3810000" y="1143000"/>
                </a:lnTo>
                <a:moveTo>
                  <a:pt x="0" y="1524000"/>
                </a:moveTo>
                <a:lnTo>
                  <a:pt x="3810000" y="1524000"/>
                </a:lnTo>
                <a:moveTo>
                  <a:pt x="0" y="1905000"/>
                </a:moveTo>
                <a:lnTo>
                  <a:pt x="3810000" y="1905000"/>
                </a:lnTo>
                <a:moveTo>
                  <a:pt x="0" y="2286000"/>
                </a:moveTo>
                <a:lnTo>
                  <a:pt x="3810000" y="2286000"/>
                </a:lnTo>
                <a:moveTo>
                  <a:pt x="0" y="2667000"/>
                </a:moveTo>
                <a:lnTo>
                  <a:pt x="3810000" y="2667000"/>
                </a:lnTo>
                <a:moveTo>
                  <a:pt x="0" y="3048000"/>
                </a:moveTo>
                <a:lnTo>
                  <a:pt x="3810000" y="3048000"/>
                </a:lnTo>
                <a:moveTo>
                  <a:pt x="0" y="3429000"/>
                </a:moveTo>
                <a:lnTo>
                  <a:pt x="3810000" y="3429000"/>
                </a:lnTo>
                <a:moveTo>
                  <a:pt x="0" y="3810000"/>
                </a:moveTo>
                <a:lnTo>
                  <a:pt x="3810000" y="3810000"/>
                </a:lnTo>
                <a:moveTo>
                  <a:pt x="0" y="4191000"/>
                </a:moveTo>
                <a:lnTo>
                  <a:pt x="3810000" y="4191000"/>
                </a:lnTo>
              </a:path>
            </a:pathLst>
          </a:custGeom>
          <a:noFill/>
          <a:ln w="9525">
            <a:solidFill>
              <a:srgbClr val="EDF1F5"/>
            </a:solidFill>
          </a:ln>
        </p:spPr>
      </p:sp>
      <p:grpSp>
        <p:nvGrpSpPr>
          <p:cNvPr id="5" name="header"/>
          <p:cNvGrpSpPr/>
          <p:nvPr/>
        </p:nvGrpSpPr>
        <p:grpSpPr>
          <a:xfrm>
            <a:off x="592836" y="539750"/>
            <a:ext cx="6216072" cy="880364"/>
            <a:chOff x="592836" y="539750"/>
            <a:chExt cx="6216072" cy="880364"/>
          </a:xfrm>
        </p:grpSpPr>
        <p:sp>
          <p:nvSpPr>
            <p:cNvPr id="3" name="TextBox 3"/>
            <p:cNvSpPr txBox="1"/>
            <p:nvPr/>
          </p:nvSpPr>
          <p:spPr>
            <a:xfrm>
              <a:off x="602742" y="539750"/>
              <a:ext cx="2023567"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05 / MICRO BUILD</a:t>
              </a:r>
            </a:p>
          </p:txBody>
        </p:sp>
        <p:sp>
          <p:nvSpPr>
            <p:cNvPr id="4" name="TextBox 4"/>
            <p:cNvSpPr txBox="1"/>
            <p:nvPr/>
          </p:nvSpPr>
          <p:spPr>
            <a:xfrm>
              <a:off x="592836" y="774700"/>
              <a:ext cx="6216072"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What is on our 50-gram quad</a:t>
              </a:r>
            </a:p>
          </p:txBody>
        </p:sp>
      </p:grpSp>
      <p:grpSp>
        <p:nvGrpSpPr>
          <p:cNvPr id="35" name="bom-quad"/>
          <p:cNvGrpSpPr/>
          <p:nvPr/>
        </p:nvGrpSpPr>
        <p:grpSpPr>
          <a:xfrm>
            <a:off x="4381500" y="2286000"/>
            <a:ext cx="3429000" cy="3429000"/>
            <a:chOff x="4381500" y="2286000"/>
            <a:chExt cx="3429000" cy="3429000"/>
          </a:xfrm>
        </p:grpSpPr>
        <p:grpSp>
          <p:nvGrpSpPr>
            <p:cNvPr id="10" name="Group 10"/>
            <p:cNvGrpSpPr/>
            <p:nvPr/>
          </p:nvGrpSpPr>
          <p:grpSpPr>
            <a:xfrm>
              <a:off x="4972050" y="2876550"/>
              <a:ext cx="2247900" cy="2247900"/>
              <a:chOff x="4972050" y="2876550"/>
              <a:chExt cx="2247900" cy="2247900"/>
            </a:xfrm>
          </p:grpSpPr>
          <p:sp>
            <p:nvSpPr>
              <p:cNvPr id="6" name="Line 6"/>
              <p:cNvSpPr/>
              <p:nvPr/>
            </p:nvSpPr>
            <p:spPr>
              <a:xfrm>
                <a:off x="4972050" y="2876550"/>
                <a:ext cx="1123950" cy="1123950"/>
              </a:xfrm>
              <a:custGeom>
                <a:avLst/>
                <a:gdLst/>
                <a:ahLst/>
                <a:cxnLst/>
                <a:rect l="l" t="t" r="r" b="b"/>
                <a:pathLst>
                  <a:path w="1123950" h="1123950">
                    <a:moveTo>
                      <a:pt x="1123950" y="1123950"/>
                    </a:moveTo>
                    <a:lnTo>
                      <a:pt x="0" y="0"/>
                    </a:lnTo>
                  </a:path>
                </a:pathLst>
              </a:custGeom>
              <a:noFill/>
              <a:ln w="95250" cap="rnd">
                <a:solidFill>
                  <a:srgbClr val="0E2A47"/>
                </a:solidFill>
              </a:ln>
            </p:spPr>
          </p:sp>
          <p:sp>
            <p:nvSpPr>
              <p:cNvPr id="7" name="Line 7"/>
              <p:cNvSpPr/>
              <p:nvPr/>
            </p:nvSpPr>
            <p:spPr>
              <a:xfrm>
                <a:off x="6096000" y="2876550"/>
                <a:ext cx="1123950" cy="1123950"/>
              </a:xfrm>
              <a:custGeom>
                <a:avLst/>
                <a:gdLst/>
                <a:ahLst/>
                <a:cxnLst/>
                <a:rect l="l" t="t" r="r" b="b"/>
                <a:pathLst>
                  <a:path w="1123950" h="1123950">
                    <a:moveTo>
                      <a:pt x="0" y="1123950"/>
                    </a:moveTo>
                    <a:lnTo>
                      <a:pt x="1123950" y="0"/>
                    </a:lnTo>
                  </a:path>
                </a:pathLst>
              </a:custGeom>
              <a:noFill/>
              <a:ln w="95250" cap="rnd">
                <a:solidFill>
                  <a:srgbClr val="0E2A47"/>
                </a:solidFill>
              </a:ln>
            </p:spPr>
          </p:sp>
          <p:sp>
            <p:nvSpPr>
              <p:cNvPr id="8" name="Line 8"/>
              <p:cNvSpPr/>
              <p:nvPr/>
            </p:nvSpPr>
            <p:spPr>
              <a:xfrm>
                <a:off x="6096000" y="4000500"/>
                <a:ext cx="1123950" cy="1123950"/>
              </a:xfrm>
              <a:custGeom>
                <a:avLst/>
                <a:gdLst/>
                <a:ahLst/>
                <a:cxnLst/>
                <a:rect l="l" t="t" r="r" b="b"/>
                <a:pathLst>
                  <a:path w="1123950" h="1123950">
                    <a:moveTo>
                      <a:pt x="0" y="0"/>
                    </a:moveTo>
                    <a:lnTo>
                      <a:pt x="1123950" y="1123950"/>
                    </a:lnTo>
                  </a:path>
                </a:pathLst>
              </a:custGeom>
              <a:noFill/>
              <a:ln w="95250" cap="rnd">
                <a:solidFill>
                  <a:srgbClr val="0E2A47"/>
                </a:solidFill>
              </a:ln>
            </p:spPr>
          </p:sp>
          <p:sp>
            <p:nvSpPr>
              <p:cNvPr id="9" name="Line 9"/>
              <p:cNvSpPr/>
              <p:nvPr/>
            </p:nvSpPr>
            <p:spPr>
              <a:xfrm>
                <a:off x="4972050" y="4000500"/>
                <a:ext cx="1123950" cy="1123950"/>
              </a:xfrm>
              <a:custGeom>
                <a:avLst/>
                <a:gdLst/>
                <a:ahLst/>
                <a:cxnLst/>
                <a:rect l="l" t="t" r="r" b="b"/>
                <a:pathLst>
                  <a:path w="1123950" h="1123950">
                    <a:moveTo>
                      <a:pt x="1123950" y="0"/>
                    </a:moveTo>
                    <a:lnTo>
                      <a:pt x="0" y="1123950"/>
                    </a:lnTo>
                  </a:path>
                </a:pathLst>
              </a:custGeom>
              <a:noFill/>
              <a:ln w="95250" cap="rnd">
                <a:solidFill>
                  <a:srgbClr val="0E2A47"/>
                </a:solidFill>
              </a:ln>
            </p:spPr>
          </p:sp>
        </p:grpSp>
        <p:grpSp>
          <p:nvGrpSpPr>
            <p:cNvPr id="15" name="Group 15"/>
            <p:cNvGrpSpPr/>
            <p:nvPr/>
          </p:nvGrpSpPr>
          <p:grpSpPr>
            <a:xfrm>
              <a:off x="4381500" y="2286000"/>
              <a:ext cx="3429000" cy="3429000"/>
              <a:chOff x="4381500" y="2286000"/>
              <a:chExt cx="3429000" cy="3429000"/>
            </a:xfrm>
          </p:grpSpPr>
          <p:sp>
            <p:nvSpPr>
              <p:cNvPr id="11" name="Ellipse 11"/>
              <p:cNvSpPr/>
              <p:nvPr/>
            </p:nvSpPr>
            <p:spPr>
              <a:xfrm>
                <a:off x="4381500" y="2286000"/>
                <a:ext cx="1181100" cy="1181100"/>
              </a:xfrm>
              <a:prstGeom prst="ellipse">
                <a:avLst/>
              </a:prstGeom>
              <a:solidFill>
                <a:srgbClr val="FFFFFF"/>
              </a:solidFill>
              <a:ln w="19050">
                <a:solidFill>
                  <a:srgbClr val="0E2A47"/>
                </a:solidFill>
              </a:ln>
            </p:spPr>
          </p:sp>
          <p:sp>
            <p:nvSpPr>
              <p:cNvPr id="12" name="Ellipse 12"/>
              <p:cNvSpPr/>
              <p:nvPr/>
            </p:nvSpPr>
            <p:spPr>
              <a:xfrm>
                <a:off x="6629400" y="2286000"/>
                <a:ext cx="1181100" cy="1181100"/>
              </a:xfrm>
              <a:prstGeom prst="ellipse">
                <a:avLst/>
              </a:prstGeom>
              <a:solidFill>
                <a:srgbClr val="FFFFFF"/>
              </a:solidFill>
              <a:ln w="19050">
                <a:solidFill>
                  <a:srgbClr val="0E2A47"/>
                </a:solidFill>
              </a:ln>
            </p:spPr>
          </p:sp>
          <p:sp>
            <p:nvSpPr>
              <p:cNvPr id="13" name="Ellipse 13"/>
              <p:cNvSpPr/>
              <p:nvPr/>
            </p:nvSpPr>
            <p:spPr>
              <a:xfrm>
                <a:off x="6629400" y="4533900"/>
                <a:ext cx="1181100" cy="1181100"/>
              </a:xfrm>
              <a:prstGeom prst="ellipse">
                <a:avLst/>
              </a:prstGeom>
              <a:solidFill>
                <a:srgbClr val="FFFFFF"/>
              </a:solidFill>
              <a:ln w="19050">
                <a:solidFill>
                  <a:srgbClr val="0E2A47"/>
                </a:solidFill>
              </a:ln>
            </p:spPr>
          </p:sp>
          <p:sp>
            <p:nvSpPr>
              <p:cNvPr id="14" name="Ellipse 14"/>
              <p:cNvSpPr/>
              <p:nvPr/>
            </p:nvSpPr>
            <p:spPr>
              <a:xfrm>
                <a:off x="4381500" y="4533900"/>
                <a:ext cx="1181100" cy="1181100"/>
              </a:xfrm>
              <a:prstGeom prst="ellipse">
                <a:avLst/>
              </a:prstGeom>
              <a:solidFill>
                <a:srgbClr val="FFFFFF"/>
              </a:solidFill>
              <a:ln w="19050">
                <a:solidFill>
                  <a:srgbClr val="0E2A47"/>
                </a:solidFill>
              </a:ln>
            </p:spPr>
          </p:sp>
        </p:grpSp>
        <p:grpSp>
          <p:nvGrpSpPr>
            <p:cNvPr id="20" name="Group 20"/>
            <p:cNvGrpSpPr/>
            <p:nvPr/>
          </p:nvGrpSpPr>
          <p:grpSpPr>
            <a:xfrm>
              <a:off x="4495800" y="2400300"/>
              <a:ext cx="3200400" cy="3200400"/>
              <a:chOff x="4495800" y="2400300"/>
              <a:chExt cx="3200400" cy="3200400"/>
            </a:xfrm>
          </p:grpSpPr>
          <p:sp>
            <p:nvSpPr>
              <p:cNvPr id="16" name="Ellipse 16"/>
              <p:cNvSpPr/>
              <p:nvPr/>
            </p:nvSpPr>
            <p:spPr>
              <a:xfrm>
                <a:off x="4495800" y="2400300"/>
                <a:ext cx="952500" cy="952500"/>
              </a:xfrm>
              <a:prstGeom prst="ellipse">
                <a:avLst/>
              </a:prstGeom>
              <a:noFill/>
              <a:ln w="11430">
                <a:solidFill>
                  <a:srgbClr val="9AA8B8"/>
                </a:solidFill>
                <a:prstDash val="dash"/>
              </a:ln>
            </p:spPr>
          </p:sp>
          <p:sp>
            <p:nvSpPr>
              <p:cNvPr id="17" name="Ellipse 17"/>
              <p:cNvSpPr/>
              <p:nvPr/>
            </p:nvSpPr>
            <p:spPr>
              <a:xfrm>
                <a:off x="6743700" y="2400300"/>
                <a:ext cx="952500" cy="952500"/>
              </a:xfrm>
              <a:prstGeom prst="ellipse">
                <a:avLst/>
              </a:prstGeom>
              <a:noFill/>
              <a:ln w="11430">
                <a:solidFill>
                  <a:srgbClr val="9AA8B8"/>
                </a:solidFill>
                <a:prstDash val="dash"/>
              </a:ln>
            </p:spPr>
          </p:sp>
          <p:sp>
            <p:nvSpPr>
              <p:cNvPr id="18" name="Ellipse 18"/>
              <p:cNvSpPr/>
              <p:nvPr/>
            </p:nvSpPr>
            <p:spPr>
              <a:xfrm>
                <a:off x="6743700" y="4648200"/>
                <a:ext cx="952500" cy="952500"/>
              </a:xfrm>
              <a:prstGeom prst="ellipse">
                <a:avLst/>
              </a:prstGeom>
              <a:noFill/>
              <a:ln w="11430">
                <a:solidFill>
                  <a:srgbClr val="9AA8B8"/>
                </a:solidFill>
                <a:prstDash val="dash"/>
              </a:ln>
            </p:spPr>
          </p:sp>
          <p:sp>
            <p:nvSpPr>
              <p:cNvPr id="19" name="Ellipse 19"/>
              <p:cNvSpPr/>
              <p:nvPr/>
            </p:nvSpPr>
            <p:spPr>
              <a:xfrm>
                <a:off x="4495800" y="4648200"/>
                <a:ext cx="952500" cy="952500"/>
              </a:xfrm>
              <a:prstGeom prst="ellipse">
                <a:avLst/>
              </a:prstGeom>
              <a:noFill/>
              <a:ln w="11430">
                <a:solidFill>
                  <a:srgbClr val="9AA8B8"/>
                </a:solidFill>
                <a:prstDash val="dash"/>
              </a:ln>
            </p:spPr>
          </p:sp>
        </p:grpSp>
        <p:grpSp>
          <p:nvGrpSpPr>
            <p:cNvPr id="25" name="Group 25"/>
            <p:cNvGrpSpPr/>
            <p:nvPr/>
          </p:nvGrpSpPr>
          <p:grpSpPr>
            <a:xfrm>
              <a:off x="4857750" y="2762250"/>
              <a:ext cx="2476500" cy="2476500"/>
              <a:chOff x="4857750" y="2762250"/>
              <a:chExt cx="2476500" cy="2476500"/>
            </a:xfrm>
          </p:grpSpPr>
          <p:sp>
            <p:nvSpPr>
              <p:cNvPr id="21" name="Ellipse 21"/>
              <p:cNvSpPr/>
              <p:nvPr/>
            </p:nvSpPr>
            <p:spPr>
              <a:xfrm>
                <a:off x="4857750" y="2762250"/>
                <a:ext cx="228600" cy="228600"/>
              </a:xfrm>
              <a:prstGeom prst="ellipse">
                <a:avLst/>
              </a:prstGeom>
              <a:solidFill>
                <a:srgbClr val="0E2A47"/>
              </a:solidFill>
              <a:ln>
                <a:noFill/>
              </a:ln>
            </p:spPr>
          </p:sp>
          <p:sp>
            <p:nvSpPr>
              <p:cNvPr id="22" name="Ellipse 22"/>
              <p:cNvSpPr/>
              <p:nvPr/>
            </p:nvSpPr>
            <p:spPr>
              <a:xfrm>
                <a:off x="7105650" y="2762250"/>
                <a:ext cx="228600" cy="228600"/>
              </a:xfrm>
              <a:prstGeom prst="ellipse">
                <a:avLst/>
              </a:prstGeom>
              <a:solidFill>
                <a:srgbClr val="0E2A47"/>
              </a:solidFill>
              <a:ln>
                <a:noFill/>
              </a:ln>
            </p:spPr>
          </p:sp>
          <p:sp>
            <p:nvSpPr>
              <p:cNvPr id="23" name="Ellipse 23"/>
              <p:cNvSpPr/>
              <p:nvPr/>
            </p:nvSpPr>
            <p:spPr>
              <a:xfrm>
                <a:off x="7105650" y="5010150"/>
                <a:ext cx="228600" cy="228600"/>
              </a:xfrm>
              <a:prstGeom prst="ellipse">
                <a:avLst/>
              </a:prstGeom>
              <a:solidFill>
                <a:srgbClr val="0E2A47"/>
              </a:solidFill>
              <a:ln>
                <a:noFill/>
              </a:ln>
            </p:spPr>
          </p:sp>
          <p:sp>
            <p:nvSpPr>
              <p:cNvPr id="24" name="Ellipse 24"/>
              <p:cNvSpPr/>
              <p:nvPr/>
            </p:nvSpPr>
            <p:spPr>
              <a:xfrm>
                <a:off x="4857750" y="5010150"/>
                <a:ext cx="228600" cy="228600"/>
              </a:xfrm>
              <a:prstGeom prst="ellipse">
                <a:avLst/>
              </a:prstGeom>
              <a:solidFill>
                <a:srgbClr val="0E2A47"/>
              </a:solidFill>
              <a:ln>
                <a:noFill/>
              </a:ln>
            </p:spPr>
          </p:sp>
        </p:grpSp>
        <p:grpSp>
          <p:nvGrpSpPr>
            <p:cNvPr id="30" name="Group 30"/>
            <p:cNvGrpSpPr/>
            <p:nvPr/>
          </p:nvGrpSpPr>
          <p:grpSpPr>
            <a:xfrm>
              <a:off x="5381625" y="3286125"/>
              <a:ext cx="1428750" cy="1428750"/>
              <a:chOff x="5381625" y="3286125"/>
              <a:chExt cx="1428750" cy="1428750"/>
            </a:xfrm>
          </p:grpSpPr>
          <p:sp>
            <p:nvSpPr>
              <p:cNvPr id="26" name="Rectangle 26"/>
              <p:cNvSpPr/>
              <p:nvPr/>
            </p:nvSpPr>
            <p:spPr>
              <a:xfrm>
                <a:off x="5381625" y="3286125"/>
                <a:ext cx="152400" cy="152400"/>
              </a:xfrm>
              <a:prstGeom prst="rect">
                <a:avLst/>
              </a:prstGeom>
              <a:solidFill>
                <a:srgbClr val="FFFFFF"/>
              </a:solidFill>
              <a:ln w="23812">
                <a:solidFill>
                  <a:srgbClr val="E8590C"/>
                </a:solidFill>
              </a:ln>
            </p:spPr>
          </p:sp>
          <p:sp>
            <p:nvSpPr>
              <p:cNvPr id="27" name="Rectangle 27"/>
              <p:cNvSpPr/>
              <p:nvPr/>
            </p:nvSpPr>
            <p:spPr>
              <a:xfrm>
                <a:off x="6657975" y="3286125"/>
                <a:ext cx="152400" cy="152400"/>
              </a:xfrm>
              <a:prstGeom prst="rect">
                <a:avLst/>
              </a:prstGeom>
              <a:solidFill>
                <a:srgbClr val="FFFFFF"/>
              </a:solidFill>
              <a:ln w="23812">
                <a:solidFill>
                  <a:srgbClr val="E8590C"/>
                </a:solidFill>
              </a:ln>
            </p:spPr>
          </p:sp>
          <p:sp>
            <p:nvSpPr>
              <p:cNvPr id="28" name="Rectangle 28"/>
              <p:cNvSpPr/>
              <p:nvPr/>
            </p:nvSpPr>
            <p:spPr>
              <a:xfrm>
                <a:off x="6657975" y="4562475"/>
                <a:ext cx="152400" cy="152400"/>
              </a:xfrm>
              <a:prstGeom prst="rect">
                <a:avLst/>
              </a:prstGeom>
              <a:solidFill>
                <a:srgbClr val="FFFFFF"/>
              </a:solidFill>
              <a:ln w="23812">
                <a:solidFill>
                  <a:srgbClr val="E8590C"/>
                </a:solidFill>
              </a:ln>
            </p:spPr>
          </p:sp>
          <p:sp>
            <p:nvSpPr>
              <p:cNvPr id="29" name="Rectangle 29"/>
              <p:cNvSpPr/>
              <p:nvPr/>
            </p:nvSpPr>
            <p:spPr>
              <a:xfrm>
                <a:off x="5381625" y="4562475"/>
                <a:ext cx="152400" cy="152400"/>
              </a:xfrm>
              <a:prstGeom prst="rect">
                <a:avLst/>
              </a:prstGeom>
              <a:solidFill>
                <a:srgbClr val="FFFFFF"/>
              </a:solidFill>
              <a:ln w="23812">
                <a:solidFill>
                  <a:srgbClr val="E8590C"/>
                </a:solidFill>
              </a:ln>
            </p:spPr>
          </p:sp>
        </p:grpSp>
        <p:sp>
          <p:nvSpPr>
            <p:cNvPr id="31" name="Rectangle 31"/>
            <p:cNvSpPr/>
            <p:nvPr/>
          </p:nvSpPr>
          <p:spPr>
            <a:xfrm>
              <a:off x="5562600" y="3371850"/>
              <a:ext cx="1066800" cy="1257300"/>
            </a:xfrm>
            <a:prstGeom prst="roundRect">
              <a:avLst>
                <a:gd name="adj" fmla="val 10714"/>
              </a:avLst>
            </a:prstGeom>
            <a:solidFill>
              <a:srgbClr val="0E2A47"/>
            </a:solidFill>
            <a:ln>
              <a:noFill/>
            </a:ln>
          </p:spPr>
        </p:sp>
        <p:sp>
          <p:nvSpPr>
            <p:cNvPr id="32" name="Rectangle 32"/>
            <p:cNvSpPr/>
            <p:nvPr/>
          </p:nvSpPr>
          <p:spPr>
            <a:xfrm>
              <a:off x="5676900" y="3143250"/>
              <a:ext cx="838200" cy="1714500"/>
            </a:xfrm>
            <a:prstGeom prst="roundRect">
              <a:avLst>
                <a:gd name="adj" fmla="val 6818"/>
              </a:avLst>
            </a:prstGeom>
            <a:noFill/>
            <a:ln w="19050">
              <a:solidFill>
                <a:srgbClr val="0B7A75"/>
              </a:solidFill>
              <a:prstDash val="dash"/>
            </a:ln>
          </p:spPr>
        </p:sp>
        <p:sp>
          <p:nvSpPr>
            <p:cNvPr id="33" name="Rectangle 33"/>
            <p:cNvSpPr/>
            <p:nvPr/>
          </p:nvSpPr>
          <p:spPr>
            <a:xfrm>
              <a:off x="5962650" y="3867150"/>
              <a:ext cx="266700" cy="266700"/>
            </a:xfrm>
            <a:prstGeom prst="roundRect">
              <a:avLst>
                <a:gd name="adj" fmla="val 10714"/>
              </a:avLst>
            </a:prstGeom>
            <a:solidFill>
              <a:srgbClr val="E8590C"/>
            </a:solidFill>
            <a:ln>
              <a:noFill/>
            </a:ln>
          </p:spPr>
        </p:sp>
        <p:sp>
          <p:nvSpPr>
            <p:cNvPr id="34" name="TextBox 34"/>
            <p:cNvSpPr txBox="1"/>
            <p:nvPr/>
          </p:nvSpPr>
          <p:spPr>
            <a:xfrm>
              <a:off x="5855208" y="3575050"/>
              <a:ext cx="481584" cy="234696"/>
            </a:xfrm>
            <a:prstGeom prst="rect">
              <a:avLst/>
            </a:prstGeom>
            <a:noFill/>
            <a:ln>
              <a:noFill/>
            </a:ln>
          </p:spPr>
          <p:txBody>
            <a:bodyPr wrap="none" lIns="0" tIns="0" rIns="0" bIns="0" anchor="t" anchorCtr="0">
              <a:spAutoFit/>
            </a:bodyPr>
            <a:lstStyle/>
            <a:p>
              <a:pPr algn="ctr"/>
              <a:r>
                <a:rPr lang="en" sz="1200" dirty="0">
                  <a:solidFill>
                    <a:srgbClr val="FFFFFF"/>
                  </a:solidFill>
                  <a:latin typeface="Consolas"/>
                  <a:ea typeface="Consolas"/>
                  <a:cs typeface="Consolas"/>
                </a:rPr>
                <a:t>ESP32</a:t>
              </a:r>
            </a:p>
          </p:txBody>
        </p:sp>
      </p:grpSp>
      <p:grpSp>
        <p:nvGrpSpPr>
          <p:cNvPr id="40" name="call-esp32"/>
          <p:cNvGrpSpPr/>
          <p:nvPr/>
        </p:nvGrpSpPr>
        <p:grpSpPr>
          <a:xfrm>
            <a:off x="601218" y="1663700"/>
            <a:ext cx="5085207" cy="1870075"/>
            <a:chOff x="601218" y="1663700"/>
            <a:chExt cx="5085207" cy="1870075"/>
          </a:xfrm>
        </p:grpSpPr>
        <p:sp>
          <p:nvSpPr>
            <p:cNvPr id="36" name="TextBox 36"/>
            <p:cNvSpPr txBox="1"/>
            <p:nvPr/>
          </p:nvSpPr>
          <p:spPr>
            <a:xfrm>
              <a:off x="601218" y="1663700"/>
              <a:ext cx="1806787"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ESP32 DevKit V1</a:t>
              </a:r>
            </a:p>
          </p:txBody>
        </p:sp>
        <p:sp>
          <p:nvSpPr>
            <p:cNvPr id="37" name="TextBox 37"/>
            <p:cNvSpPr txBox="1"/>
            <p:nvPr/>
          </p:nvSpPr>
          <p:spPr>
            <a:xfrm>
              <a:off x="601980" y="1949450"/>
              <a:ext cx="2476443"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Dual-core 240 MHz; one core</a:t>
              </a:r>
              <a:br>
                <a:rPr lang="en" sz="1500" dirty="0">
                  <a:solidFill>
                    <a:srgbClr val="4A5A6E"/>
                  </a:solidFill>
                  <a:latin typeface="+mn-lt"/>
                  <a:ea typeface="+mn-ea"/>
                  <a:cs typeface="+mn-cs"/>
                </a:rPr>
              </a:br>
              <a:r>
                <a:rPr lang="en" sz="1500" dirty="0">
                  <a:solidFill>
                    <a:srgbClr val="4A5A6E"/>
                  </a:solidFill>
                  <a:latin typeface="+mn-lt"/>
                  <a:ea typeface="+mn-ea"/>
                  <a:cs typeface="+mn-cs"/>
                </a:rPr>
                <a:t>runs the 500 Hz flight loop</a:t>
              </a:r>
            </a:p>
          </p:txBody>
        </p:sp>
        <p:sp>
          <p:nvSpPr>
            <p:cNvPr id="38" name="Line 38"/>
            <p:cNvSpPr/>
            <p:nvPr/>
          </p:nvSpPr>
          <p:spPr>
            <a:xfrm>
              <a:off x="3390900" y="1790700"/>
              <a:ext cx="2247900" cy="1695450"/>
            </a:xfrm>
            <a:custGeom>
              <a:avLst/>
              <a:gdLst/>
              <a:ahLst/>
              <a:cxnLst/>
              <a:rect l="l" t="t" r="r" b="b"/>
              <a:pathLst>
                <a:path w="2247900" h="1695450">
                  <a:moveTo>
                    <a:pt x="0" y="0"/>
                  </a:moveTo>
                  <a:lnTo>
                    <a:pt x="2247900" y="1695450"/>
                  </a:lnTo>
                </a:path>
              </a:pathLst>
            </a:custGeom>
            <a:noFill/>
            <a:ln w="14288">
              <a:solidFill>
                <a:srgbClr val="0E2A47"/>
              </a:solidFill>
            </a:ln>
          </p:spPr>
        </p:sp>
        <p:sp>
          <p:nvSpPr>
            <p:cNvPr id="39" name="Ellipse 39"/>
            <p:cNvSpPr/>
            <p:nvPr/>
          </p:nvSpPr>
          <p:spPr>
            <a:xfrm>
              <a:off x="5591175" y="3438525"/>
              <a:ext cx="95250" cy="95250"/>
            </a:xfrm>
            <a:prstGeom prst="ellipse">
              <a:avLst/>
            </a:prstGeom>
            <a:solidFill>
              <a:srgbClr val="0E2A47"/>
            </a:solidFill>
            <a:ln>
              <a:noFill/>
            </a:ln>
          </p:spPr>
        </p:sp>
      </p:grpSp>
      <p:grpSp>
        <p:nvGrpSpPr>
          <p:cNvPr id="45" name="call-imu"/>
          <p:cNvGrpSpPr/>
          <p:nvPr/>
        </p:nvGrpSpPr>
        <p:grpSpPr>
          <a:xfrm>
            <a:off x="601218" y="3225800"/>
            <a:ext cx="5466207" cy="845820"/>
            <a:chOff x="601218" y="3225800"/>
            <a:chExt cx="5466207" cy="845820"/>
          </a:xfrm>
        </p:grpSpPr>
        <p:sp>
          <p:nvSpPr>
            <p:cNvPr id="41" name="TextBox 41"/>
            <p:cNvSpPr txBox="1"/>
            <p:nvPr/>
          </p:nvSpPr>
          <p:spPr>
            <a:xfrm>
              <a:off x="601218" y="3225800"/>
              <a:ext cx="1723567"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MPU-6050 IMU</a:t>
              </a:r>
            </a:p>
          </p:txBody>
        </p:sp>
        <p:sp>
          <p:nvSpPr>
            <p:cNvPr id="42" name="TextBox 42"/>
            <p:cNvSpPr txBox="1"/>
            <p:nvPr/>
          </p:nvSpPr>
          <p:spPr>
            <a:xfrm>
              <a:off x="601980" y="3511550"/>
              <a:ext cx="2406129"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3-axis gyro + accelerometer,</a:t>
              </a:r>
              <a:br>
                <a:rPr lang="en" sz="1500" dirty="0">
                  <a:solidFill>
                    <a:srgbClr val="4A5A6E"/>
                  </a:solidFill>
                  <a:latin typeface="+mn-lt"/>
                  <a:ea typeface="+mn-ea"/>
                  <a:cs typeface="+mn-cs"/>
                </a:rPr>
              </a:br>
              <a:r>
                <a:rPr lang="en" sz="1500" dirty="0">
                  <a:solidFill>
                    <a:srgbClr val="4A5A6E"/>
                  </a:solidFill>
                  <a:latin typeface="+mn-lt"/>
                  <a:ea typeface="+mn-ea"/>
                  <a:cs typeface="+mn-cs"/>
                </a:rPr>
                <a:t>I²C at 400 kHz, at the CG</a:t>
              </a:r>
            </a:p>
          </p:txBody>
        </p:sp>
        <p:sp>
          <p:nvSpPr>
            <p:cNvPr id="43" name="Line 43"/>
            <p:cNvSpPr/>
            <p:nvPr/>
          </p:nvSpPr>
          <p:spPr>
            <a:xfrm>
              <a:off x="3390900" y="3352800"/>
              <a:ext cx="2628900" cy="590550"/>
            </a:xfrm>
            <a:custGeom>
              <a:avLst/>
              <a:gdLst/>
              <a:ahLst/>
              <a:cxnLst/>
              <a:rect l="l" t="t" r="r" b="b"/>
              <a:pathLst>
                <a:path w="2628900" h="590550">
                  <a:moveTo>
                    <a:pt x="0" y="0"/>
                  </a:moveTo>
                  <a:lnTo>
                    <a:pt x="2628900" y="590550"/>
                  </a:lnTo>
                </a:path>
              </a:pathLst>
            </a:custGeom>
            <a:noFill/>
            <a:ln w="14288">
              <a:solidFill>
                <a:srgbClr val="0E2A47"/>
              </a:solidFill>
            </a:ln>
          </p:spPr>
        </p:sp>
        <p:sp>
          <p:nvSpPr>
            <p:cNvPr id="44" name="Ellipse 44"/>
            <p:cNvSpPr/>
            <p:nvPr/>
          </p:nvSpPr>
          <p:spPr>
            <a:xfrm>
              <a:off x="5972175" y="3895725"/>
              <a:ext cx="95250" cy="95250"/>
            </a:xfrm>
            <a:prstGeom prst="ellipse">
              <a:avLst/>
            </a:prstGeom>
            <a:solidFill>
              <a:srgbClr val="0E2A47"/>
            </a:solidFill>
            <a:ln>
              <a:noFill/>
            </a:ln>
          </p:spPr>
        </p:sp>
      </p:grpSp>
      <p:grpSp>
        <p:nvGrpSpPr>
          <p:cNvPr id="50" name="call-driver"/>
          <p:cNvGrpSpPr/>
          <p:nvPr/>
        </p:nvGrpSpPr>
        <p:grpSpPr>
          <a:xfrm>
            <a:off x="601218" y="4638675"/>
            <a:ext cx="4856607" cy="995045"/>
            <a:chOff x="601218" y="4638675"/>
            <a:chExt cx="4856607" cy="995045"/>
          </a:xfrm>
        </p:grpSpPr>
        <p:sp>
          <p:nvSpPr>
            <p:cNvPr id="46" name="TextBox 46"/>
            <p:cNvSpPr txBox="1"/>
            <p:nvPr/>
          </p:nvSpPr>
          <p:spPr>
            <a:xfrm>
              <a:off x="601218" y="4787900"/>
              <a:ext cx="1966308"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AO3400 driver × 4</a:t>
              </a:r>
            </a:p>
          </p:txBody>
        </p:sp>
        <p:sp>
          <p:nvSpPr>
            <p:cNvPr id="47" name="TextBox 47"/>
            <p:cNvSpPr txBox="1"/>
            <p:nvPr/>
          </p:nvSpPr>
          <p:spPr>
            <a:xfrm>
              <a:off x="601980" y="5073650"/>
              <a:ext cx="2827744"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One low-side MOSFET per motor,</a:t>
              </a:r>
              <a:br>
                <a:rPr lang="en" sz="1500" dirty="0">
                  <a:solidFill>
                    <a:srgbClr val="4A5A6E"/>
                  </a:solidFill>
                  <a:latin typeface="+mn-lt"/>
                  <a:ea typeface="+mn-ea"/>
                  <a:cs typeface="+mn-cs"/>
                </a:rPr>
              </a:br>
              <a:r>
                <a:rPr lang="en" sz="1500" dirty="0">
                  <a:solidFill>
                    <a:srgbClr val="4A5A6E"/>
                  </a:solidFill>
                  <a:latin typeface="+mn-lt"/>
                  <a:ea typeface="+mn-ea"/>
                  <a:cs typeface="+mn-cs"/>
                </a:rPr>
                <a:t>16 kHz PWM from the ESP32</a:t>
              </a:r>
            </a:p>
          </p:txBody>
        </p:sp>
        <p:sp>
          <p:nvSpPr>
            <p:cNvPr id="48" name="Line 48"/>
            <p:cNvSpPr/>
            <p:nvPr/>
          </p:nvSpPr>
          <p:spPr>
            <a:xfrm>
              <a:off x="3390900" y="4686300"/>
              <a:ext cx="2019300" cy="228600"/>
            </a:xfrm>
            <a:custGeom>
              <a:avLst/>
              <a:gdLst/>
              <a:ahLst/>
              <a:cxnLst/>
              <a:rect l="l" t="t" r="r" b="b"/>
              <a:pathLst>
                <a:path w="2019300" h="228600">
                  <a:moveTo>
                    <a:pt x="0" y="228600"/>
                  </a:moveTo>
                  <a:lnTo>
                    <a:pt x="2019300" y="0"/>
                  </a:lnTo>
                </a:path>
              </a:pathLst>
            </a:custGeom>
            <a:noFill/>
            <a:ln w="14288">
              <a:solidFill>
                <a:srgbClr val="0E2A47"/>
              </a:solidFill>
            </a:ln>
          </p:spPr>
        </p:sp>
        <p:sp>
          <p:nvSpPr>
            <p:cNvPr id="49" name="Ellipse 49"/>
            <p:cNvSpPr/>
            <p:nvPr/>
          </p:nvSpPr>
          <p:spPr>
            <a:xfrm>
              <a:off x="5362575" y="4638675"/>
              <a:ext cx="95250" cy="95250"/>
            </a:xfrm>
            <a:prstGeom prst="ellipse">
              <a:avLst/>
            </a:prstGeom>
            <a:solidFill>
              <a:srgbClr val="0E2A47"/>
            </a:solidFill>
            <a:ln>
              <a:noFill/>
            </a:ln>
          </p:spPr>
        </p:sp>
      </p:grpSp>
      <p:grpSp>
        <p:nvGrpSpPr>
          <p:cNvPr id="55" name="call-motor"/>
          <p:cNvGrpSpPr/>
          <p:nvPr/>
        </p:nvGrpSpPr>
        <p:grpSpPr>
          <a:xfrm>
            <a:off x="7267575" y="1663700"/>
            <a:ext cx="3605292" cy="1184275"/>
            <a:chOff x="7267575" y="1663700"/>
            <a:chExt cx="3605292" cy="1184275"/>
          </a:xfrm>
        </p:grpSpPr>
        <p:sp>
          <p:nvSpPr>
            <p:cNvPr id="51" name="TextBox 51"/>
            <p:cNvSpPr txBox="1"/>
            <p:nvPr/>
          </p:nvSpPr>
          <p:spPr>
            <a:xfrm>
              <a:off x="8335518" y="1663700"/>
              <a:ext cx="2537349"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8520 coreless motor × 4</a:t>
              </a:r>
            </a:p>
          </p:txBody>
        </p:sp>
        <p:sp>
          <p:nvSpPr>
            <p:cNvPr id="52" name="TextBox 52"/>
            <p:cNvSpPr txBox="1"/>
            <p:nvPr/>
          </p:nvSpPr>
          <p:spPr>
            <a:xfrm>
              <a:off x="8336280" y="1949450"/>
              <a:ext cx="2473795"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8.5 × 20 mm, about 5 g each,</a:t>
              </a:r>
              <a:br>
                <a:rPr lang="en" sz="1500" dirty="0">
                  <a:solidFill>
                    <a:srgbClr val="4A5A6E"/>
                  </a:solidFill>
                  <a:latin typeface="+mn-lt"/>
                  <a:ea typeface="+mn-ea"/>
                  <a:cs typeface="+mn-cs"/>
                </a:rPr>
              </a:br>
              <a:r>
                <a:rPr lang="en" sz="1500" dirty="0">
                  <a:solidFill>
                    <a:srgbClr val="4A5A6E"/>
                  </a:solidFill>
                  <a:latin typeface="+mn-lt"/>
                  <a:ea typeface="+mn-ea"/>
                  <a:cs typeface="+mn-cs"/>
                </a:rPr>
                <a:t>turning 55 mm props</a:t>
              </a:r>
            </a:p>
          </p:txBody>
        </p:sp>
        <p:sp>
          <p:nvSpPr>
            <p:cNvPr id="53" name="Line 53"/>
            <p:cNvSpPr/>
            <p:nvPr/>
          </p:nvSpPr>
          <p:spPr>
            <a:xfrm>
              <a:off x="7315200" y="1790700"/>
              <a:ext cx="933450" cy="1009650"/>
            </a:xfrm>
            <a:custGeom>
              <a:avLst/>
              <a:gdLst/>
              <a:ahLst/>
              <a:cxnLst/>
              <a:rect l="l" t="t" r="r" b="b"/>
              <a:pathLst>
                <a:path w="933450" h="1009650">
                  <a:moveTo>
                    <a:pt x="933450" y="0"/>
                  </a:moveTo>
                  <a:lnTo>
                    <a:pt x="0" y="1009650"/>
                  </a:lnTo>
                </a:path>
              </a:pathLst>
            </a:custGeom>
            <a:noFill/>
            <a:ln w="14288">
              <a:solidFill>
                <a:srgbClr val="0E2A47"/>
              </a:solidFill>
            </a:ln>
          </p:spPr>
        </p:sp>
        <p:sp>
          <p:nvSpPr>
            <p:cNvPr id="54" name="Ellipse 54"/>
            <p:cNvSpPr/>
            <p:nvPr/>
          </p:nvSpPr>
          <p:spPr>
            <a:xfrm>
              <a:off x="7267575" y="2752725"/>
              <a:ext cx="95250" cy="95250"/>
            </a:xfrm>
            <a:prstGeom prst="ellipse">
              <a:avLst/>
            </a:prstGeom>
            <a:solidFill>
              <a:srgbClr val="0E2A47"/>
            </a:solidFill>
            <a:ln>
              <a:noFill/>
            </a:ln>
          </p:spPr>
        </p:sp>
      </p:grpSp>
      <p:grpSp>
        <p:nvGrpSpPr>
          <p:cNvPr id="60" name="call-power"/>
          <p:cNvGrpSpPr/>
          <p:nvPr/>
        </p:nvGrpSpPr>
        <p:grpSpPr>
          <a:xfrm>
            <a:off x="6524625" y="3949700"/>
            <a:ext cx="4651419" cy="1379220"/>
            <a:chOff x="6524625" y="3949700"/>
            <a:chExt cx="4651419" cy="1379220"/>
          </a:xfrm>
        </p:grpSpPr>
        <p:sp>
          <p:nvSpPr>
            <p:cNvPr id="56" name="TextBox 56"/>
            <p:cNvSpPr txBox="1"/>
            <p:nvPr/>
          </p:nvSpPr>
          <p:spPr>
            <a:xfrm>
              <a:off x="8335518" y="3949700"/>
              <a:ext cx="1524906"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1S LiPo power</a:t>
              </a:r>
            </a:p>
          </p:txBody>
        </p:sp>
        <p:sp>
          <p:nvSpPr>
            <p:cNvPr id="57" name="TextBox 57"/>
            <p:cNvSpPr txBox="1"/>
            <p:nvPr/>
          </p:nvSpPr>
          <p:spPr>
            <a:xfrm>
              <a:off x="8336280" y="4235450"/>
              <a:ext cx="2839764" cy="10934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3.7 V cell, TP4056 USB charger,</a:t>
              </a:r>
              <a:br>
                <a:rPr lang="en" sz="1500" dirty="0">
                  <a:solidFill>
                    <a:srgbClr val="4A5A6E"/>
                  </a:solidFill>
                  <a:latin typeface="+mn-lt"/>
                  <a:ea typeface="+mn-ea"/>
                  <a:cs typeface="+mn-cs"/>
                </a:rPr>
              </a:br>
              <a:r>
                <a:rPr lang="en" sz="1500" dirty="0">
                  <a:solidFill>
                    <a:srgbClr val="4A5A6E"/>
                  </a:solidFill>
                  <a:latin typeface="+mn-lt"/>
                  <a:ea typeface="+mn-ea"/>
                  <a:cs typeface="+mn-cs"/>
                </a:rPr>
                <a:t>5 V boost keeps the ESP32 stable,</a:t>
              </a:r>
              <a:br>
                <a:rPr lang="en" sz="1500" dirty="0">
                  <a:solidFill>
                    <a:srgbClr val="4A5A6E"/>
                  </a:solidFill>
                  <a:latin typeface="+mn-lt"/>
                  <a:ea typeface="+mn-ea"/>
                  <a:cs typeface="+mn-cs"/>
                </a:rPr>
              </a:br>
              <a:r>
                <a:rPr lang="en" sz="1500" dirty="0">
                  <a:solidFill>
                    <a:srgbClr val="4A5A6E"/>
                  </a:solidFill>
                  <a:latin typeface="+mn-lt"/>
                  <a:ea typeface="+mn-ea"/>
                  <a:cs typeface="+mn-cs"/>
                </a:rPr>
                <a:t>voltage read on GPIO 34</a:t>
              </a:r>
              <a:br>
                <a:rPr lang="en" sz="1500" dirty="0">
                  <a:solidFill>
                    <a:srgbClr val="4A5A6E"/>
                  </a:solidFill>
                  <a:latin typeface="+mn-lt"/>
                  <a:ea typeface="+mn-ea"/>
                  <a:cs typeface="+mn-cs"/>
                </a:rPr>
              </a:br>
              <a:r>
                <a:rPr lang="en" sz="1500" dirty="0">
                  <a:solidFill>
                    <a:srgbClr val="4A5A6E"/>
                  </a:solidFill>
                  <a:latin typeface="+mn-lt"/>
                  <a:ea typeface="+mn-ea"/>
                  <a:cs typeface="+mn-cs"/>
                </a:rPr>
                <a:t>(100k / 100k divider)</a:t>
              </a:r>
            </a:p>
          </p:txBody>
        </p:sp>
        <p:sp>
          <p:nvSpPr>
            <p:cNvPr id="58" name="Line 58"/>
            <p:cNvSpPr/>
            <p:nvPr/>
          </p:nvSpPr>
          <p:spPr>
            <a:xfrm>
              <a:off x="6572250" y="4076700"/>
              <a:ext cx="1676400" cy="400050"/>
            </a:xfrm>
            <a:custGeom>
              <a:avLst/>
              <a:gdLst/>
              <a:ahLst/>
              <a:cxnLst/>
              <a:rect l="l" t="t" r="r" b="b"/>
              <a:pathLst>
                <a:path w="1676400" h="400050">
                  <a:moveTo>
                    <a:pt x="1676400" y="0"/>
                  </a:moveTo>
                  <a:lnTo>
                    <a:pt x="0" y="400050"/>
                  </a:lnTo>
                </a:path>
              </a:pathLst>
            </a:custGeom>
            <a:noFill/>
            <a:ln w="14288">
              <a:solidFill>
                <a:srgbClr val="0B7A75"/>
              </a:solidFill>
            </a:ln>
          </p:spPr>
        </p:sp>
        <p:sp>
          <p:nvSpPr>
            <p:cNvPr id="59" name="Ellipse 59"/>
            <p:cNvSpPr/>
            <p:nvPr/>
          </p:nvSpPr>
          <p:spPr>
            <a:xfrm>
              <a:off x="6524625" y="4429125"/>
              <a:ext cx="95250" cy="95250"/>
            </a:xfrm>
            <a:prstGeom prst="ellipse">
              <a:avLst/>
            </a:prstGeom>
            <a:solidFill>
              <a:srgbClr val="0B7A75"/>
            </a:solidFill>
            <a:ln>
              <a:noFill/>
            </a:ln>
          </p:spPr>
        </p:sp>
      </p:grpSp>
      <p:grpSp>
        <p:nvGrpSpPr>
          <p:cNvPr id="63" name="footer"/>
          <p:cNvGrpSpPr/>
          <p:nvPr/>
        </p:nvGrpSpPr>
        <p:grpSpPr>
          <a:xfrm>
            <a:off x="603504" y="6457950"/>
            <a:ext cx="10984992" cy="247396"/>
            <a:chOff x="603504" y="6457950"/>
            <a:chExt cx="10984992" cy="247396"/>
          </a:xfrm>
        </p:grpSpPr>
        <p:sp>
          <p:nvSpPr>
            <p:cNvPr id="61" name="TextBox 61"/>
            <p:cNvSpPr txBox="1"/>
            <p:nvPr/>
          </p:nvSpPr>
          <p:spPr>
            <a:xfrm>
              <a:off x="603504" y="6457950"/>
              <a:ext cx="5895919"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Dashed teal outline = battery under the frame · Orange squares = MOSFET drivers</a:t>
              </a:r>
            </a:p>
          </p:txBody>
        </p:sp>
        <p:sp>
          <p:nvSpPr>
            <p:cNvPr id="62" name="TextBox 62"/>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05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700" fill="hold"/>
                                        <p:tgtEl>
                                          <p:spTgt spid="35"/>
                                        </p:tgtEl>
                                        <p:attrNameLst>
                                          <p:attrName>ppt_w</p:attrName>
                                        </p:attrNameLst>
                                      </p:cBhvr>
                                      <p:tavLst>
                                        <p:tav tm="0">
                                          <p:val>
                                            <p:fltVal val="0"/>
                                          </p:val>
                                        </p:tav>
                                        <p:tav tm="100000">
                                          <p:val>
                                            <p:strVal val="#ppt_w"/>
                                          </p:val>
                                        </p:tav>
                                      </p:tavLst>
                                    </p:anim>
                                    <p:anim calcmode="lin" valueType="num">
                                      <p:cBhvr>
                                        <p:cTn id="8" dur="700" fill="hold"/>
                                        <p:tgtEl>
                                          <p:spTgt spid="35"/>
                                        </p:tgtEl>
                                        <p:attrNameLst>
                                          <p:attrName>ppt_h</p:attrName>
                                        </p:attrNameLst>
                                      </p:cBhvr>
                                      <p:tavLst>
                                        <p:tav tm="0">
                                          <p:val>
                                            <p:fltVal val="0"/>
                                          </p:val>
                                        </p:tav>
                                        <p:tav tm="100000">
                                          <p:val>
                                            <p:strVal val="#ppt_h"/>
                                          </p:val>
                                        </p:tav>
                                      </p:tavLst>
                                    </p:anim>
                                    <p:animEffect transition="in" filter="fade">
                                      <p:cBhvr>
                                        <p:cTn id="9" dur="700"/>
                                        <p:tgtEl>
                                          <p:spTgt spid="35"/>
                                        </p:tgtEl>
                                      </p:cBhvr>
                                    </p:animEffect>
                                  </p:childTnLst>
                                </p:cTn>
                              </p:par>
                            </p:childTnLst>
                          </p:cTn>
                        </p:par>
                        <p:par>
                          <p:cTn id="10" fill="hold">
                            <p:stCondLst>
                              <p:cond delay="700"/>
                            </p:stCondLst>
                            <p:childTnLst>
                              <p:par>
                                <p:cTn id="11" presetID="10" presetClass="entr" presetSubtype="0" fill="hold" nodeType="afterEffect">
                                  <p:stCondLst>
                                    <p:cond delay="10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450"/>
                                        <p:tgtEl>
                                          <p:spTgt spid="40"/>
                                        </p:tgtEl>
                                      </p:cBhvr>
                                    </p:animEffect>
                                  </p:childTnLst>
                                </p:cTn>
                              </p:par>
                            </p:childTnLst>
                          </p:cTn>
                        </p:par>
                        <p:par>
                          <p:cTn id="14" fill="hold">
                            <p:stCondLst>
                              <p:cond delay="1250"/>
                            </p:stCondLst>
                            <p:childTnLst>
                              <p:par>
                                <p:cTn id="15" presetID="10" presetClass="entr" presetSubtype="0" fill="hold" nodeType="afterEffect">
                                  <p:stCondLst>
                                    <p:cond delay="10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50"/>
                                        <p:tgtEl>
                                          <p:spTgt spid="45"/>
                                        </p:tgtEl>
                                      </p:cBhvr>
                                    </p:animEffect>
                                  </p:childTnLst>
                                </p:cTn>
                              </p:par>
                            </p:childTnLst>
                          </p:cTn>
                        </p:par>
                        <p:par>
                          <p:cTn id="18" fill="hold">
                            <p:stCondLst>
                              <p:cond delay="1800"/>
                            </p:stCondLst>
                            <p:childTnLst>
                              <p:par>
                                <p:cTn id="19" presetID="10" presetClass="entr" presetSubtype="0" fill="hold" nodeType="afterEffect">
                                  <p:stCondLst>
                                    <p:cond delay="100"/>
                                  </p:stCondLst>
                                  <p:childTnLst>
                                    <p:set>
                                      <p:cBhvr>
                                        <p:cTn id="20" dur="1" fill="hold">
                                          <p:stCondLst>
                                            <p:cond delay="0"/>
                                          </p:stCondLst>
                                        </p:cTn>
                                        <p:tgtEl>
                                          <p:spTgt spid="50"/>
                                        </p:tgtEl>
                                        <p:attrNameLst>
                                          <p:attrName>style.visibility</p:attrName>
                                        </p:attrNameLst>
                                      </p:cBhvr>
                                      <p:to>
                                        <p:strVal val="visible"/>
                                      </p:to>
                                    </p:set>
                                    <p:animEffect transition="in" filter="fade">
                                      <p:cBhvr>
                                        <p:cTn id="21" dur="450"/>
                                        <p:tgtEl>
                                          <p:spTgt spid="50"/>
                                        </p:tgtEl>
                                      </p:cBhvr>
                                    </p:animEffect>
                                  </p:childTnLst>
                                </p:cTn>
                              </p:par>
                            </p:childTnLst>
                          </p:cTn>
                        </p:par>
                        <p:par>
                          <p:cTn id="22" fill="hold">
                            <p:stCondLst>
                              <p:cond delay="2350"/>
                            </p:stCondLst>
                            <p:childTnLst>
                              <p:par>
                                <p:cTn id="23" presetID="10" presetClass="entr" presetSubtype="0" fill="hold" nodeType="afterEffect">
                                  <p:stCondLst>
                                    <p:cond delay="10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450"/>
                                        <p:tgtEl>
                                          <p:spTgt spid="55"/>
                                        </p:tgtEl>
                                      </p:cBhvr>
                                    </p:animEffect>
                                  </p:childTnLst>
                                </p:cTn>
                              </p:par>
                            </p:childTnLst>
                          </p:cTn>
                        </p:par>
                        <p:par>
                          <p:cTn id="26" fill="hold">
                            <p:stCondLst>
                              <p:cond delay="2900"/>
                            </p:stCondLst>
                            <p:childTnLst>
                              <p:par>
                                <p:cTn id="27" presetID="10" presetClass="entr" presetSubtype="0" fill="hold" nodeType="afterEffect">
                                  <p:stCondLst>
                                    <p:cond delay="100"/>
                                  </p:stCondLst>
                                  <p:childTnLst>
                                    <p:set>
                                      <p:cBhvr>
                                        <p:cTn id="28" dur="1" fill="hold">
                                          <p:stCondLst>
                                            <p:cond delay="0"/>
                                          </p:stCondLst>
                                        </p:cTn>
                                        <p:tgtEl>
                                          <p:spTgt spid="60"/>
                                        </p:tgtEl>
                                        <p:attrNameLst>
                                          <p:attrName>style.visibility</p:attrName>
                                        </p:attrNameLst>
                                      </p:cBhvr>
                                      <p:to>
                                        <p:strVal val="visible"/>
                                      </p:to>
                                    </p:set>
                                    <p:animEffect transition="in" filter="fade">
                                      <p:cBhvr>
                                        <p:cTn id="29" dur="4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ield-decor"/>
          <p:cNvSpPr/>
          <p:nvPr/>
        </p:nvSpPr>
        <p:spPr>
          <a:xfrm>
            <a:off x="6210300" y="0"/>
            <a:ext cx="5981700" cy="6858000"/>
          </a:xfrm>
          <a:prstGeom prst="rect">
            <a:avLst/>
          </a:prstGeom>
          <a:solidFill>
            <a:srgbClr val="FFF3EA"/>
          </a:solidFill>
          <a:ln>
            <a:noFill/>
          </a:ln>
        </p:spPr>
      </p:sp>
      <p:grpSp>
        <p:nvGrpSpPr>
          <p:cNvPr id="5" name="header"/>
          <p:cNvGrpSpPr/>
          <p:nvPr/>
        </p:nvGrpSpPr>
        <p:grpSpPr>
          <a:xfrm>
            <a:off x="592836" y="1054100"/>
            <a:ext cx="3581838" cy="1566164"/>
            <a:chOff x="592836" y="1054100"/>
            <a:chExt cx="3581838" cy="1566164"/>
          </a:xfrm>
        </p:grpSpPr>
        <p:sp>
          <p:nvSpPr>
            <p:cNvPr id="3" name="TextBox 3"/>
            <p:cNvSpPr txBox="1"/>
            <p:nvPr/>
          </p:nvSpPr>
          <p:spPr>
            <a:xfrm>
              <a:off x="602742" y="1054100"/>
              <a:ext cx="2277466"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06 / THE ROADBLOCK</a:t>
              </a:r>
            </a:p>
          </p:txBody>
        </p:sp>
        <p:sp>
          <p:nvSpPr>
            <p:cNvPr id="4" name="TextBox 4"/>
            <p:cNvSpPr txBox="1"/>
            <p:nvPr/>
          </p:nvSpPr>
          <p:spPr>
            <a:xfrm>
              <a:off x="592836" y="1441450"/>
              <a:ext cx="3581838" cy="1178814"/>
            </a:xfrm>
            <a:prstGeom prst="rect">
              <a:avLst/>
            </a:prstGeom>
            <a:noFill/>
            <a:ln>
              <a:noFill/>
            </a:ln>
          </p:spPr>
          <p:txBody>
            <a:bodyPr wrap="none" lIns="0" tIns="0" rIns="0" bIns="0" anchor="t" anchorCtr="0">
              <a:spAutoFit/>
            </a:bodyPr>
            <a:lstStyle/>
            <a:p>
              <a:pPr algn="l">
                <a:lnSpc>
                  <a:spcPts val="4200"/>
                </a:lnSpc>
              </a:pPr>
              <a:r>
                <a:rPr lang="en" sz="3300" b="1" dirty="0">
                  <a:solidFill>
                    <a:srgbClr val="0E1B2C"/>
                  </a:solidFill>
                  <a:latin typeface="+mn-lt"/>
                  <a:ea typeface="+mn-ea"/>
                  <a:cs typeface="+mn-cs"/>
                </a:rPr>
                <a:t>Prototype 1 never</a:t>
              </a:r>
              <a:br>
                <a:rPr lang="en" sz="3300" b="1" dirty="0">
                  <a:solidFill>
                    <a:srgbClr val="0E1B2C"/>
                  </a:solidFill>
                  <a:latin typeface="+mn-lt"/>
                  <a:ea typeface="+mn-ea"/>
                  <a:cs typeface="+mn-cs"/>
                </a:rPr>
              </a:br>
              <a:r>
                <a:rPr lang="en" sz="3300" b="1" dirty="0">
                  <a:solidFill>
                    <a:srgbClr val="0E1B2C"/>
                  </a:solidFill>
                  <a:latin typeface="+mn-lt"/>
                  <a:ea typeface="+mn-ea"/>
                  <a:cs typeface="+mn-cs"/>
                </a:rPr>
                <a:t>left the floor</a:t>
              </a:r>
            </a:p>
          </p:txBody>
        </p:sp>
      </p:grpSp>
      <p:grpSp>
        <p:nvGrpSpPr>
          <p:cNvPr id="8" name="story"/>
          <p:cNvGrpSpPr/>
          <p:nvPr/>
        </p:nvGrpSpPr>
        <p:grpSpPr>
          <a:xfrm>
            <a:off x="599694" y="2908300"/>
            <a:ext cx="4072059" cy="2572131"/>
            <a:chOff x="599694" y="2908300"/>
            <a:chExt cx="4072059" cy="2572131"/>
          </a:xfrm>
        </p:grpSpPr>
        <p:sp>
          <p:nvSpPr>
            <p:cNvPr id="6" name="TextBox 6"/>
            <p:cNvSpPr txBox="1"/>
            <p:nvPr/>
          </p:nvSpPr>
          <p:spPr>
            <a:xfrm>
              <a:off x="599694" y="2908300"/>
              <a:ext cx="4040583" cy="1143381"/>
            </a:xfrm>
            <a:prstGeom prst="rect">
              <a:avLst/>
            </a:prstGeom>
            <a:noFill/>
            <a:ln>
              <a:noFill/>
            </a:ln>
          </p:spPr>
          <p:txBody>
            <a:bodyPr wrap="none" lIns="0" tIns="0" rIns="0" bIns="0" anchor="t" anchorCtr="0">
              <a:spAutoFit/>
            </a:bodyPr>
            <a:lstStyle/>
            <a:p>
              <a:pPr algn="l">
                <a:lnSpc>
                  <a:spcPts val="3000"/>
                </a:lnSpc>
              </a:pPr>
              <a:r>
                <a:rPr lang="en" sz="1950" dirty="0">
                  <a:solidFill>
                    <a:srgbClr val="4A5A6E"/>
                  </a:solidFill>
                  <a:latin typeface="+mn-lt"/>
                  <a:ea typeface="+mn-ea"/>
                  <a:cs typeface="+mn-cs"/>
                </a:rPr>
                <a:t>ESP32, MPU-6050, four 8520 motors,</a:t>
              </a:r>
              <a:br>
                <a:rPr lang="en" sz="1950" dirty="0">
                  <a:solidFill>
                    <a:srgbClr val="4A5A6E"/>
                  </a:solidFill>
                  <a:latin typeface="+mn-lt"/>
                  <a:ea typeface="+mn-ea"/>
                  <a:cs typeface="+mn-cs"/>
                </a:rPr>
              </a:br>
              <a:r>
                <a:rPr lang="en" sz="1950" dirty="0">
                  <a:solidFill>
                    <a:srgbClr val="4A5A6E"/>
                  </a:solidFill>
                  <a:latin typeface="+mn-lt"/>
                  <a:ea typeface="+mn-ea"/>
                  <a:cs typeface="+mn-cs"/>
                </a:rPr>
                <a:t>a 1S LiPo, and two </a:t>
              </a:r>
              <a:r>
                <a:rPr lang="en" sz="1950" b="1" dirty="0">
                  <a:solidFill>
                    <a:srgbClr val="0E1B2C"/>
                  </a:solidFill>
                  <a:latin typeface="+mn-lt"/>
                  <a:ea typeface="+mn-ea"/>
                  <a:cs typeface="+mn-cs"/>
                </a:rPr>
                <a:t>DRV8833</a:t>
              </a:r>
              <a:br>
                <a:rPr lang="en" sz="1950" b="1" dirty="0">
                  <a:solidFill>
                    <a:srgbClr val="0E1B2C"/>
                  </a:solidFill>
                  <a:latin typeface="+mn-lt"/>
                  <a:ea typeface="+mn-ea"/>
                  <a:cs typeface="+mn-cs"/>
                </a:rPr>
              </a:br>
              <a:r>
                <a:rPr lang="en" sz="1950" dirty="0">
                  <a:solidFill>
                    <a:srgbClr val="4A5A6E"/>
                  </a:solidFill>
                  <a:latin typeface="+mn-lt"/>
                  <a:ea typeface="+mn-ea"/>
                  <a:cs typeface="+mn-cs"/>
                </a:rPr>
                <a:t>H-bridge boards driving the motors.</a:t>
              </a:r>
            </a:p>
          </p:txBody>
        </p:sp>
        <p:sp>
          <p:nvSpPr>
            <p:cNvPr id="7" name="TextBox 7"/>
            <p:cNvSpPr txBox="1"/>
            <p:nvPr/>
          </p:nvSpPr>
          <p:spPr>
            <a:xfrm>
              <a:off x="599694" y="4337050"/>
              <a:ext cx="4072059" cy="1143381"/>
            </a:xfrm>
            <a:prstGeom prst="rect">
              <a:avLst/>
            </a:prstGeom>
            <a:noFill/>
            <a:ln>
              <a:noFill/>
            </a:ln>
          </p:spPr>
          <p:txBody>
            <a:bodyPr wrap="none" lIns="0" tIns="0" rIns="0" bIns="0" anchor="t" anchorCtr="0">
              <a:spAutoFit/>
            </a:bodyPr>
            <a:lstStyle/>
            <a:p>
              <a:pPr algn="l">
                <a:lnSpc>
                  <a:spcPts val="3000"/>
                </a:lnSpc>
              </a:pPr>
              <a:r>
                <a:rPr lang="en" sz="1950" dirty="0">
                  <a:solidFill>
                    <a:srgbClr val="4A5A6E"/>
                  </a:solidFill>
                  <a:latin typeface="+mn-lt"/>
                  <a:ea typeface="+mn-ea"/>
                  <a:cs typeface="+mn-cs"/>
                </a:rPr>
                <a:t>At full throttle the drivers overheated</a:t>
              </a:r>
              <a:br>
                <a:rPr lang="en" sz="1950" dirty="0">
                  <a:solidFill>
                    <a:srgbClr val="4A5A6E"/>
                  </a:solidFill>
                  <a:latin typeface="+mn-lt"/>
                  <a:ea typeface="+mn-ea"/>
                  <a:cs typeface="+mn-cs"/>
                </a:rPr>
              </a:br>
              <a:r>
                <a:rPr lang="en" sz="1950" dirty="0">
                  <a:solidFill>
                    <a:srgbClr val="4A5A6E"/>
                  </a:solidFill>
                  <a:latin typeface="+mn-lt"/>
                  <a:ea typeface="+mn-ea"/>
                  <a:cs typeface="+mn-cs"/>
                </a:rPr>
                <a:t>and cut out. The quad </a:t>
              </a:r>
              <a:r>
                <a:rPr lang="en" sz="1950" b="1" dirty="0">
                  <a:solidFill>
                    <a:srgbClr val="C81E1E"/>
                  </a:solidFill>
                  <a:latin typeface="+mn-lt"/>
                  <a:ea typeface="+mn-ea"/>
                  <a:cs typeface="+mn-cs"/>
                </a:rPr>
                <a:t>skated across</a:t>
              </a:r>
              <a:br>
                <a:rPr lang="en" sz="1950" b="1" dirty="0">
                  <a:solidFill>
                    <a:srgbClr val="C81E1E"/>
                  </a:solidFill>
                  <a:latin typeface="+mn-lt"/>
                  <a:ea typeface="+mn-ea"/>
                  <a:cs typeface="+mn-cs"/>
                </a:rPr>
              </a:br>
              <a:r>
                <a:rPr lang="en" sz="1950" b="1" dirty="0">
                  <a:solidFill>
                    <a:srgbClr val="C81E1E"/>
                  </a:solidFill>
                  <a:latin typeface="+mn-lt"/>
                  <a:ea typeface="+mn-ea"/>
                  <a:cs typeface="+mn-cs"/>
                </a:rPr>
                <a:t>the floor</a:t>
              </a:r>
              <a:r>
                <a:rPr lang="en" sz="1950" dirty="0">
                  <a:solidFill>
                    <a:srgbClr val="4A5A6E"/>
                  </a:solidFill>
                  <a:latin typeface="+mn-lt"/>
                  <a:ea typeface="+mn-ea"/>
                  <a:cs typeface="+mn-cs"/>
                </a:rPr>
                <a:t> instead of lifting off.</a:t>
              </a:r>
            </a:p>
          </p:txBody>
        </p:sp>
      </p:grpSp>
      <p:grpSp>
        <p:nvGrpSpPr>
          <p:cNvPr id="10" name="!!voltage"/>
          <p:cNvGrpSpPr/>
          <p:nvPr/>
        </p:nvGrpSpPr>
        <p:grpSpPr>
          <a:xfrm>
            <a:off x="6648450" y="1562100"/>
            <a:ext cx="5180042" cy="2076450"/>
            <a:chOff x="6648450" y="1562100"/>
            <a:chExt cx="5180042" cy="2076450"/>
          </a:xfrm>
        </p:grpSpPr>
        <p:sp>
          <p:nvSpPr>
            <p:cNvPr id="9" name="TextBox 9"/>
            <p:cNvSpPr txBox="1"/>
            <p:nvPr/>
          </p:nvSpPr>
          <p:spPr>
            <a:xfrm>
              <a:off x="6648450" y="1562100"/>
              <a:ext cx="5180042" cy="2076450"/>
            </a:xfrm>
            <a:prstGeom prst="rect">
              <a:avLst/>
            </a:prstGeom>
            <a:noFill/>
            <a:ln>
              <a:noFill/>
            </a:ln>
          </p:spPr>
          <p:txBody>
            <a:bodyPr wrap="none" lIns="0" tIns="0" rIns="0" bIns="0" anchor="t" anchorCtr="0">
              <a:spAutoFit/>
            </a:bodyPr>
            <a:lstStyle/>
            <a:p>
              <a:pPr algn="l"/>
              <a:r>
                <a:rPr lang="en" sz="10800" b="1" dirty="0">
                  <a:solidFill>
                    <a:srgbClr val="C81E1E"/>
                  </a:solidFill>
                  <a:latin typeface="+mn-lt"/>
                  <a:ea typeface="+mn-ea"/>
                  <a:cs typeface="+mn-cs"/>
                </a:rPr>
                <a:t>&lt; 2.7 V</a:t>
              </a:r>
            </a:p>
          </p:txBody>
        </p:sp>
      </p:grpSp>
      <p:grpSp>
        <p:nvGrpSpPr>
          <p:cNvPr id="13" name="hero-caption"/>
          <p:cNvGrpSpPr/>
          <p:nvPr/>
        </p:nvGrpSpPr>
        <p:grpSpPr>
          <a:xfrm>
            <a:off x="6695694" y="3549650"/>
            <a:ext cx="3657977" cy="684657"/>
            <a:chOff x="6695694" y="3549650"/>
            <a:chExt cx="3657977" cy="684657"/>
          </a:xfrm>
        </p:grpSpPr>
        <p:sp>
          <p:nvSpPr>
            <p:cNvPr id="11" name="TextBox 11"/>
            <p:cNvSpPr txBox="1"/>
            <p:nvPr/>
          </p:nvSpPr>
          <p:spPr>
            <a:xfrm>
              <a:off x="6695694" y="3549650"/>
              <a:ext cx="3657977"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reached the motors (measured)</a:t>
              </a:r>
            </a:p>
          </p:txBody>
        </p:sp>
        <p:sp>
          <p:nvSpPr>
            <p:cNvPr id="12" name="TextBox 12"/>
            <p:cNvSpPr txBox="1"/>
            <p:nvPr/>
          </p:nvSpPr>
          <p:spPr>
            <a:xfrm>
              <a:off x="6697218" y="3911600"/>
              <a:ext cx="2543270" cy="322707"/>
            </a:xfrm>
            <a:prstGeom prst="rect">
              <a:avLst/>
            </a:prstGeom>
            <a:noFill/>
            <a:ln>
              <a:noFill/>
            </a:ln>
          </p:spPr>
          <p:txBody>
            <a:bodyPr wrap="none" lIns="0" tIns="0" rIns="0" bIns="0" anchor="t" anchorCtr="0">
              <a:spAutoFit/>
            </a:bodyPr>
            <a:lstStyle/>
            <a:p>
              <a:pPr algn="l"/>
              <a:r>
                <a:rPr lang="en" sz="1650" dirty="0">
                  <a:solidFill>
                    <a:srgbClr val="4A5A6E"/>
                  </a:solidFill>
                  <a:latin typeface="+mn-lt"/>
                  <a:ea typeface="+mn-ea"/>
                  <a:cs typeface="+mn-cs"/>
                </a:rPr>
                <a:t>from a battery rated 3.7 V</a:t>
              </a:r>
            </a:p>
          </p:txBody>
        </p:sp>
      </p:grpSp>
      <p:grpSp>
        <p:nvGrpSpPr>
          <p:cNvPr id="28" name="skid-sketch"/>
          <p:cNvGrpSpPr/>
          <p:nvPr/>
        </p:nvGrpSpPr>
        <p:grpSpPr>
          <a:xfrm>
            <a:off x="6667500" y="4629150"/>
            <a:ext cx="4914900" cy="1543050"/>
            <a:chOff x="6667500" y="4629150"/>
            <a:chExt cx="4914900" cy="1543050"/>
          </a:xfrm>
        </p:grpSpPr>
        <p:sp>
          <p:nvSpPr>
            <p:cNvPr id="14" name="Line 14"/>
            <p:cNvSpPr/>
            <p:nvPr/>
          </p:nvSpPr>
          <p:spPr>
            <a:xfrm>
              <a:off x="6667500" y="5715000"/>
              <a:ext cx="4914900" cy="9525"/>
            </a:xfrm>
            <a:custGeom>
              <a:avLst/>
              <a:gdLst/>
              <a:ahLst/>
              <a:cxnLst/>
              <a:rect l="l" t="t" r="r" b="b"/>
              <a:pathLst>
                <a:path w="4914900" h="9525">
                  <a:moveTo>
                    <a:pt x="0" y="0"/>
                  </a:moveTo>
                  <a:lnTo>
                    <a:pt x="4914900" y="0"/>
                  </a:lnTo>
                </a:path>
              </a:pathLst>
            </a:custGeom>
            <a:noFill/>
            <a:ln w="19050">
              <a:solidFill>
                <a:srgbClr val="0E2A47"/>
              </a:solidFill>
            </a:ln>
          </p:spPr>
        </p:sp>
        <p:grpSp>
          <p:nvGrpSpPr>
            <p:cNvPr id="17" name="Group 17"/>
            <p:cNvGrpSpPr/>
            <p:nvPr/>
          </p:nvGrpSpPr>
          <p:grpSpPr>
            <a:xfrm>
              <a:off x="6762750" y="5581650"/>
              <a:ext cx="1333500" cy="85725"/>
              <a:chOff x="6762750" y="5581650"/>
              <a:chExt cx="1333500" cy="85725"/>
            </a:xfrm>
          </p:grpSpPr>
          <p:sp>
            <p:nvSpPr>
              <p:cNvPr id="15" name="Line 15"/>
              <p:cNvSpPr/>
              <p:nvPr/>
            </p:nvSpPr>
            <p:spPr>
              <a:xfrm>
                <a:off x="6762750" y="5657850"/>
                <a:ext cx="1333500" cy="9525"/>
              </a:xfrm>
              <a:custGeom>
                <a:avLst/>
                <a:gdLst/>
                <a:ahLst/>
                <a:cxnLst/>
                <a:rect l="l" t="t" r="r" b="b"/>
                <a:pathLst>
                  <a:path w="1333500" h="9525">
                    <a:moveTo>
                      <a:pt x="0" y="0"/>
                    </a:moveTo>
                    <a:lnTo>
                      <a:pt x="1333500" y="0"/>
                    </a:lnTo>
                  </a:path>
                </a:pathLst>
              </a:custGeom>
              <a:noFill/>
              <a:ln w="19050">
                <a:solidFill>
                  <a:srgbClr val="9AA8B8"/>
                </a:solidFill>
                <a:prstDash val="lgDash"/>
              </a:ln>
            </p:spPr>
          </p:sp>
          <p:sp>
            <p:nvSpPr>
              <p:cNvPr id="16" name="Line 16"/>
              <p:cNvSpPr/>
              <p:nvPr/>
            </p:nvSpPr>
            <p:spPr>
              <a:xfrm>
                <a:off x="7048500" y="5581650"/>
                <a:ext cx="1047750" cy="9525"/>
              </a:xfrm>
              <a:custGeom>
                <a:avLst/>
                <a:gdLst/>
                <a:ahLst/>
                <a:cxnLst/>
                <a:rect l="l" t="t" r="r" b="b"/>
                <a:pathLst>
                  <a:path w="1047750" h="9525">
                    <a:moveTo>
                      <a:pt x="0" y="0"/>
                    </a:moveTo>
                    <a:lnTo>
                      <a:pt x="1047750" y="0"/>
                    </a:lnTo>
                  </a:path>
                </a:pathLst>
              </a:custGeom>
              <a:noFill/>
              <a:ln w="19050">
                <a:solidFill>
                  <a:srgbClr val="9AA8B8"/>
                </a:solidFill>
                <a:prstDash val="lgDash"/>
              </a:ln>
            </p:spPr>
          </p:sp>
        </p:grpSp>
        <p:grpSp>
          <p:nvGrpSpPr>
            <p:cNvPr id="22" name="Group 22"/>
            <p:cNvGrpSpPr/>
            <p:nvPr/>
          </p:nvGrpSpPr>
          <p:grpSpPr>
            <a:xfrm>
              <a:off x="8286750" y="5162550"/>
              <a:ext cx="1905000" cy="495300"/>
              <a:chOff x="8286750" y="5162550"/>
              <a:chExt cx="1905000" cy="495300"/>
            </a:xfrm>
          </p:grpSpPr>
          <p:sp>
            <p:nvSpPr>
              <p:cNvPr id="18" name="Rectangle 18"/>
              <p:cNvSpPr/>
              <p:nvPr/>
            </p:nvSpPr>
            <p:spPr>
              <a:xfrm>
                <a:off x="8286750" y="5334000"/>
                <a:ext cx="1905000" cy="171450"/>
              </a:xfrm>
              <a:prstGeom prst="roundRect">
                <a:avLst>
                  <a:gd name="adj" fmla="val 33333"/>
                </a:avLst>
              </a:prstGeom>
              <a:solidFill>
                <a:srgbClr val="0E2A47"/>
              </a:solidFill>
              <a:ln>
                <a:noFill/>
              </a:ln>
            </p:spPr>
          </p:sp>
          <p:sp>
            <p:nvSpPr>
              <p:cNvPr id="19" name="Rectangle 19"/>
              <p:cNvSpPr/>
              <p:nvPr/>
            </p:nvSpPr>
            <p:spPr>
              <a:xfrm>
                <a:off x="8382000" y="5162550"/>
                <a:ext cx="190500" cy="171450"/>
              </a:xfrm>
              <a:prstGeom prst="roundRect">
                <a:avLst>
                  <a:gd name="adj" fmla="val 16667"/>
                </a:avLst>
              </a:prstGeom>
              <a:solidFill>
                <a:srgbClr val="0E2A47"/>
              </a:solidFill>
              <a:ln>
                <a:noFill/>
              </a:ln>
            </p:spPr>
          </p:sp>
          <p:sp>
            <p:nvSpPr>
              <p:cNvPr id="20" name="Rectangle 20"/>
              <p:cNvSpPr/>
              <p:nvPr/>
            </p:nvSpPr>
            <p:spPr>
              <a:xfrm>
                <a:off x="9906000" y="5162550"/>
                <a:ext cx="190500" cy="171450"/>
              </a:xfrm>
              <a:prstGeom prst="roundRect">
                <a:avLst>
                  <a:gd name="adj" fmla="val 16667"/>
                </a:avLst>
              </a:prstGeom>
              <a:solidFill>
                <a:srgbClr val="0E2A47"/>
              </a:solidFill>
              <a:ln>
                <a:noFill/>
              </a:ln>
            </p:spPr>
          </p:sp>
          <p:sp>
            <p:nvSpPr>
              <p:cNvPr id="21" name="Rectangle 21"/>
              <p:cNvSpPr/>
              <p:nvPr/>
            </p:nvSpPr>
            <p:spPr>
              <a:xfrm>
                <a:off x="8905875" y="5505450"/>
                <a:ext cx="666750" cy="152400"/>
              </a:xfrm>
              <a:prstGeom prst="roundRect">
                <a:avLst>
                  <a:gd name="adj" fmla="val 25000"/>
                </a:avLst>
              </a:prstGeom>
              <a:solidFill>
                <a:srgbClr val="0E2A47"/>
              </a:solidFill>
              <a:ln>
                <a:noFill/>
              </a:ln>
            </p:spPr>
          </p:sp>
        </p:grpSp>
        <p:grpSp>
          <p:nvGrpSpPr>
            <p:cNvPr id="25" name="Group 25"/>
            <p:cNvGrpSpPr/>
            <p:nvPr/>
          </p:nvGrpSpPr>
          <p:grpSpPr>
            <a:xfrm>
              <a:off x="7943850" y="5057775"/>
              <a:ext cx="2590800" cy="95250"/>
              <a:chOff x="7943850" y="5057775"/>
              <a:chExt cx="2590800" cy="95250"/>
            </a:xfrm>
          </p:grpSpPr>
          <p:sp>
            <p:nvSpPr>
              <p:cNvPr id="23" name="Ellipse 23"/>
              <p:cNvSpPr/>
              <p:nvPr/>
            </p:nvSpPr>
            <p:spPr>
              <a:xfrm>
                <a:off x="7943850" y="5057775"/>
                <a:ext cx="1066800" cy="95250"/>
              </a:xfrm>
              <a:prstGeom prst="ellipse">
                <a:avLst/>
              </a:prstGeom>
              <a:solidFill>
                <a:srgbClr val="E8590C">
                  <a:alpha val="45000"/>
                </a:srgbClr>
              </a:solidFill>
              <a:ln>
                <a:noFill/>
              </a:ln>
            </p:spPr>
          </p:sp>
          <p:sp>
            <p:nvSpPr>
              <p:cNvPr id="24" name="Ellipse 24"/>
              <p:cNvSpPr/>
              <p:nvPr/>
            </p:nvSpPr>
            <p:spPr>
              <a:xfrm>
                <a:off x="9467850" y="5057775"/>
                <a:ext cx="1066800" cy="95250"/>
              </a:xfrm>
              <a:prstGeom prst="ellipse">
                <a:avLst/>
              </a:prstGeom>
              <a:solidFill>
                <a:srgbClr val="E8590C">
                  <a:alpha val="45000"/>
                </a:srgbClr>
              </a:solidFill>
              <a:ln>
                <a:noFill/>
              </a:ln>
            </p:spPr>
          </p:sp>
        </p:grpSp>
        <p:sp>
          <p:nvSpPr>
            <p:cNvPr id="26" name="TextBox 26"/>
            <p:cNvSpPr txBox="1"/>
            <p:nvPr/>
          </p:nvSpPr>
          <p:spPr>
            <a:xfrm>
              <a:off x="8279130" y="4629150"/>
              <a:ext cx="1962552"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props spinning, no lift</a:t>
              </a:r>
            </a:p>
          </p:txBody>
        </p:sp>
        <p:sp>
          <p:nvSpPr>
            <p:cNvPr id="27" name="Freeform 27"/>
            <p:cNvSpPr/>
            <p:nvPr/>
          </p:nvSpPr>
          <p:spPr>
            <a:xfrm>
              <a:off x="9906000" y="5829300"/>
              <a:ext cx="1428750" cy="342900"/>
            </a:xfrm>
            <a:prstGeom prst="rightArrow">
              <a:avLst/>
            </a:prstGeom>
            <a:solidFill>
              <a:srgbClr val="E8590C"/>
            </a:solidFill>
            <a:ln>
              <a:noFill/>
            </a:ln>
          </p:spPr>
        </p:sp>
      </p:grpSp>
      <p:sp>
        <p:nvSpPr>
          <p:cNvPr id="29" name="TextBox 29"/>
          <p:cNvSpPr txBox="1"/>
          <p:nvPr/>
        </p:nvSpPr>
        <p:spPr>
          <a:xfrm>
            <a:off x="603504" y="6457950"/>
            <a:ext cx="1509027"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Phase 2 · Micro build</a:t>
            </a:r>
          </a:p>
        </p:txBody>
      </p:sp>
      <p:sp>
        <p:nvSpPr>
          <p:cNvPr id="30" name="TextBox 30"/>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06 / 21</a:t>
            </a:r>
          </a:p>
        </p:txBody>
      </p:sp>
    </p:spTree>
  </p:cSld>
  <p:clrMapOvr>
    <a:masterClrMapping/>
  </p:clrMapOvr>
  <mc:AlternateContent xmlns:mc="http://schemas.openxmlformats.org/markup-compatibility/2006" xmlns:p14="http://schemas.microsoft.com/office/powerpoint/2010/main">
    <mc:Choice Requires="p14">
      <p:transition spd="med" p14:dur="6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par>
                          <p:cTn id="8" fill="hold">
                            <p:stCondLst>
                              <p:cond delay="600"/>
                            </p:stCondLst>
                            <p:childTnLst>
                              <p:par>
                                <p:cTn id="9" presetID="53" presetClass="entr" presetSubtype="16" fill="hold" nodeType="afterEffect">
                                  <p:stCondLst>
                                    <p:cond delay="100"/>
                                  </p:stCondLst>
                                  <p:childTnLst>
                                    <p:set>
                                      <p:cBhvr>
                                        <p:cTn id="10" dur="1" fill="hold">
                                          <p:stCondLst>
                                            <p:cond delay="0"/>
                                          </p:stCondLst>
                                        </p:cTn>
                                        <p:tgtEl>
                                          <p:spTgt spid="10"/>
                                        </p:tgtEl>
                                        <p:attrNameLst>
                                          <p:attrName>style.visibility</p:attrName>
                                        </p:attrNameLst>
                                      </p:cBhvr>
                                      <p:to>
                                        <p:strVal val="visible"/>
                                      </p:to>
                                    </p:set>
                                    <p:anim calcmode="lin" valueType="num">
                                      <p:cBhvr>
                                        <p:cTn id="11" dur="900" fill="hold"/>
                                        <p:tgtEl>
                                          <p:spTgt spid="10"/>
                                        </p:tgtEl>
                                        <p:attrNameLst>
                                          <p:attrName>ppt_w</p:attrName>
                                        </p:attrNameLst>
                                      </p:cBhvr>
                                      <p:tavLst>
                                        <p:tav tm="0">
                                          <p:val>
                                            <p:fltVal val="0"/>
                                          </p:val>
                                        </p:tav>
                                        <p:tav tm="100000">
                                          <p:val>
                                            <p:strVal val="#ppt_w"/>
                                          </p:val>
                                        </p:tav>
                                      </p:tavLst>
                                    </p:anim>
                                    <p:anim calcmode="lin" valueType="num">
                                      <p:cBhvr>
                                        <p:cTn id="12" dur="900" fill="hold"/>
                                        <p:tgtEl>
                                          <p:spTgt spid="10"/>
                                        </p:tgtEl>
                                        <p:attrNameLst>
                                          <p:attrName>ppt_h</p:attrName>
                                        </p:attrNameLst>
                                      </p:cBhvr>
                                      <p:tavLst>
                                        <p:tav tm="0">
                                          <p:val>
                                            <p:fltVal val="0"/>
                                          </p:val>
                                        </p:tav>
                                        <p:tav tm="100000">
                                          <p:val>
                                            <p:strVal val="#ppt_h"/>
                                          </p:val>
                                        </p:tav>
                                      </p:tavLst>
                                    </p:anim>
                                    <p:animEffect transition="in" filter="fade">
                                      <p:cBhvr>
                                        <p:cTn id="13" dur="900"/>
                                        <p:tgtEl>
                                          <p:spTgt spid="10"/>
                                        </p:tgtEl>
                                      </p:cBhvr>
                                    </p:animEffect>
                                  </p:childTnLst>
                                </p:cTn>
                              </p:par>
                            </p:childTnLst>
                          </p:cTn>
                        </p:par>
                        <p:par>
                          <p:cTn id="14" fill="hold">
                            <p:stCondLst>
                              <p:cond delay="1600"/>
                            </p:stCondLst>
                            <p:childTnLst>
                              <p:par>
                                <p:cTn id="15" presetID="10" presetClass="entr" presetSubtype="0" fill="hold" nodeType="afterEffect">
                                  <p:stCondLst>
                                    <p:cond delay="1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200"/>
                            </p:stCondLst>
                            <p:childTnLst>
                              <p:par>
                                <p:cTn id="19" presetID="2" presetClass="entr" presetSubtype="2" fill="hold" nodeType="afterEffect">
                                  <p:stCondLst>
                                    <p:cond delay="10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800" fill="hold"/>
                                        <p:tgtEl>
                                          <p:spTgt spid="28"/>
                                        </p:tgtEl>
                                        <p:attrNameLst>
                                          <p:attrName>ppt_x</p:attrName>
                                        </p:attrNameLst>
                                      </p:cBhvr>
                                      <p:tavLst>
                                        <p:tav tm="0">
                                          <p:val>
                                            <p:strVal val="1+#ppt_w/2"/>
                                          </p:val>
                                        </p:tav>
                                        <p:tav tm="100000">
                                          <p:val>
                                            <p:strVal val="#ppt_x"/>
                                          </p:val>
                                        </p:tav>
                                      </p:tavLst>
                                    </p:anim>
                                    <p:anim calcmode="lin" valueType="num">
                                      <p:cBhvr additive="base">
                                        <p:cTn id="22" dur="8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6032382" cy="880364"/>
            <a:chOff x="592836" y="539750"/>
            <a:chExt cx="6032382" cy="880364"/>
          </a:xfrm>
        </p:grpSpPr>
        <p:sp>
          <p:nvSpPr>
            <p:cNvPr id="2" name="TextBox 2"/>
            <p:cNvSpPr txBox="1"/>
            <p:nvPr/>
          </p:nvSpPr>
          <p:spPr>
            <a:xfrm>
              <a:off x="602742" y="539750"/>
              <a:ext cx="1769669"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07 / DIAGNOSIS</a:t>
              </a:r>
            </a:p>
          </p:txBody>
        </p:sp>
        <p:sp>
          <p:nvSpPr>
            <p:cNvPr id="3" name="TextBox 3"/>
            <p:cNvSpPr txBox="1"/>
            <p:nvPr/>
          </p:nvSpPr>
          <p:spPr>
            <a:xfrm>
              <a:off x="592836" y="774700"/>
              <a:ext cx="6032382"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Where the missing volt went</a:t>
              </a:r>
            </a:p>
          </p:txBody>
        </p:sp>
      </p:grpSp>
      <p:grpSp>
        <p:nvGrpSpPr>
          <p:cNvPr id="17" name="circuit-left"/>
          <p:cNvGrpSpPr/>
          <p:nvPr/>
        </p:nvGrpSpPr>
        <p:grpSpPr>
          <a:xfrm>
            <a:off x="914400" y="1676400"/>
            <a:ext cx="8591550" cy="1314450"/>
            <a:chOff x="914400" y="1676400"/>
            <a:chExt cx="8591550" cy="1314450"/>
          </a:xfrm>
        </p:grpSpPr>
        <p:sp>
          <p:nvSpPr>
            <p:cNvPr id="5" name="Rectangle 5"/>
            <p:cNvSpPr/>
            <p:nvPr/>
          </p:nvSpPr>
          <p:spPr>
            <a:xfrm>
              <a:off x="914400" y="1771650"/>
              <a:ext cx="1905000" cy="1123950"/>
            </a:xfrm>
            <a:prstGeom prst="roundRect">
              <a:avLst>
                <a:gd name="adj" fmla="val 10169"/>
              </a:avLst>
            </a:prstGeom>
            <a:solidFill>
              <a:srgbClr val="F3F6F9"/>
            </a:solidFill>
            <a:ln w="19050">
              <a:solidFill>
                <a:srgbClr val="0E2A47"/>
              </a:solidFill>
            </a:ln>
          </p:spPr>
        </p:sp>
        <p:sp>
          <p:nvSpPr>
            <p:cNvPr id="6" name="TextBox 6"/>
            <p:cNvSpPr txBox="1"/>
            <p:nvPr/>
          </p:nvSpPr>
          <p:spPr>
            <a:xfrm>
              <a:off x="1464341" y="2044700"/>
              <a:ext cx="805118" cy="322707"/>
            </a:xfrm>
            <a:prstGeom prst="rect">
              <a:avLst/>
            </a:prstGeom>
            <a:noFill/>
            <a:ln>
              <a:noFill/>
            </a:ln>
          </p:spPr>
          <p:txBody>
            <a:bodyPr wrap="none" lIns="0" tIns="0" rIns="0" bIns="0" anchor="t" anchorCtr="0">
              <a:spAutoFit/>
            </a:bodyPr>
            <a:lstStyle/>
            <a:p>
              <a:pPr algn="ctr"/>
              <a:r>
                <a:rPr lang="en" sz="1650" b="1" dirty="0">
                  <a:solidFill>
                    <a:srgbClr val="0E1B2C"/>
                  </a:solidFill>
                  <a:latin typeface="+mn-lt"/>
                  <a:ea typeface="+mn-ea"/>
                  <a:cs typeface="+mn-cs"/>
                </a:rPr>
                <a:t>1S LiPo</a:t>
              </a:r>
            </a:p>
          </p:txBody>
        </p:sp>
        <p:sp>
          <p:nvSpPr>
            <p:cNvPr id="7" name="TextBox 7"/>
            <p:cNvSpPr txBox="1"/>
            <p:nvPr/>
          </p:nvSpPr>
          <p:spPr>
            <a:xfrm>
              <a:off x="1132272" y="2393950"/>
              <a:ext cx="1469255"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Consolas"/>
                  <a:ea typeface="Consolas"/>
                  <a:cs typeface="Consolas"/>
                </a:rPr>
                <a:t>3.7 V nominal</a:t>
              </a:r>
            </a:p>
          </p:txBody>
        </p:sp>
        <p:sp>
          <p:nvSpPr>
            <p:cNvPr id="8" name="Line 8"/>
            <p:cNvSpPr/>
            <p:nvPr/>
          </p:nvSpPr>
          <p:spPr>
            <a:xfrm>
              <a:off x="2819400" y="2333625"/>
              <a:ext cx="2095500" cy="1"/>
            </a:xfrm>
            <a:prstGeom prst="line">
              <a:avLst/>
            </a:prstGeom>
            <a:noFill/>
            <a:ln w="28575">
              <a:solidFill>
                <a:srgbClr val="0E2A47"/>
              </a:solidFill>
              <a:tailEnd type="triangle" w="lg" len="lg"/>
            </a:ln>
          </p:spPr>
        </p:sp>
        <p:sp>
          <p:nvSpPr>
            <p:cNvPr id="9" name="TextBox 9"/>
            <p:cNvSpPr txBox="1"/>
            <p:nvPr/>
          </p:nvSpPr>
          <p:spPr>
            <a:xfrm>
              <a:off x="3581322" y="1968500"/>
              <a:ext cx="571656" cy="322707"/>
            </a:xfrm>
            <a:prstGeom prst="rect">
              <a:avLst/>
            </a:prstGeom>
            <a:noFill/>
            <a:ln>
              <a:noFill/>
            </a:ln>
          </p:spPr>
          <p:txBody>
            <a:bodyPr wrap="none" lIns="0" tIns="0" rIns="0" bIns="0" anchor="t" anchorCtr="0">
              <a:spAutoFit/>
            </a:bodyPr>
            <a:lstStyle/>
            <a:p>
              <a:pPr algn="ctr"/>
              <a:r>
                <a:rPr lang="en" sz="1650" b="1" dirty="0">
                  <a:solidFill>
                    <a:srgbClr val="0E2A47"/>
                  </a:solidFill>
                  <a:latin typeface="+mn-lt"/>
                  <a:ea typeface="+mn-ea"/>
                  <a:cs typeface="+mn-cs"/>
                </a:rPr>
                <a:t>3.7 V</a:t>
              </a:r>
            </a:p>
          </p:txBody>
        </p:sp>
        <p:sp>
          <p:nvSpPr>
            <p:cNvPr id="10" name="TextBox 10"/>
            <p:cNvSpPr txBox="1"/>
            <p:nvPr/>
          </p:nvSpPr>
          <p:spPr>
            <a:xfrm>
              <a:off x="3385033" y="2482850"/>
              <a:ext cx="964235" cy="264033"/>
            </a:xfrm>
            <a:prstGeom prst="rect">
              <a:avLst/>
            </a:prstGeom>
            <a:noFill/>
            <a:ln>
              <a:noFill/>
            </a:ln>
          </p:spPr>
          <p:txBody>
            <a:bodyPr wrap="none" lIns="0" tIns="0" rIns="0" bIns="0" anchor="t" anchorCtr="0">
              <a:spAutoFit/>
            </a:bodyPr>
            <a:lstStyle/>
            <a:p>
              <a:pPr algn="ctr"/>
              <a:r>
                <a:rPr lang="en" sz="1350" dirty="0">
                  <a:solidFill>
                    <a:srgbClr val="4A5A6E"/>
                  </a:solidFill>
                  <a:latin typeface="Consolas"/>
                  <a:ea typeface="Consolas"/>
                  <a:cs typeface="Consolas"/>
                </a:rPr>
                <a:t>I ≈ 3.5 A</a:t>
              </a:r>
            </a:p>
          </p:txBody>
        </p:sp>
        <p:sp>
          <p:nvSpPr>
            <p:cNvPr id="11" name="Rectangle 11"/>
            <p:cNvSpPr/>
            <p:nvPr/>
          </p:nvSpPr>
          <p:spPr>
            <a:xfrm>
              <a:off x="4953000" y="1676400"/>
              <a:ext cx="2286000" cy="1314450"/>
            </a:xfrm>
            <a:prstGeom prst="roundRect">
              <a:avLst>
                <a:gd name="adj" fmla="val 8696"/>
              </a:avLst>
            </a:prstGeom>
            <a:solidFill>
              <a:srgbClr val="FDECEC"/>
            </a:solidFill>
            <a:ln w="19050">
              <a:solidFill>
                <a:srgbClr val="C81E1E"/>
              </a:solidFill>
            </a:ln>
          </p:spPr>
        </p:sp>
        <p:sp>
          <p:nvSpPr>
            <p:cNvPr id="12" name="TextBox 12"/>
            <p:cNvSpPr txBox="1"/>
            <p:nvPr/>
          </p:nvSpPr>
          <p:spPr>
            <a:xfrm>
              <a:off x="5211318" y="1835150"/>
              <a:ext cx="1039546"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DRV8833</a:t>
              </a:r>
            </a:p>
          </p:txBody>
        </p:sp>
        <p:sp>
          <p:nvSpPr>
            <p:cNvPr id="13" name="Freeform 13"/>
            <p:cNvSpPr/>
            <p:nvPr/>
          </p:nvSpPr>
          <p:spPr>
            <a:xfrm>
              <a:off x="6845300" y="1816100"/>
              <a:ext cx="177800" cy="241299"/>
            </a:xfrm>
            <a:custGeom>
              <a:avLst/>
              <a:gdLst/>
              <a:ahLst/>
              <a:cxnLst/>
              <a:rect l="l" t="t" r="r" b="b"/>
              <a:pathLst>
                <a:path w="177800" h="241299">
                  <a:moveTo>
                    <a:pt x="88900" y="113550"/>
                  </a:moveTo>
                  <a:cubicBezTo>
                    <a:pt x="118529" y="71539"/>
                    <a:pt x="91021" y="14199"/>
                    <a:pt x="76200" y="0"/>
                  </a:cubicBezTo>
                  <a:cubicBezTo>
                    <a:pt x="76200" y="43116"/>
                    <a:pt x="47815" y="67297"/>
                    <a:pt x="29629" y="85166"/>
                  </a:cubicBezTo>
                  <a:cubicBezTo>
                    <a:pt x="11468" y="103048"/>
                    <a:pt x="0" y="127000"/>
                    <a:pt x="0" y="156133"/>
                  </a:cubicBezTo>
                  <a:cubicBezTo>
                    <a:pt x="0" y="203174"/>
                    <a:pt x="39802" y="241299"/>
                    <a:pt x="88900" y="241299"/>
                  </a:cubicBezTo>
                  <a:cubicBezTo>
                    <a:pt x="137998" y="241299"/>
                    <a:pt x="177800" y="203174"/>
                    <a:pt x="177800" y="156133"/>
                  </a:cubicBezTo>
                  <a:cubicBezTo>
                    <a:pt x="177800" y="134391"/>
                    <a:pt x="162153" y="100215"/>
                    <a:pt x="148171" y="85166"/>
                  </a:cubicBezTo>
                  <a:cubicBezTo>
                    <a:pt x="121704" y="127749"/>
                    <a:pt x="106807" y="127749"/>
                    <a:pt x="88900" y="113550"/>
                  </a:cubicBezTo>
                </a:path>
              </a:pathLst>
            </a:custGeom>
            <a:noFill/>
            <a:ln w="25400">
              <a:solidFill>
                <a:srgbClr val="C81E1E"/>
              </a:solidFill>
            </a:ln>
          </p:spPr>
        </p:sp>
        <p:sp>
          <p:nvSpPr>
            <p:cNvPr id="14" name="Polyline 14"/>
            <p:cNvSpPr/>
            <p:nvPr/>
          </p:nvSpPr>
          <p:spPr>
            <a:xfrm>
              <a:off x="5219700" y="2286000"/>
              <a:ext cx="1752600" cy="304800"/>
            </a:xfrm>
            <a:custGeom>
              <a:avLst/>
              <a:gdLst/>
              <a:ahLst/>
              <a:cxnLst/>
              <a:rect l="l" t="t" r="r" b="b"/>
              <a:pathLst>
                <a:path w="1752600" h="304800">
                  <a:moveTo>
                    <a:pt x="0" y="152400"/>
                  </a:moveTo>
                  <a:lnTo>
                    <a:pt x="228600" y="152400"/>
                  </a:lnTo>
                  <a:lnTo>
                    <a:pt x="304800" y="0"/>
                  </a:lnTo>
                  <a:lnTo>
                    <a:pt x="457200" y="304800"/>
                  </a:lnTo>
                  <a:lnTo>
                    <a:pt x="609600" y="0"/>
                  </a:lnTo>
                  <a:lnTo>
                    <a:pt x="762000" y="304800"/>
                  </a:lnTo>
                  <a:lnTo>
                    <a:pt x="914400" y="0"/>
                  </a:lnTo>
                  <a:lnTo>
                    <a:pt x="1066800" y="304800"/>
                  </a:lnTo>
                  <a:lnTo>
                    <a:pt x="1143000" y="152400"/>
                  </a:lnTo>
                  <a:lnTo>
                    <a:pt x="1752600" y="152400"/>
                  </a:lnTo>
                </a:path>
              </a:pathLst>
            </a:custGeom>
            <a:noFill/>
            <a:ln w="28575">
              <a:solidFill>
                <a:srgbClr val="C81E1E"/>
              </a:solidFill>
              <a:bevel/>
            </a:ln>
          </p:spPr>
        </p:sp>
        <p:sp>
          <p:nvSpPr>
            <p:cNvPr id="15" name="TextBox 15"/>
            <p:cNvSpPr txBox="1"/>
            <p:nvPr/>
          </p:nvSpPr>
          <p:spPr>
            <a:xfrm>
              <a:off x="5631561" y="2660650"/>
              <a:ext cx="928878" cy="293370"/>
            </a:xfrm>
            <a:prstGeom prst="rect">
              <a:avLst/>
            </a:prstGeom>
            <a:noFill/>
            <a:ln>
              <a:noFill/>
            </a:ln>
          </p:spPr>
          <p:txBody>
            <a:bodyPr wrap="none" lIns="0" tIns="0" rIns="0" bIns="0" anchor="t" anchorCtr="0">
              <a:spAutoFit/>
            </a:bodyPr>
            <a:lstStyle/>
            <a:p>
              <a:pPr algn="ctr"/>
              <a:r>
                <a:rPr lang="el-GR" sz="1500" dirty="0">
                  <a:solidFill>
                    <a:srgbClr val="C81E1E"/>
                  </a:solidFill>
                  <a:latin typeface="Consolas"/>
                  <a:ea typeface="Consolas"/>
                  <a:cs typeface="Consolas"/>
                </a:rPr>
                <a:t>≈ 360 mΩ</a:t>
              </a:r>
            </a:p>
          </p:txBody>
        </p:sp>
        <p:sp>
          <p:nvSpPr>
            <p:cNvPr id="16" name="Line 16"/>
            <p:cNvSpPr/>
            <p:nvPr/>
          </p:nvSpPr>
          <p:spPr>
            <a:xfrm>
              <a:off x="7239000" y="2333625"/>
              <a:ext cx="2266950" cy="1"/>
            </a:xfrm>
            <a:prstGeom prst="line">
              <a:avLst/>
            </a:prstGeom>
            <a:noFill/>
            <a:ln w="28575">
              <a:solidFill>
                <a:srgbClr val="0E2A47"/>
              </a:solidFill>
              <a:tailEnd type="triangle" w="lg" len="lg"/>
            </a:ln>
          </p:spPr>
        </p:sp>
      </p:grpSp>
      <p:grpSp>
        <p:nvGrpSpPr>
          <p:cNvPr id="19" name="!!voltage"/>
          <p:cNvGrpSpPr/>
          <p:nvPr/>
        </p:nvGrpSpPr>
        <p:grpSpPr>
          <a:xfrm>
            <a:off x="7980831" y="1968500"/>
            <a:ext cx="802338" cy="322707"/>
            <a:chOff x="7980831" y="1968500"/>
            <a:chExt cx="802338" cy="322707"/>
          </a:xfrm>
        </p:grpSpPr>
        <p:sp>
          <p:nvSpPr>
            <p:cNvPr id="18" name="TextBox 18"/>
            <p:cNvSpPr txBox="1"/>
            <p:nvPr/>
          </p:nvSpPr>
          <p:spPr>
            <a:xfrm>
              <a:off x="7980831" y="1968500"/>
              <a:ext cx="802338" cy="322707"/>
            </a:xfrm>
            <a:prstGeom prst="rect">
              <a:avLst/>
            </a:prstGeom>
            <a:noFill/>
            <a:ln>
              <a:noFill/>
            </a:ln>
          </p:spPr>
          <p:txBody>
            <a:bodyPr wrap="none" lIns="0" tIns="0" rIns="0" bIns="0" anchor="t" anchorCtr="0">
              <a:spAutoFit/>
            </a:bodyPr>
            <a:lstStyle/>
            <a:p>
              <a:pPr algn="ctr"/>
              <a:r>
                <a:rPr lang="en" sz="1650" b="1" dirty="0">
                  <a:solidFill>
                    <a:srgbClr val="C81E1E"/>
                  </a:solidFill>
                  <a:latin typeface="+mn-lt"/>
                  <a:ea typeface="+mn-ea"/>
                  <a:cs typeface="+mn-cs"/>
                </a:rPr>
                <a:t>&lt; 2.7 V</a:t>
              </a:r>
            </a:p>
          </p:txBody>
        </p:sp>
      </p:grpSp>
      <p:grpSp>
        <p:nvGrpSpPr>
          <p:cNvPr id="23" name="circuit-motor"/>
          <p:cNvGrpSpPr/>
          <p:nvPr/>
        </p:nvGrpSpPr>
        <p:grpSpPr>
          <a:xfrm>
            <a:off x="9544050" y="1781175"/>
            <a:ext cx="1104900" cy="1503045"/>
            <a:chOff x="9544050" y="1781175"/>
            <a:chExt cx="1104900" cy="1503045"/>
          </a:xfrm>
        </p:grpSpPr>
        <p:sp>
          <p:nvSpPr>
            <p:cNvPr id="20" name="Ellipse 20"/>
            <p:cNvSpPr/>
            <p:nvPr/>
          </p:nvSpPr>
          <p:spPr>
            <a:xfrm>
              <a:off x="9544050" y="1781175"/>
              <a:ext cx="1104900" cy="1104900"/>
            </a:xfrm>
            <a:prstGeom prst="ellipse">
              <a:avLst/>
            </a:prstGeom>
            <a:solidFill>
              <a:srgbClr val="FFFFFF"/>
            </a:solidFill>
            <a:ln w="23812">
              <a:solidFill>
                <a:srgbClr val="0E2A47"/>
              </a:solidFill>
            </a:ln>
          </p:spPr>
        </p:sp>
        <p:sp>
          <p:nvSpPr>
            <p:cNvPr id="21" name="TextBox 21"/>
            <p:cNvSpPr txBox="1"/>
            <p:nvPr/>
          </p:nvSpPr>
          <p:spPr>
            <a:xfrm>
              <a:off x="9899017" y="2127250"/>
              <a:ext cx="394966" cy="528066"/>
            </a:xfrm>
            <a:prstGeom prst="rect">
              <a:avLst/>
            </a:prstGeom>
            <a:noFill/>
            <a:ln>
              <a:noFill/>
            </a:ln>
          </p:spPr>
          <p:txBody>
            <a:bodyPr wrap="none" lIns="0" tIns="0" rIns="0" bIns="0" anchor="t" anchorCtr="0">
              <a:spAutoFit/>
            </a:bodyPr>
            <a:lstStyle/>
            <a:p>
              <a:pPr algn="ctr"/>
              <a:r>
                <a:rPr lang="en" sz="2700" b="1" dirty="0">
                  <a:solidFill>
                    <a:srgbClr val="0E2A47"/>
                  </a:solidFill>
                  <a:latin typeface="+mn-lt"/>
                  <a:ea typeface="+mn-ea"/>
                  <a:cs typeface="+mn-cs"/>
                </a:rPr>
                <a:t>M</a:t>
              </a:r>
            </a:p>
          </p:txBody>
        </p:sp>
        <p:sp>
          <p:nvSpPr>
            <p:cNvPr id="22" name="TextBox 22"/>
            <p:cNvSpPr txBox="1"/>
            <p:nvPr/>
          </p:nvSpPr>
          <p:spPr>
            <a:xfrm>
              <a:off x="9568910" y="2990850"/>
              <a:ext cx="1055180"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8520 motor</a:t>
              </a:r>
            </a:p>
          </p:txBody>
        </p:sp>
      </p:grpSp>
      <p:grpSp>
        <p:nvGrpSpPr>
          <p:cNvPr id="27" name="loss-equation"/>
          <p:cNvGrpSpPr/>
          <p:nvPr/>
        </p:nvGrpSpPr>
        <p:grpSpPr>
          <a:xfrm>
            <a:off x="904494" y="3556000"/>
            <a:ext cx="9314381" cy="645414"/>
            <a:chOff x="904494" y="3556000"/>
            <a:chExt cx="9314381" cy="645414"/>
          </a:xfrm>
        </p:grpSpPr>
        <p:sp>
          <p:nvSpPr>
            <p:cNvPr id="24" name="TextBox 24"/>
            <p:cNvSpPr txBox="1"/>
            <p:nvPr/>
          </p:nvSpPr>
          <p:spPr>
            <a:xfrm>
              <a:off x="904494" y="3702050"/>
              <a:ext cx="1852747" cy="381381"/>
            </a:xfrm>
            <a:prstGeom prst="rect">
              <a:avLst/>
            </a:prstGeom>
            <a:noFill/>
            <a:ln>
              <a:noFill/>
            </a:ln>
          </p:spPr>
          <p:txBody>
            <a:bodyPr wrap="none" lIns="0" tIns="0" rIns="0" bIns="0" anchor="t" anchorCtr="0">
              <a:spAutoFit/>
            </a:bodyPr>
            <a:lstStyle/>
            <a:p>
              <a:pPr algn="l"/>
              <a:r>
                <a:rPr lang="en" sz="1950" dirty="0">
                  <a:solidFill>
                    <a:srgbClr val="4A5A6E"/>
                  </a:solidFill>
                  <a:latin typeface="+mn-lt"/>
                  <a:ea typeface="+mn-ea"/>
                  <a:cs typeface="+mn-cs"/>
                </a:rPr>
                <a:t>Lost in the chip:</a:t>
              </a:r>
            </a:p>
          </p:txBody>
        </p:sp>
        <p:sp>
          <p:nvSpPr>
            <p:cNvPr id="25" name="TextBox 25"/>
            <p:cNvSpPr txBox="1"/>
            <p:nvPr/>
          </p:nvSpPr>
          <p:spPr>
            <a:xfrm>
              <a:off x="3031236" y="3556000"/>
              <a:ext cx="4728762" cy="645414"/>
            </a:xfrm>
            <a:prstGeom prst="rect">
              <a:avLst/>
            </a:prstGeom>
            <a:noFill/>
            <a:ln>
              <a:noFill/>
            </a:ln>
          </p:spPr>
          <p:txBody>
            <a:bodyPr wrap="none" lIns="0" tIns="0" rIns="0" bIns="0" anchor="t" anchorCtr="0">
              <a:spAutoFit/>
            </a:bodyPr>
            <a:lstStyle/>
            <a:p>
              <a:pPr algn="l"/>
              <a:r>
                <a:rPr lang="el-GR" sz="3300" b="1" dirty="0">
                  <a:solidFill>
                    <a:srgbClr val="C81E1E"/>
                  </a:solidFill>
                  <a:latin typeface="+mn-lt"/>
                  <a:ea typeface="+mn-ea"/>
                  <a:cs typeface="+mn-cs"/>
                </a:rPr>
                <a:t>3.5 A × 0.36 Ω ≈ 1.3 V</a:t>
              </a:r>
            </a:p>
          </p:txBody>
        </p:sp>
        <p:sp>
          <p:nvSpPr>
            <p:cNvPr id="26" name="TextBox 26"/>
            <p:cNvSpPr txBox="1"/>
            <p:nvPr/>
          </p:nvSpPr>
          <p:spPr>
            <a:xfrm>
              <a:off x="8467344" y="3702050"/>
              <a:ext cx="1751531" cy="381381"/>
            </a:xfrm>
            <a:prstGeom prst="rect">
              <a:avLst/>
            </a:prstGeom>
            <a:noFill/>
            <a:ln>
              <a:noFill/>
            </a:ln>
          </p:spPr>
          <p:txBody>
            <a:bodyPr wrap="none" lIns="0" tIns="0" rIns="0" bIns="0" anchor="t" anchorCtr="0">
              <a:spAutoFit/>
            </a:bodyPr>
            <a:lstStyle/>
            <a:p>
              <a:pPr algn="l"/>
              <a:r>
                <a:rPr lang="en" sz="1950" dirty="0">
                  <a:solidFill>
                    <a:srgbClr val="4A5A6E"/>
                  </a:solidFill>
                  <a:latin typeface="+mn-lt"/>
                  <a:ea typeface="+mn-ea"/>
                  <a:cs typeface="+mn-cs"/>
                </a:rPr>
                <a:t>burned as heat</a:t>
              </a:r>
            </a:p>
          </p:txBody>
        </p:sp>
      </p:grpSp>
      <p:grpSp>
        <p:nvGrpSpPr>
          <p:cNvPr id="36" name="card-limit"/>
          <p:cNvGrpSpPr/>
          <p:nvPr/>
        </p:nvGrpSpPr>
        <p:grpSpPr>
          <a:xfrm>
            <a:off x="609600" y="4305300"/>
            <a:ext cx="3505200" cy="1295400"/>
            <a:chOff x="609600" y="4305300"/>
            <a:chExt cx="3505200" cy="1295400"/>
          </a:xfrm>
        </p:grpSpPr>
        <p:sp>
          <p:nvSpPr>
            <p:cNvPr id="28" name="Rectangle 28"/>
            <p:cNvSpPr/>
            <p:nvPr/>
          </p:nvSpPr>
          <p:spPr>
            <a:xfrm>
              <a:off x="609600" y="4305300"/>
              <a:ext cx="3505200" cy="1295400"/>
            </a:xfrm>
            <a:prstGeom prst="roundRect">
              <a:avLst>
                <a:gd name="adj" fmla="val 8824"/>
              </a:avLst>
            </a:prstGeom>
            <a:solidFill>
              <a:srgbClr val="F3F6F9"/>
            </a:solidFill>
            <a:ln>
              <a:noFill/>
            </a:ln>
          </p:spPr>
        </p:sp>
        <p:grpSp>
          <p:nvGrpSpPr>
            <p:cNvPr id="33" name="Group 33"/>
            <p:cNvGrpSpPr/>
            <p:nvPr/>
          </p:nvGrpSpPr>
          <p:grpSpPr>
            <a:xfrm>
              <a:off x="885825" y="4581525"/>
              <a:ext cx="285751" cy="285751"/>
              <a:chOff x="885825" y="4581525"/>
              <a:chExt cx="285751" cy="285751"/>
            </a:xfrm>
          </p:grpSpPr>
          <p:sp>
            <p:nvSpPr>
              <p:cNvPr id="29" name="Freeform 29"/>
              <p:cNvSpPr/>
              <p:nvPr/>
            </p:nvSpPr>
            <p:spPr>
              <a:xfrm>
                <a:off x="885825" y="45815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31750">
                <a:solidFill>
                  <a:srgbClr val="0E2A47"/>
                </a:solidFill>
              </a:ln>
            </p:spPr>
          </p:sp>
          <p:sp>
            <p:nvSpPr>
              <p:cNvPr id="30" name="Freeform 30"/>
              <p:cNvSpPr/>
              <p:nvPr/>
            </p:nvSpPr>
            <p:spPr>
              <a:xfrm>
                <a:off x="1012825" y="470852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rgbClr val="0E2A47"/>
                </a:solidFill>
              </a:ln>
            </p:spPr>
          </p:sp>
          <p:sp>
            <p:nvSpPr>
              <p:cNvPr id="31" name="Freeform 31"/>
              <p:cNvSpPr/>
              <p:nvPr/>
            </p:nvSpPr>
            <p:spPr>
              <a:xfrm>
                <a:off x="1051084" y="4660900"/>
                <a:ext cx="41116" cy="41116"/>
              </a:xfrm>
              <a:custGeom>
                <a:avLst/>
                <a:gdLst/>
                <a:ahLst/>
                <a:cxnLst/>
                <a:rect l="l" t="t" r="r" b="b"/>
                <a:pathLst>
                  <a:path w="41116" h="41116">
                    <a:moveTo>
                      <a:pt x="0" y="41116"/>
                    </a:moveTo>
                    <a:lnTo>
                      <a:pt x="41116" y="0"/>
                    </a:lnTo>
                  </a:path>
                </a:pathLst>
              </a:custGeom>
              <a:noFill/>
              <a:ln w="31750">
                <a:solidFill>
                  <a:srgbClr val="0E2A47"/>
                </a:solidFill>
              </a:ln>
            </p:spPr>
          </p:sp>
          <p:sp>
            <p:nvSpPr>
              <p:cNvPr id="32" name="Freeform 32"/>
              <p:cNvSpPr/>
              <p:nvPr/>
            </p:nvSpPr>
            <p:spPr>
              <a:xfrm>
                <a:off x="949325" y="4645025"/>
                <a:ext cx="79375" cy="79375"/>
              </a:xfrm>
              <a:custGeom>
                <a:avLst/>
                <a:gdLst/>
                <a:ahLst/>
                <a:cxnLst/>
                <a:rect l="l" t="t" r="r" b="b"/>
                <a:pathLst>
                  <a:path w="79375" h="79375">
                    <a:moveTo>
                      <a:pt x="0" y="79375"/>
                    </a:moveTo>
                    <a:cubicBezTo>
                      <a:pt x="0" y="35537"/>
                      <a:pt x="35537" y="0"/>
                      <a:pt x="79375" y="0"/>
                    </a:cubicBezTo>
                  </a:path>
                </a:pathLst>
              </a:custGeom>
              <a:noFill/>
              <a:ln w="31750">
                <a:solidFill>
                  <a:srgbClr val="0E2A47"/>
                </a:solidFill>
              </a:ln>
            </p:spPr>
          </p:sp>
        </p:grpSp>
        <p:sp>
          <p:nvSpPr>
            <p:cNvPr id="34" name="TextBox 34"/>
            <p:cNvSpPr txBox="1"/>
            <p:nvPr/>
          </p:nvSpPr>
          <p:spPr>
            <a:xfrm>
              <a:off x="1363218" y="4578350"/>
              <a:ext cx="1207709"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Driver limit</a:t>
              </a:r>
            </a:p>
          </p:txBody>
        </p:sp>
        <p:sp>
          <p:nvSpPr>
            <p:cNvPr id="35" name="TextBox 35"/>
            <p:cNvSpPr txBox="1"/>
            <p:nvPr/>
          </p:nvSpPr>
          <p:spPr>
            <a:xfrm>
              <a:off x="1363980" y="4883150"/>
              <a:ext cx="1989601"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1.5 A RMS, 2 A peak</a:t>
              </a:r>
              <a:br>
                <a:rPr lang="en" sz="1500" dirty="0">
                  <a:solidFill>
                    <a:srgbClr val="4A5A6E"/>
                  </a:solidFill>
                  <a:latin typeface="+mn-lt"/>
                  <a:ea typeface="+mn-ea"/>
                  <a:cs typeface="+mn-cs"/>
                </a:rPr>
              </a:br>
              <a:r>
                <a:rPr lang="en" sz="1500" dirty="0">
                  <a:solidFill>
                    <a:srgbClr val="4A5A6E"/>
                  </a:solidFill>
                  <a:latin typeface="+mn-lt"/>
                  <a:ea typeface="+mn-ea"/>
                  <a:cs typeface="+mn-cs"/>
                </a:rPr>
                <a:t>per channel (datasheet)</a:t>
              </a:r>
            </a:p>
          </p:txBody>
        </p:sp>
      </p:grpSp>
      <p:grpSp>
        <p:nvGrpSpPr>
          <p:cNvPr id="41" name="card-demand"/>
          <p:cNvGrpSpPr/>
          <p:nvPr/>
        </p:nvGrpSpPr>
        <p:grpSpPr>
          <a:xfrm>
            <a:off x="4343400" y="4305300"/>
            <a:ext cx="3505200" cy="1295400"/>
            <a:chOff x="4343400" y="4305300"/>
            <a:chExt cx="3505200" cy="1295400"/>
          </a:xfrm>
        </p:grpSpPr>
        <p:sp>
          <p:nvSpPr>
            <p:cNvPr id="37" name="Rectangle 37"/>
            <p:cNvSpPr/>
            <p:nvPr/>
          </p:nvSpPr>
          <p:spPr>
            <a:xfrm>
              <a:off x="4343400" y="4305300"/>
              <a:ext cx="3505200" cy="1295400"/>
            </a:xfrm>
            <a:prstGeom prst="roundRect">
              <a:avLst>
                <a:gd name="adj" fmla="val 8824"/>
              </a:avLst>
            </a:prstGeom>
            <a:solidFill>
              <a:srgbClr val="F3F6F9"/>
            </a:solidFill>
            <a:ln>
              <a:noFill/>
            </a:ln>
          </p:spPr>
        </p:sp>
        <p:sp>
          <p:nvSpPr>
            <p:cNvPr id="38" name="Freeform 38"/>
            <p:cNvSpPr/>
            <p:nvPr/>
          </p:nvSpPr>
          <p:spPr>
            <a:xfrm>
              <a:off x="4651375" y="4581525"/>
              <a:ext cx="222250" cy="285751"/>
            </a:xfrm>
            <a:custGeom>
              <a:avLst/>
              <a:gdLst/>
              <a:ahLst/>
              <a:cxnLst/>
              <a:rect l="l" t="t" r="r" b="b"/>
              <a:pathLst>
                <a:path w="222250" h="285751">
                  <a:moveTo>
                    <a:pt x="127000" y="0"/>
                  </a:moveTo>
                  <a:lnTo>
                    <a:pt x="127000" y="111125"/>
                  </a:lnTo>
                  <a:lnTo>
                    <a:pt x="222250" y="111125"/>
                  </a:lnTo>
                  <a:lnTo>
                    <a:pt x="95250" y="285751"/>
                  </a:lnTo>
                  <a:lnTo>
                    <a:pt x="95250" y="174625"/>
                  </a:lnTo>
                  <a:lnTo>
                    <a:pt x="0" y="174625"/>
                  </a:lnTo>
                  <a:lnTo>
                    <a:pt x="127000" y="0"/>
                  </a:lnTo>
                </a:path>
              </a:pathLst>
            </a:custGeom>
            <a:noFill/>
            <a:ln w="31750">
              <a:solidFill>
                <a:srgbClr val="0E2A47"/>
              </a:solidFill>
            </a:ln>
          </p:spPr>
        </p:sp>
        <p:sp>
          <p:nvSpPr>
            <p:cNvPr id="39" name="TextBox 39"/>
            <p:cNvSpPr txBox="1"/>
            <p:nvPr/>
          </p:nvSpPr>
          <p:spPr>
            <a:xfrm>
              <a:off x="5097018" y="4578350"/>
              <a:ext cx="1597711"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Motor demand</a:t>
              </a:r>
            </a:p>
          </p:txBody>
        </p:sp>
        <p:sp>
          <p:nvSpPr>
            <p:cNvPr id="40" name="TextBox 40"/>
            <p:cNvSpPr txBox="1"/>
            <p:nvPr/>
          </p:nvSpPr>
          <p:spPr>
            <a:xfrm>
              <a:off x="5097780" y="4883150"/>
              <a:ext cx="1686992"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8520s pull 3.5–4.2 A</a:t>
              </a:r>
              <a:br>
                <a:rPr lang="en" sz="1500" dirty="0">
                  <a:solidFill>
                    <a:srgbClr val="4A5A6E"/>
                  </a:solidFill>
                  <a:latin typeface="+mn-lt"/>
                  <a:ea typeface="+mn-ea"/>
                  <a:cs typeface="+mn-cs"/>
                </a:rPr>
              </a:br>
              <a:r>
                <a:rPr lang="en" sz="1500" dirty="0">
                  <a:solidFill>
                    <a:srgbClr val="4A5A6E"/>
                  </a:solidFill>
                  <a:latin typeface="+mn-lt"/>
                  <a:ea typeface="+mn-ea"/>
                  <a:cs typeface="+mn-cs"/>
                </a:rPr>
                <a:t>at full throttle</a:t>
              </a:r>
            </a:p>
          </p:txBody>
        </p:sp>
      </p:grpSp>
      <p:grpSp>
        <p:nvGrpSpPr>
          <p:cNvPr id="51" name="card-trip"/>
          <p:cNvGrpSpPr/>
          <p:nvPr/>
        </p:nvGrpSpPr>
        <p:grpSpPr>
          <a:xfrm>
            <a:off x="8077200" y="4305300"/>
            <a:ext cx="3505200" cy="1295400"/>
            <a:chOff x="8077200" y="4305300"/>
            <a:chExt cx="3505200" cy="1295400"/>
          </a:xfrm>
        </p:grpSpPr>
        <p:sp>
          <p:nvSpPr>
            <p:cNvPr id="42" name="Rectangle 42"/>
            <p:cNvSpPr/>
            <p:nvPr/>
          </p:nvSpPr>
          <p:spPr>
            <a:xfrm>
              <a:off x="8077200" y="4305300"/>
              <a:ext cx="3505200" cy="1295400"/>
            </a:xfrm>
            <a:prstGeom prst="roundRect">
              <a:avLst>
                <a:gd name="adj" fmla="val 8824"/>
              </a:avLst>
            </a:prstGeom>
            <a:solidFill>
              <a:srgbClr val="FDECEC"/>
            </a:solidFill>
            <a:ln>
              <a:noFill/>
            </a:ln>
          </p:spPr>
        </p:sp>
        <p:grpSp>
          <p:nvGrpSpPr>
            <p:cNvPr id="48" name="Group 48"/>
            <p:cNvGrpSpPr/>
            <p:nvPr/>
          </p:nvGrpSpPr>
          <p:grpSpPr>
            <a:xfrm>
              <a:off x="8369300" y="4600121"/>
              <a:ext cx="251279" cy="251280"/>
              <a:chOff x="8369300" y="4600121"/>
              <a:chExt cx="251279" cy="251280"/>
            </a:xfrm>
          </p:grpSpPr>
          <p:sp>
            <p:nvSpPr>
              <p:cNvPr id="43" name="Freeform 43"/>
              <p:cNvSpPr/>
              <p:nvPr/>
            </p:nvSpPr>
            <p:spPr>
              <a:xfrm>
                <a:off x="8416925" y="46001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rgbClr val="C81E1E"/>
                </a:solidFill>
              </a:ln>
            </p:spPr>
          </p:sp>
          <p:sp>
            <p:nvSpPr>
              <p:cNvPr id="44" name="Freeform 44"/>
              <p:cNvSpPr/>
              <p:nvPr/>
            </p:nvSpPr>
            <p:spPr>
              <a:xfrm>
                <a:off x="8535988" y="4621213"/>
                <a:ext cx="23813" cy="23813"/>
              </a:xfrm>
              <a:custGeom>
                <a:avLst/>
                <a:gdLst/>
                <a:ahLst/>
                <a:cxnLst/>
                <a:rect l="l" t="t" r="r" b="b"/>
                <a:pathLst>
                  <a:path w="23813" h="23813">
                    <a:moveTo>
                      <a:pt x="23813" y="23813"/>
                    </a:moveTo>
                    <a:lnTo>
                      <a:pt x="0" y="0"/>
                    </a:lnTo>
                  </a:path>
                </a:pathLst>
              </a:custGeom>
              <a:noFill/>
              <a:ln w="31750">
                <a:solidFill>
                  <a:srgbClr val="C81E1E"/>
                </a:solidFill>
              </a:ln>
            </p:spPr>
          </p:sp>
          <p:sp>
            <p:nvSpPr>
              <p:cNvPr id="45" name="Freeform 45"/>
              <p:cNvSpPr/>
              <p:nvPr/>
            </p:nvSpPr>
            <p:spPr>
              <a:xfrm>
                <a:off x="8488363" y="4668838"/>
                <a:ext cx="23813" cy="23813"/>
              </a:xfrm>
              <a:custGeom>
                <a:avLst/>
                <a:gdLst/>
                <a:ahLst/>
                <a:cxnLst/>
                <a:rect l="l" t="t" r="r" b="b"/>
                <a:pathLst>
                  <a:path w="23813" h="23813">
                    <a:moveTo>
                      <a:pt x="23813" y="23813"/>
                    </a:moveTo>
                    <a:lnTo>
                      <a:pt x="0" y="0"/>
                    </a:lnTo>
                  </a:path>
                </a:pathLst>
              </a:custGeom>
              <a:noFill/>
              <a:ln w="31750">
                <a:solidFill>
                  <a:srgbClr val="C81E1E"/>
                </a:solidFill>
              </a:ln>
            </p:spPr>
          </p:sp>
          <p:sp>
            <p:nvSpPr>
              <p:cNvPr id="46" name="Freeform 46"/>
              <p:cNvSpPr/>
              <p:nvPr/>
            </p:nvSpPr>
            <p:spPr>
              <a:xfrm>
                <a:off x="8440738" y="4716463"/>
                <a:ext cx="23813" cy="23813"/>
              </a:xfrm>
              <a:custGeom>
                <a:avLst/>
                <a:gdLst/>
                <a:ahLst/>
                <a:cxnLst/>
                <a:rect l="l" t="t" r="r" b="b"/>
                <a:pathLst>
                  <a:path w="23813" h="23813">
                    <a:moveTo>
                      <a:pt x="23813" y="23813"/>
                    </a:moveTo>
                    <a:lnTo>
                      <a:pt x="0" y="0"/>
                    </a:lnTo>
                  </a:path>
                </a:pathLst>
              </a:custGeom>
              <a:noFill/>
              <a:ln w="31750">
                <a:solidFill>
                  <a:srgbClr val="C81E1E"/>
                </a:solidFill>
              </a:ln>
            </p:spPr>
          </p:sp>
          <p:sp>
            <p:nvSpPr>
              <p:cNvPr id="47" name="Freeform 47"/>
              <p:cNvSpPr/>
              <p:nvPr/>
            </p:nvSpPr>
            <p:spPr>
              <a:xfrm>
                <a:off x="8369300" y="4803776"/>
                <a:ext cx="47625" cy="47625"/>
              </a:xfrm>
              <a:custGeom>
                <a:avLst/>
                <a:gdLst/>
                <a:ahLst/>
                <a:cxnLst/>
                <a:rect l="l" t="t" r="r" b="b"/>
                <a:pathLst>
                  <a:path w="47625" h="47625">
                    <a:moveTo>
                      <a:pt x="47625" y="0"/>
                    </a:moveTo>
                    <a:lnTo>
                      <a:pt x="0" y="47625"/>
                    </a:lnTo>
                  </a:path>
                </a:pathLst>
              </a:custGeom>
              <a:noFill/>
              <a:ln w="31750">
                <a:solidFill>
                  <a:srgbClr val="C81E1E"/>
                </a:solidFill>
              </a:ln>
            </p:spPr>
          </p:sp>
        </p:grpSp>
        <p:sp>
          <p:nvSpPr>
            <p:cNvPr id="49" name="TextBox 49"/>
            <p:cNvSpPr txBox="1"/>
            <p:nvPr/>
          </p:nvSpPr>
          <p:spPr>
            <a:xfrm>
              <a:off x="8830818" y="4578350"/>
              <a:ext cx="1651248"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Protection trips</a:t>
              </a:r>
            </a:p>
          </p:txBody>
        </p:sp>
        <p:sp>
          <p:nvSpPr>
            <p:cNvPr id="50" name="TextBox 50"/>
            <p:cNvSpPr txBox="1"/>
            <p:nvPr/>
          </p:nvSpPr>
          <p:spPr>
            <a:xfrm>
              <a:off x="8831580" y="4883150"/>
              <a:ext cx="2159070"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Over-current and thermal</a:t>
              </a:r>
              <a:br>
                <a:rPr lang="en" sz="1500" dirty="0">
                  <a:solidFill>
                    <a:srgbClr val="4A5A6E"/>
                  </a:solidFill>
                  <a:latin typeface="+mn-lt"/>
                  <a:ea typeface="+mn-ea"/>
                  <a:cs typeface="+mn-cs"/>
                </a:rPr>
              </a:br>
              <a:r>
                <a:rPr lang="en" sz="1500" dirty="0">
                  <a:solidFill>
                    <a:srgbClr val="4A5A6E"/>
                  </a:solidFill>
                  <a:latin typeface="+mn-lt"/>
                  <a:ea typeface="+mn-ea"/>
                  <a:cs typeface="+mn-cs"/>
                </a:rPr>
                <a:t>shutdown cut the motors</a:t>
              </a:r>
            </a:p>
          </p:txBody>
        </p:sp>
      </p:grpSp>
      <p:grpSp>
        <p:nvGrpSpPr>
          <p:cNvPr id="54" name="takeaway"/>
          <p:cNvGrpSpPr/>
          <p:nvPr/>
        </p:nvGrpSpPr>
        <p:grpSpPr>
          <a:xfrm>
            <a:off x="609600" y="5753100"/>
            <a:ext cx="10972800" cy="495300"/>
            <a:chOff x="609600" y="5753100"/>
            <a:chExt cx="10972800" cy="495300"/>
          </a:xfrm>
        </p:grpSpPr>
        <p:sp>
          <p:nvSpPr>
            <p:cNvPr id="52" name="Rectangle 52"/>
            <p:cNvSpPr/>
            <p:nvPr/>
          </p:nvSpPr>
          <p:spPr>
            <a:xfrm>
              <a:off x="609600" y="5753100"/>
              <a:ext cx="10972800" cy="495300"/>
            </a:xfrm>
            <a:prstGeom prst="roundRect">
              <a:avLst>
                <a:gd name="adj" fmla="val 15385"/>
              </a:avLst>
            </a:prstGeom>
            <a:solidFill>
              <a:srgbClr val="FFF3EA"/>
            </a:solidFill>
            <a:ln>
              <a:noFill/>
            </a:ln>
          </p:spPr>
        </p:sp>
        <p:sp>
          <p:nvSpPr>
            <p:cNvPr id="53" name="TextBox 53"/>
            <p:cNvSpPr txBox="1"/>
            <p:nvPr/>
          </p:nvSpPr>
          <p:spPr>
            <a:xfrm>
              <a:off x="829818" y="5873750"/>
              <a:ext cx="9470087"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Lesson:</a:t>
              </a:r>
              <a:r>
                <a:rPr lang="en" sz="1650" dirty="0">
                  <a:solidFill>
                    <a:srgbClr val="0E1B2C"/>
                  </a:solidFill>
                  <a:latin typeface="+mn-lt"/>
                  <a:ea typeface="+mn-ea"/>
                  <a:cs typeface="+mn-cs"/>
                </a:rPr>
                <a:t> H-bridge ICs suit 0.5–0.8 A toy-car motors. Coreless drone motors need a bigger switch.</a:t>
              </a:r>
            </a:p>
          </p:txBody>
        </p:sp>
      </p:grpSp>
      <p:grpSp>
        <p:nvGrpSpPr>
          <p:cNvPr id="57" name="footer"/>
          <p:cNvGrpSpPr/>
          <p:nvPr/>
        </p:nvGrpSpPr>
        <p:grpSpPr>
          <a:xfrm>
            <a:off x="603504" y="6470650"/>
            <a:ext cx="10984992" cy="244856"/>
            <a:chOff x="603504" y="6470650"/>
            <a:chExt cx="10984992" cy="244856"/>
          </a:xfrm>
        </p:grpSpPr>
        <p:sp>
          <p:nvSpPr>
            <p:cNvPr id="55" name="TextBox 55"/>
            <p:cNvSpPr txBox="1"/>
            <p:nvPr/>
          </p:nvSpPr>
          <p:spPr>
            <a:xfrm>
              <a:off x="603504" y="6480810"/>
              <a:ext cx="7285316"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DRV8833 figures: TI datasheet (typical R</a:t>
              </a:r>
              <a:r>
                <a:rPr lang="en" sz="900" baseline="-25000" dirty="0">
                  <a:solidFill>
                    <a:srgbClr val="6B7A8C"/>
                  </a:solidFill>
                  <a:latin typeface="+mn-lt"/>
                  <a:ea typeface="+mn-ea"/>
                  <a:cs typeface="+mn-cs"/>
                </a:rPr>
                <a:t>DS(on)</a:t>
              </a:r>
              <a:r>
                <a:rPr lang="en" sz="1200" dirty="0">
                  <a:solidFill>
                    <a:srgbClr val="6B7A8C"/>
                  </a:solidFill>
                  <a:latin typeface="+mn-lt"/>
                  <a:ea typeface="+mn-ea"/>
                  <a:cs typeface="+mn-cs"/>
                </a:rPr>
                <a:t> high + low side). Motor current: typical 8520 stall figure.</a:t>
              </a:r>
            </a:p>
          </p:txBody>
        </p:sp>
        <p:sp>
          <p:nvSpPr>
            <p:cNvPr id="56" name="TextBox 56"/>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07 / 21</a:t>
              </a: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700"/>
                                        <p:tgtEl>
                                          <p:spTgt spid="17"/>
                                        </p:tgtEl>
                                      </p:cBhvr>
                                    </p:animEffect>
                                  </p:childTnLst>
                                </p:cTn>
                              </p:par>
                            </p:childTnLst>
                          </p:cTn>
                        </p:par>
                        <p:par>
                          <p:cTn id="8" fill="hold">
                            <p:stCondLst>
                              <p:cond delay="700"/>
                            </p:stCondLst>
                            <p:childTnLst>
                              <p:par>
                                <p:cTn id="9" presetID="10" presetClass="entr" presetSubtype="0" fill="hold" nodeType="afterEffect">
                                  <p:stCondLst>
                                    <p:cond delay="1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childTnLst>
                          </p:cTn>
                        </p:par>
                        <p:par>
                          <p:cTn id="12" fill="hold">
                            <p:stCondLst>
                              <p:cond delay="1200"/>
                            </p:stCondLst>
                            <p:childTnLst>
                              <p:par>
                                <p:cTn id="13" presetID="53" presetClass="entr" presetSubtype="16" fill="hold" nodeType="afterEffect">
                                  <p:stCondLst>
                                    <p:cond delay="100"/>
                                  </p:stCondLst>
                                  <p:childTnLst>
                                    <p:set>
                                      <p:cBhvr>
                                        <p:cTn id="14" dur="1" fill="hold">
                                          <p:stCondLst>
                                            <p:cond delay="0"/>
                                          </p:stCondLst>
                                        </p:cTn>
                                        <p:tgtEl>
                                          <p:spTgt spid="27"/>
                                        </p:tgtEl>
                                        <p:attrNameLst>
                                          <p:attrName>style.visibility</p:attrName>
                                        </p:attrNameLst>
                                      </p:cBhvr>
                                      <p:to>
                                        <p:strVal val="visible"/>
                                      </p:to>
                                    </p:set>
                                    <p:anim calcmode="lin" valueType="num">
                                      <p:cBhvr>
                                        <p:cTn id="15" dur="600" fill="hold"/>
                                        <p:tgtEl>
                                          <p:spTgt spid="27"/>
                                        </p:tgtEl>
                                        <p:attrNameLst>
                                          <p:attrName>ppt_w</p:attrName>
                                        </p:attrNameLst>
                                      </p:cBhvr>
                                      <p:tavLst>
                                        <p:tav tm="0">
                                          <p:val>
                                            <p:fltVal val="0"/>
                                          </p:val>
                                        </p:tav>
                                        <p:tav tm="100000">
                                          <p:val>
                                            <p:strVal val="#ppt_w"/>
                                          </p:val>
                                        </p:tav>
                                      </p:tavLst>
                                    </p:anim>
                                    <p:anim calcmode="lin" valueType="num">
                                      <p:cBhvr>
                                        <p:cTn id="16" dur="600" fill="hold"/>
                                        <p:tgtEl>
                                          <p:spTgt spid="27"/>
                                        </p:tgtEl>
                                        <p:attrNameLst>
                                          <p:attrName>ppt_h</p:attrName>
                                        </p:attrNameLst>
                                      </p:cBhvr>
                                      <p:tavLst>
                                        <p:tav tm="0">
                                          <p:val>
                                            <p:fltVal val="0"/>
                                          </p:val>
                                        </p:tav>
                                        <p:tav tm="100000">
                                          <p:val>
                                            <p:strVal val="#ppt_h"/>
                                          </p:val>
                                        </p:tav>
                                      </p:tavLst>
                                    </p:anim>
                                    <p:animEffect transition="in" filter="fade">
                                      <p:cBhvr>
                                        <p:cTn id="17" dur="600"/>
                                        <p:tgtEl>
                                          <p:spTgt spid="27"/>
                                        </p:tgtEl>
                                      </p:cBhvr>
                                    </p:animEffect>
                                  </p:childTnLst>
                                </p:cTn>
                              </p:par>
                            </p:childTnLst>
                          </p:cTn>
                        </p:par>
                        <p:par>
                          <p:cTn id="18" fill="hold">
                            <p:stCondLst>
                              <p:cond delay="1900"/>
                            </p:stCondLst>
                            <p:childTnLst>
                              <p:par>
                                <p:cTn id="19" presetID="10" presetClass="entr" presetSubtype="0" fill="hold" nodeType="afterEffect">
                                  <p:stCondLst>
                                    <p:cond delay="10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450"/>
                                        <p:tgtEl>
                                          <p:spTgt spid="36"/>
                                        </p:tgtEl>
                                      </p:cBhvr>
                                    </p:animEffect>
                                  </p:childTnLst>
                                </p:cTn>
                              </p:par>
                            </p:childTnLst>
                          </p:cTn>
                        </p:par>
                        <p:par>
                          <p:cTn id="22" fill="hold">
                            <p:stCondLst>
                              <p:cond delay="2450"/>
                            </p:stCondLst>
                            <p:childTnLst>
                              <p:par>
                                <p:cTn id="23" presetID="10" presetClass="entr" presetSubtype="0" fill="hold" nodeType="afterEffect">
                                  <p:stCondLst>
                                    <p:cond delay="10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50"/>
                                        <p:tgtEl>
                                          <p:spTgt spid="41"/>
                                        </p:tgtEl>
                                      </p:cBhvr>
                                    </p:animEffect>
                                  </p:childTnLst>
                                </p:cTn>
                              </p:par>
                            </p:childTnLst>
                          </p:cTn>
                        </p:par>
                        <p:par>
                          <p:cTn id="26" fill="hold">
                            <p:stCondLst>
                              <p:cond delay="3000"/>
                            </p:stCondLst>
                            <p:childTnLst>
                              <p:par>
                                <p:cTn id="27" presetID="10" presetClass="entr" presetSubtype="0" fill="hold" nodeType="afterEffect">
                                  <p:stCondLst>
                                    <p:cond delay="10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450"/>
                                        <p:tgtEl>
                                          <p:spTgt spid="51"/>
                                        </p:tgtEl>
                                      </p:cBhvr>
                                    </p:animEffect>
                                  </p:childTnLst>
                                </p:cTn>
                              </p:par>
                            </p:childTnLst>
                          </p:cTn>
                        </p:par>
                        <p:par>
                          <p:cTn id="30" fill="hold">
                            <p:stCondLst>
                              <p:cond delay="3550"/>
                            </p:stCondLst>
                            <p:childTnLst>
                              <p:par>
                                <p:cTn id="31" presetID="10" presetClass="entr" presetSubtype="0" fill="hold" nodeType="afterEffect">
                                  <p:stCondLst>
                                    <p:cond delay="10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4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rid-decor"/>
          <p:cNvSpPr/>
          <p:nvPr/>
        </p:nvSpPr>
        <p:spPr>
          <a:xfrm>
            <a:off x="1143000" y="1524000"/>
            <a:ext cx="5334000" cy="3810000"/>
          </a:xfrm>
          <a:custGeom>
            <a:avLst/>
            <a:gdLst/>
            <a:ahLst/>
            <a:cxnLst/>
            <a:rect l="l" t="t" r="r" b="b"/>
            <a:pathLst>
              <a:path w="5334000" h="3810000">
                <a:moveTo>
                  <a:pt x="0" y="0"/>
                </a:moveTo>
                <a:lnTo>
                  <a:pt x="0" y="3810000"/>
                </a:lnTo>
                <a:moveTo>
                  <a:pt x="381000" y="0"/>
                </a:moveTo>
                <a:lnTo>
                  <a:pt x="381000" y="3810000"/>
                </a:lnTo>
                <a:moveTo>
                  <a:pt x="762000" y="0"/>
                </a:moveTo>
                <a:lnTo>
                  <a:pt x="762000" y="3810000"/>
                </a:lnTo>
                <a:moveTo>
                  <a:pt x="1143000" y="0"/>
                </a:moveTo>
                <a:lnTo>
                  <a:pt x="1143000" y="3810000"/>
                </a:lnTo>
                <a:moveTo>
                  <a:pt x="1524000" y="0"/>
                </a:moveTo>
                <a:lnTo>
                  <a:pt x="1524000" y="3810000"/>
                </a:lnTo>
                <a:moveTo>
                  <a:pt x="1905000" y="0"/>
                </a:moveTo>
                <a:lnTo>
                  <a:pt x="1905000" y="3810000"/>
                </a:lnTo>
                <a:moveTo>
                  <a:pt x="2286000" y="0"/>
                </a:moveTo>
                <a:lnTo>
                  <a:pt x="2286000" y="3810000"/>
                </a:lnTo>
                <a:moveTo>
                  <a:pt x="2667000" y="0"/>
                </a:moveTo>
                <a:lnTo>
                  <a:pt x="2667000" y="3810000"/>
                </a:lnTo>
                <a:moveTo>
                  <a:pt x="3048000" y="0"/>
                </a:moveTo>
                <a:lnTo>
                  <a:pt x="3048000" y="3810000"/>
                </a:lnTo>
                <a:moveTo>
                  <a:pt x="3429000" y="0"/>
                </a:moveTo>
                <a:lnTo>
                  <a:pt x="3429000" y="3810000"/>
                </a:lnTo>
                <a:moveTo>
                  <a:pt x="3810000" y="0"/>
                </a:moveTo>
                <a:lnTo>
                  <a:pt x="3810000" y="3810000"/>
                </a:lnTo>
                <a:moveTo>
                  <a:pt x="4191000" y="0"/>
                </a:moveTo>
                <a:lnTo>
                  <a:pt x="4191000" y="3810000"/>
                </a:lnTo>
                <a:moveTo>
                  <a:pt x="4572000" y="0"/>
                </a:moveTo>
                <a:lnTo>
                  <a:pt x="4572000" y="3810000"/>
                </a:lnTo>
                <a:moveTo>
                  <a:pt x="4953000" y="0"/>
                </a:moveTo>
                <a:lnTo>
                  <a:pt x="4953000" y="3810000"/>
                </a:lnTo>
                <a:moveTo>
                  <a:pt x="5334000" y="0"/>
                </a:moveTo>
                <a:lnTo>
                  <a:pt x="5334000" y="3810000"/>
                </a:lnTo>
                <a:moveTo>
                  <a:pt x="0" y="0"/>
                </a:moveTo>
                <a:lnTo>
                  <a:pt x="5334000" y="0"/>
                </a:lnTo>
                <a:moveTo>
                  <a:pt x="0" y="381000"/>
                </a:moveTo>
                <a:lnTo>
                  <a:pt x="5334000" y="381000"/>
                </a:lnTo>
                <a:moveTo>
                  <a:pt x="0" y="762000"/>
                </a:moveTo>
                <a:lnTo>
                  <a:pt x="5334000" y="762000"/>
                </a:lnTo>
                <a:moveTo>
                  <a:pt x="0" y="1143000"/>
                </a:moveTo>
                <a:lnTo>
                  <a:pt x="5334000" y="1143000"/>
                </a:lnTo>
                <a:moveTo>
                  <a:pt x="0" y="1524000"/>
                </a:moveTo>
                <a:lnTo>
                  <a:pt x="5334000" y="1524000"/>
                </a:lnTo>
                <a:moveTo>
                  <a:pt x="0" y="1905000"/>
                </a:moveTo>
                <a:lnTo>
                  <a:pt x="5334000" y="1905000"/>
                </a:lnTo>
                <a:moveTo>
                  <a:pt x="0" y="2286000"/>
                </a:moveTo>
                <a:lnTo>
                  <a:pt x="5334000" y="2286000"/>
                </a:lnTo>
                <a:moveTo>
                  <a:pt x="0" y="2667000"/>
                </a:moveTo>
                <a:lnTo>
                  <a:pt x="5334000" y="2667000"/>
                </a:lnTo>
                <a:moveTo>
                  <a:pt x="0" y="3048000"/>
                </a:moveTo>
                <a:lnTo>
                  <a:pt x="5334000" y="3048000"/>
                </a:lnTo>
                <a:moveTo>
                  <a:pt x="0" y="3429000"/>
                </a:moveTo>
                <a:lnTo>
                  <a:pt x="5334000" y="3429000"/>
                </a:lnTo>
                <a:moveTo>
                  <a:pt x="0" y="3810000"/>
                </a:moveTo>
                <a:lnTo>
                  <a:pt x="5334000" y="3810000"/>
                </a:lnTo>
              </a:path>
            </a:pathLst>
          </a:custGeom>
          <a:noFill/>
          <a:ln w="9525">
            <a:solidFill>
              <a:srgbClr val="EDF1F5"/>
            </a:solidFill>
          </a:ln>
        </p:spPr>
      </p:sp>
      <p:grpSp>
        <p:nvGrpSpPr>
          <p:cNvPr id="5" name="header"/>
          <p:cNvGrpSpPr/>
          <p:nvPr/>
        </p:nvGrpSpPr>
        <p:grpSpPr>
          <a:xfrm>
            <a:off x="592836" y="539750"/>
            <a:ext cx="5093592" cy="880364"/>
            <a:chOff x="592836" y="539750"/>
            <a:chExt cx="5093592" cy="880364"/>
          </a:xfrm>
        </p:grpSpPr>
        <p:sp>
          <p:nvSpPr>
            <p:cNvPr id="3" name="TextBox 3"/>
            <p:cNvSpPr txBox="1"/>
            <p:nvPr/>
          </p:nvSpPr>
          <p:spPr>
            <a:xfrm>
              <a:off x="602742" y="539750"/>
              <a:ext cx="1515770"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08 / THE FIX</a:t>
              </a:r>
            </a:p>
          </p:txBody>
        </p:sp>
        <p:sp>
          <p:nvSpPr>
            <p:cNvPr id="4" name="TextBox 4"/>
            <p:cNvSpPr txBox="1"/>
            <p:nvPr/>
          </p:nvSpPr>
          <p:spPr>
            <a:xfrm>
              <a:off x="592836" y="774700"/>
              <a:ext cx="5093592"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One MOSFET per motor</a:t>
              </a:r>
            </a:p>
          </p:txBody>
        </p:sp>
      </p:grpSp>
      <p:grpSp>
        <p:nvGrpSpPr>
          <p:cNvPr id="57" name="schematic"/>
          <p:cNvGrpSpPr/>
          <p:nvPr/>
        </p:nvGrpSpPr>
        <p:grpSpPr>
          <a:xfrm>
            <a:off x="1428750" y="1603375"/>
            <a:ext cx="5296662" cy="3939921"/>
            <a:chOff x="1428750" y="1603375"/>
            <a:chExt cx="5296662" cy="3939921"/>
          </a:xfrm>
        </p:grpSpPr>
        <p:grpSp>
          <p:nvGrpSpPr>
            <p:cNvPr id="25" name="Group 25"/>
            <p:cNvGrpSpPr/>
            <p:nvPr/>
          </p:nvGrpSpPr>
          <p:grpSpPr>
            <a:xfrm>
              <a:off x="3238500" y="1714500"/>
              <a:ext cx="3048000" cy="3590925"/>
              <a:chOff x="3238500" y="1714500"/>
              <a:chExt cx="3048000" cy="3590925"/>
            </a:xfrm>
          </p:grpSpPr>
          <p:sp>
            <p:nvSpPr>
              <p:cNvPr id="6" name="Line 6"/>
              <p:cNvSpPr/>
              <p:nvPr/>
            </p:nvSpPr>
            <p:spPr>
              <a:xfrm>
                <a:off x="3619500" y="1714500"/>
                <a:ext cx="2667000" cy="9525"/>
              </a:xfrm>
              <a:custGeom>
                <a:avLst/>
                <a:gdLst/>
                <a:ahLst/>
                <a:cxnLst/>
                <a:rect l="l" t="t" r="r" b="b"/>
                <a:pathLst>
                  <a:path w="2667000" h="9525">
                    <a:moveTo>
                      <a:pt x="0" y="0"/>
                    </a:moveTo>
                    <a:lnTo>
                      <a:pt x="2667000" y="0"/>
                    </a:lnTo>
                  </a:path>
                </a:pathLst>
              </a:custGeom>
              <a:noFill/>
              <a:ln w="23812" cap="rnd">
                <a:solidFill>
                  <a:srgbClr val="0E2A47"/>
                </a:solidFill>
              </a:ln>
            </p:spPr>
          </p:sp>
          <p:sp>
            <p:nvSpPr>
              <p:cNvPr id="7" name="Line 7"/>
              <p:cNvSpPr/>
              <p:nvPr/>
            </p:nvSpPr>
            <p:spPr>
              <a:xfrm>
                <a:off x="4953000" y="1714500"/>
                <a:ext cx="9525" cy="381000"/>
              </a:xfrm>
              <a:custGeom>
                <a:avLst/>
                <a:gdLst/>
                <a:ahLst/>
                <a:cxnLst/>
                <a:rect l="l" t="t" r="r" b="b"/>
                <a:pathLst>
                  <a:path w="9525" h="381000">
                    <a:moveTo>
                      <a:pt x="0" y="0"/>
                    </a:moveTo>
                    <a:lnTo>
                      <a:pt x="0" y="381000"/>
                    </a:lnTo>
                  </a:path>
                </a:pathLst>
              </a:custGeom>
              <a:noFill/>
              <a:ln w="23812" cap="rnd">
                <a:solidFill>
                  <a:srgbClr val="0E2A47"/>
                </a:solidFill>
              </a:ln>
            </p:spPr>
          </p:sp>
          <p:sp>
            <p:nvSpPr>
              <p:cNvPr id="8" name="Line 8"/>
              <p:cNvSpPr/>
              <p:nvPr/>
            </p:nvSpPr>
            <p:spPr>
              <a:xfrm>
                <a:off x="4953000" y="2743200"/>
                <a:ext cx="9525" cy="857250"/>
              </a:xfrm>
              <a:custGeom>
                <a:avLst/>
                <a:gdLst/>
                <a:ahLst/>
                <a:cxnLst/>
                <a:rect l="l" t="t" r="r" b="b"/>
                <a:pathLst>
                  <a:path w="9525" h="857250">
                    <a:moveTo>
                      <a:pt x="0" y="0"/>
                    </a:moveTo>
                    <a:lnTo>
                      <a:pt x="0" y="857250"/>
                    </a:lnTo>
                  </a:path>
                </a:pathLst>
              </a:custGeom>
              <a:noFill/>
              <a:ln w="23812" cap="rnd">
                <a:solidFill>
                  <a:srgbClr val="0E2A47"/>
                </a:solidFill>
              </a:ln>
            </p:spPr>
          </p:sp>
          <p:sp>
            <p:nvSpPr>
              <p:cNvPr id="9" name="Line 9"/>
              <p:cNvSpPr/>
              <p:nvPr/>
            </p:nvSpPr>
            <p:spPr>
              <a:xfrm>
                <a:off x="6000750" y="1714500"/>
                <a:ext cx="9525" cy="495300"/>
              </a:xfrm>
              <a:custGeom>
                <a:avLst/>
                <a:gdLst/>
                <a:ahLst/>
                <a:cxnLst/>
                <a:rect l="l" t="t" r="r" b="b"/>
                <a:pathLst>
                  <a:path w="9525" h="495300">
                    <a:moveTo>
                      <a:pt x="0" y="0"/>
                    </a:moveTo>
                    <a:lnTo>
                      <a:pt x="0" y="495300"/>
                    </a:lnTo>
                  </a:path>
                </a:pathLst>
              </a:custGeom>
              <a:noFill/>
              <a:ln w="23812" cap="rnd">
                <a:solidFill>
                  <a:srgbClr val="0E2A47"/>
                </a:solidFill>
              </a:ln>
            </p:spPr>
          </p:sp>
          <p:sp>
            <p:nvSpPr>
              <p:cNvPr id="10" name="Line 10"/>
              <p:cNvSpPr/>
              <p:nvPr/>
            </p:nvSpPr>
            <p:spPr>
              <a:xfrm>
                <a:off x="6000750" y="2514600"/>
                <a:ext cx="9525" cy="723900"/>
              </a:xfrm>
              <a:custGeom>
                <a:avLst/>
                <a:gdLst/>
                <a:ahLst/>
                <a:cxnLst/>
                <a:rect l="l" t="t" r="r" b="b"/>
                <a:pathLst>
                  <a:path w="9525" h="723900">
                    <a:moveTo>
                      <a:pt x="0" y="0"/>
                    </a:moveTo>
                    <a:lnTo>
                      <a:pt x="0" y="723900"/>
                    </a:lnTo>
                  </a:path>
                </a:pathLst>
              </a:custGeom>
              <a:noFill/>
              <a:ln w="23812" cap="rnd">
                <a:solidFill>
                  <a:srgbClr val="0E2A47"/>
                </a:solidFill>
              </a:ln>
            </p:spPr>
          </p:sp>
          <p:sp>
            <p:nvSpPr>
              <p:cNvPr id="11" name="Line 11"/>
              <p:cNvSpPr/>
              <p:nvPr/>
            </p:nvSpPr>
            <p:spPr>
              <a:xfrm>
                <a:off x="4953000" y="3238500"/>
                <a:ext cx="1047750" cy="9525"/>
              </a:xfrm>
              <a:custGeom>
                <a:avLst/>
                <a:gdLst/>
                <a:ahLst/>
                <a:cxnLst/>
                <a:rect l="l" t="t" r="r" b="b"/>
                <a:pathLst>
                  <a:path w="1047750" h="9525">
                    <a:moveTo>
                      <a:pt x="0" y="0"/>
                    </a:moveTo>
                    <a:lnTo>
                      <a:pt x="1047750" y="0"/>
                    </a:lnTo>
                  </a:path>
                </a:pathLst>
              </a:custGeom>
              <a:noFill/>
              <a:ln w="23812" cap="rnd">
                <a:solidFill>
                  <a:srgbClr val="0E2A47"/>
                </a:solidFill>
              </a:ln>
            </p:spPr>
          </p:sp>
          <p:sp>
            <p:nvSpPr>
              <p:cNvPr id="12" name="Line 12"/>
              <p:cNvSpPr/>
              <p:nvPr/>
            </p:nvSpPr>
            <p:spPr>
              <a:xfrm>
                <a:off x="4819650" y="3600450"/>
                <a:ext cx="133350" cy="9525"/>
              </a:xfrm>
              <a:custGeom>
                <a:avLst/>
                <a:gdLst/>
                <a:ahLst/>
                <a:cxnLst/>
                <a:rect l="l" t="t" r="r" b="b"/>
                <a:pathLst>
                  <a:path w="133350" h="9525">
                    <a:moveTo>
                      <a:pt x="0" y="0"/>
                    </a:moveTo>
                    <a:lnTo>
                      <a:pt x="133350" y="0"/>
                    </a:lnTo>
                  </a:path>
                </a:pathLst>
              </a:custGeom>
              <a:noFill/>
              <a:ln w="23812" cap="rnd">
                <a:solidFill>
                  <a:srgbClr val="0E2A47"/>
                </a:solidFill>
              </a:ln>
            </p:spPr>
          </p:sp>
          <p:sp>
            <p:nvSpPr>
              <p:cNvPr id="13" name="Line 13"/>
              <p:cNvSpPr/>
              <p:nvPr/>
            </p:nvSpPr>
            <p:spPr>
              <a:xfrm>
                <a:off x="4819650" y="4114800"/>
                <a:ext cx="133350" cy="9525"/>
              </a:xfrm>
              <a:custGeom>
                <a:avLst/>
                <a:gdLst/>
                <a:ahLst/>
                <a:cxnLst/>
                <a:rect l="l" t="t" r="r" b="b"/>
                <a:pathLst>
                  <a:path w="133350" h="9525">
                    <a:moveTo>
                      <a:pt x="0" y="0"/>
                    </a:moveTo>
                    <a:lnTo>
                      <a:pt x="133350" y="0"/>
                    </a:lnTo>
                  </a:path>
                </a:pathLst>
              </a:custGeom>
              <a:noFill/>
              <a:ln w="23812" cap="rnd">
                <a:solidFill>
                  <a:srgbClr val="0E2A47"/>
                </a:solidFill>
              </a:ln>
            </p:spPr>
          </p:sp>
          <p:sp>
            <p:nvSpPr>
              <p:cNvPr id="14" name="Line 14"/>
              <p:cNvSpPr/>
              <p:nvPr/>
            </p:nvSpPr>
            <p:spPr>
              <a:xfrm>
                <a:off x="4819650" y="3857625"/>
                <a:ext cx="133350" cy="9525"/>
              </a:xfrm>
              <a:custGeom>
                <a:avLst/>
                <a:gdLst/>
                <a:ahLst/>
                <a:cxnLst/>
                <a:rect l="l" t="t" r="r" b="b"/>
                <a:pathLst>
                  <a:path w="133350" h="9525">
                    <a:moveTo>
                      <a:pt x="0" y="0"/>
                    </a:moveTo>
                    <a:lnTo>
                      <a:pt x="133350" y="0"/>
                    </a:lnTo>
                  </a:path>
                </a:pathLst>
              </a:custGeom>
              <a:noFill/>
              <a:ln w="23812" cap="rnd">
                <a:solidFill>
                  <a:srgbClr val="0E2A47"/>
                </a:solidFill>
              </a:ln>
            </p:spPr>
          </p:sp>
          <p:sp>
            <p:nvSpPr>
              <p:cNvPr id="15" name="Line 15"/>
              <p:cNvSpPr/>
              <p:nvPr/>
            </p:nvSpPr>
            <p:spPr>
              <a:xfrm>
                <a:off x="4953000" y="3857625"/>
                <a:ext cx="9525" cy="1095375"/>
              </a:xfrm>
              <a:custGeom>
                <a:avLst/>
                <a:gdLst/>
                <a:ahLst/>
                <a:cxnLst/>
                <a:rect l="l" t="t" r="r" b="b"/>
                <a:pathLst>
                  <a:path w="9525" h="1095375">
                    <a:moveTo>
                      <a:pt x="0" y="0"/>
                    </a:moveTo>
                    <a:lnTo>
                      <a:pt x="0" y="1095375"/>
                    </a:lnTo>
                  </a:path>
                </a:pathLst>
              </a:custGeom>
              <a:noFill/>
              <a:ln w="23812" cap="rnd">
                <a:solidFill>
                  <a:srgbClr val="0E2A47"/>
                </a:solidFill>
              </a:ln>
            </p:spPr>
          </p:sp>
          <p:sp>
            <p:nvSpPr>
              <p:cNvPr id="16" name="Line 16"/>
              <p:cNvSpPr/>
              <p:nvPr/>
            </p:nvSpPr>
            <p:spPr>
              <a:xfrm>
                <a:off x="3238500" y="3857625"/>
                <a:ext cx="1466850" cy="9525"/>
              </a:xfrm>
              <a:custGeom>
                <a:avLst/>
                <a:gdLst/>
                <a:ahLst/>
                <a:cxnLst/>
                <a:rect l="l" t="t" r="r" b="b"/>
                <a:pathLst>
                  <a:path w="1466850" h="9525">
                    <a:moveTo>
                      <a:pt x="0" y="0"/>
                    </a:moveTo>
                    <a:lnTo>
                      <a:pt x="1466850" y="0"/>
                    </a:lnTo>
                  </a:path>
                </a:pathLst>
              </a:custGeom>
              <a:noFill/>
              <a:ln w="23812" cap="rnd">
                <a:solidFill>
                  <a:srgbClr val="0E2A47"/>
                </a:solidFill>
              </a:ln>
            </p:spPr>
          </p:sp>
          <p:sp>
            <p:nvSpPr>
              <p:cNvPr id="17" name="Line 17"/>
              <p:cNvSpPr/>
              <p:nvPr/>
            </p:nvSpPr>
            <p:spPr>
              <a:xfrm>
                <a:off x="3810000" y="3857625"/>
                <a:ext cx="9525" cy="257175"/>
              </a:xfrm>
              <a:custGeom>
                <a:avLst/>
                <a:gdLst/>
                <a:ahLst/>
                <a:cxnLst/>
                <a:rect l="l" t="t" r="r" b="b"/>
                <a:pathLst>
                  <a:path w="9525" h="257175">
                    <a:moveTo>
                      <a:pt x="0" y="0"/>
                    </a:moveTo>
                    <a:lnTo>
                      <a:pt x="0" y="257175"/>
                    </a:lnTo>
                  </a:path>
                </a:pathLst>
              </a:custGeom>
              <a:noFill/>
              <a:ln w="23812" cap="rnd">
                <a:solidFill>
                  <a:srgbClr val="0E2A47"/>
                </a:solidFill>
              </a:ln>
            </p:spPr>
          </p:sp>
          <p:sp>
            <p:nvSpPr>
              <p:cNvPr id="18" name="Polyline 18"/>
              <p:cNvSpPr/>
              <p:nvPr/>
            </p:nvSpPr>
            <p:spPr>
              <a:xfrm>
                <a:off x="3695700" y="4114800"/>
                <a:ext cx="228600" cy="609600"/>
              </a:xfrm>
              <a:custGeom>
                <a:avLst/>
                <a:gdLst/>
                <a:ahLst/>
                <a:cxnLst/>
                <a:rect l="l" t="t" r="r" b="b"/>
                <a:pathLst>
                  <a:path w="228600" h="609600">
                    <a:moveTo>
                      <a:pt x="114300" y="0"/>
                    </a:moveTo>
                    <a:lnTo>
                      <a:pt x="0" y="76200"/>
                    </a:lnTo>
                    <a:lnTo>
                      <a:pt x="228600" y="228600"/>
                    </a:lnTo>
                    <a:lnTo>
                      <a:pt x="0" y="381000"/>
                    </a:lnTo>
                    <a:lnTo>
                      <a:pt x="228600" y="533400"/>
                    </a:lnTo>
                    <a:lnTo>
                      <a:pt x="114300" y="609600"/>
                    </a:lnTo>
                  </a:path>
                </a:pathLst>
              </a:custGeom>
              <a:noFill/>
              <a:ln w="23812" cap="rnd">
                <a:solidFill>
                  <a:srgbClr val="0E2A47"/>
                </a:solidFill>
                <a:bevel/>
              </a:ln>
            </p:spPr>
          </p:sp>
          <p:sp>
            <p:nvSpPr>
              <p:cNvPr id="19" name="Line 19"/>
              <p:cNvSpPr/>
              <p:nvPr/>
            </p:nvSpPr>
            <p:spPr>
              <a:xfrm>
                <a:off x="3810000" y="4724400"/>
                <a:ext cx="9525" cy="228600"/>
              </a:xfrm>
              <a:custGeom>
                <a:avLst/>
                <a:gdLst/>
                <a:ahLst/>
                <a:cxnLst/>
                <a:rect l="l" t="t" r="r" b="b"/>
                <a:pathLst>
                  <a:path w="9525" h="228600">
                    <a:moveTo>
                      <a:pt x="0" y="0"/>
                    </a:moveTo>
                    <a:lnTo>
                      <a:pt x="0" y="228600"/>
                    </a:lnTo>
                  </a:path>
                </a:pathLst>
              </a:custGeom>
              <a:noFill/>
              <a:ln w="23812" cap="rnd">
                <a:solidFill>
                  <a:srgbClr val="0E2A47"/>
                </a:solidFill>
              </a:ln>
            </p:spPr>
          </p:sp>
          <p:sp>
            <p:nvSpPr>
              <p:cNvPr id="20" name="Line 20"/>
              <p:cNvSpPr/>
              <p:nvPr/>
            </p:nvSpPr>
            <p:spPr>
              <a:xfrm>
                <a:off x="3810000" y="4953000"/>
                <a:ext cx="1143000" cy="9525"/>
              </a:xfrm>
              <a:custGeom>
                <a:avLst/>
                <a:gdLst/>
                <a:ahLst/>
                <a:cxnLst/>
                <a:rect l="l" t="t" r="r" b="b"/>
                <a:pathLst>
                  <a:path w="1143000" h="9525">
                    <a:moveTo>
                      <a:pt x="0" y="0"/>
                    </a:moveTo>
                    <a:lnTo>
                      <a:pt x="1143000" y="0"/>
                    </a:lnTo>
                  </a:path>
                </a:pathLst>
              </a:custGeom>
              <a:noFill/>
              <a:ln w="23812" cap="rnd">
                <a:solidFill>
                  <a:srgbClr val="0E2A47"/>
                </a:solidFill>
              </a:ln>
            </p:spPr>
          </p:sp>
          <p:sp>
            <p:nvSpPr>
              <p:cNvPr id="21" name="Line 21"/>
              <p:cNvSpPr/>
              <p:nvPr/>
            </p:nvSpPr>
            <p:spPr>
              <a:xfrm>
                <a:off x="4381500" y="4953000"/>
                <a:ext cx="9525" cy="152400"/>
              </a:xfrm>
              <a:custGeom>
                <a:avLst/>
                <a:gdLst/>
                <a:ahLst/>
                <a:cxnLst/>
                <a:rect l="l" t="t" r="r" b="b"/>
                <a:pathLst>
                  <a:path w="9525" h="152400">
                    <a:moveTo>
                      <a:pt x="0" y="0"/>
                    </a:moveTo>
                    <a:lnTo>
                      <a:pt x="0" y="152400"/>
                    </a:lnTo>
                  </a:path>
                </a:pathLst>
              </a:custGeom>
              <a:noFill/>
              <a:ln w="23812" cap="rnd">
                <a:solidFill>
                  <a:srgbClr val="0E2A47"/>
                </a:solidFill>
              </a:ln>
            </p:spPr>
          </p:sp>
          <p:sp>
            <p:nvSpPr>
              <p:cNvPr id="22" name="Line 22"/>
              <p:cNvSpPr/>
              <p:nvPr/>
            </p:nvSpPr>
            <p:spPr>
              <a:xfrm>
                <a:off x="4152900" y="5105400"/>
                <a:ext cx="457200" cy="9525"/>
              </a:xfrm>
              <a:custGeom>
                <a:avLst/>
                <a:gdLst/>
                <a:ahLst/>
                <a:cxnLst/>
                <a:rect l="l" t="t" r="r" b="b"/>
                <a:pathLst>
                  <a:path w="457200" h="9525">
                    <a:moveTo>
                      <a:pt x="0" y="0"/>
                    </a:moveTo>
                    <a:lnTo>
                      <a:pt x="457200" y="0"/>
                    </a:lnTo>
                  </a:path>
                </a:pathLst>
              </a:custGeom>
              <a:noFill/>
              <a:ln w="23812" cap="rnd">
                <a:solidFill>
                  <a:srgbClr val="0E2A47"/>
                </a:solidFill>
              </a:ln>
            </p:spPr>
          </p:sp>
          <p:sp>
            <p:nvSpPr>
              <p:cNvPr id="23" name="Line 23"/>
              <p:cNvSpPr/>
              <p:nvPr/>
            </p:nvSpPr>
            <p:spPr>
              <a:xfrm>
                <a:off x="4229100" y="5200650"/>
                <a:ext cx="304800" cy="9525"/>
              </a:xfrm>
              <a:custGeom>
                <a:avLst/>
                <a:gdLst/>
                <a:ahLst/>
                <a:cxnLst/>
                <a:rect l="l" t="t" r="r" b="b"/>
                <a:pathLst>
                  <a:path w="304800" h="9525">
                    <a:moveTo>
                      <a:pt x="0" y="0"/>
                    </a:moveTo>
                    <a:lnTo>
                      <a:pt x="304800" y="0"/>
                    </a:lnTo>
                  </a:path>
                </a:pathLst>
              </a:custGeom>
              <a:noFill/>
              <a:ln w="23812" cap="rnd">
                <a:solidFill>
                  <a:srgbClr val="0E2A47"/>
                </a:solidFill>
              </a:ln>
            </p:spPr>
          </p:sp>
          <p:sp>
            <p:nvSpPr>
              <p:cNvPr id="24" name="Line 24"/>
              <p:cNvSpPr/>
              <p:nvPr/>
            </p:nvSpPr>
            <p:spPr>
              <a:xfrm>
                <a:off x="4305300" y="5295900"/>
                <a:ext cx="152400" cy="9525"/>
              </a:xfrm>
              <a:custGeom>
                <a:avLst/>
                <a:gdLst/>
                <a:ahLst/>
                <a:cxnLst/>
                <a:rect l="l" t="t" r="r" b="b"/>
                <a:pathLst>
                  <a:path w="152400" h="9525">
                    <a:moveTo>
                      <a:pt x="0" y="0"/>
                    </a:moveTo>
                    <a:lnTo>
                      <a:pt x="152400" y="0"/>
                    </a:lnTo>
                  </a:path>
                </a:pathLst>
              </a:custGeom>
              <a:noFill/>
              <a:ln w="23812" cap="rnd">
                <a:solidFill>
                  <a:srgbClr val="0E2A47"/>
                </a:solidFill>
              </a:ln>
            </p:spPr>
          </p:sp>
        </p:grpSp>
        <p:grpSp>
          <p:nvGrpSpPr>
            <p:cNvPr id="29" name="Group 29"/>
            <p:cNvGrpSpPr/>
            <p:nvPr/>
          </p:nvGrpSpPr>
          <p:grpSpPr>
            <a:xfrm>
              <a:off x="4705350" y="2209800"/>
              <a:ext cx="1447800" cy="2000250"/>
              <a:chOff x="4705350" y="2209800"/>
              <a:chExt cx="1447800" cy="2000250"/>
            </a:xfrm>
          </p:grpSpPr>
          <p:sp>
            <p:nvSpPr>
              <p:cNvPr id="26" name="Line 26"/>
              <p:cNvSpPr/>
              <p:nvPr/>
            </p:nvSpPr>
            <p:spPr>
              <a:xfrm>
                <a:off x="4819650" y="3505200"/>
                <a:ext cx="9525" cy="704850"/>
              </a:xfrm>
              <a:custGeom>
                <a:avLst/>
                <a:gdLst/>
                <a:ahLst/>
                <a:cxnLst/>
                <a:rect l="l" t="t" r="r" b="b"/>
                <a:pathLst>
                  <a:path w="9525" h="704850">
                    <a:moveTo>
                      <a:pt x="0" y="0"/>
                    </a:moveTo>
                    <a:lnTo>
                      <a:pt x="0" y="704850"/>
                    </a:lnTo>
                  </a:path>
                </a:pathLst>
              </a:custGeom>
              <a:noFill/>
              <a:ln w="38100" cap="sq">
                <a:solidFill>
                  <a:srgbClr val="0E2A47"/>
                </a:solidFill>
              </a:ln>
            </p:spPr>
          </p:sp>
          <p:sp>
            <p:nvSpPr>
              <p:cNvPr id="27" name="Line 27"/>
              <p:cNvSpPr/>
              <p:nvPr/>
            </p:nvSpPr>
            <p:spPr>
              <a:xfrm>
                <a:off x="4705350" y="3552825"/>
                <a:ext cx="9525" cy="609600"/>
              </a:xfrm>
              <a:custGeom>
                <a:avLst/>
                <a:gdLst/>
                <a:ahLst/>
                <a:cxnLst/>
                <a:rect l="l" t="t" r="r" b="b"/>
                <a:pathLst>
                  <a:path w="9525" h="609600">
                    <a:moveTo>
                      <a:pt x="0" y="0"/>
                    </a:moveTo>
                    <a:lnTo>
                      <a:pt x="0" y="609600"/>
                    </a:lnTo>
                  </a:path>
                </a:pathLst>
              </a:custGeom>
              <a:noFill/>
              <a:ln w="38100" cap="sq">
                <a:solidFill>
                  <a:srgbClr val="0E2A47"/>
                </a:solidFill>
              </a:ln>
            </p:spPr>
          </p:sp>
          <p:sp>
            <p:nvSpPr>
              <p:cNvPr id="28" name="Line 28"/>
              <p:cNvSpPr/>
              <p:nvPr/>
            </p:nvSpPr>
            <p:spPr>
              <a:xfrm>
                <a:off x="5848350" y="2209800"/>
                <a:ext cx="304800" cy="9525"/>
              </a:xfrm>
              <a:custGeom>
                <a:avLst/>
                <a:gdLst/>
                <a:ahLst/>
                <a:cxnLst/>
                <a:rect l="l" t="t" r="r" b="b"/>
                <a:pathLst>
                  <a:path w="304800" h="9525">
                    <a:moveTo>
                      <a:pt x="0" y="0"/>
                    </a:moveTo>
                    <a:lnTo>
                      <a:pt x="304800" y="0"/>
                    </a:lnTo>
                  </a:path>
                </a:pathLst>
              </a:custGeom>
              <a:noFill/>
              <a:ln w="38100" cap="sq">
                <a:solidFill>
                  <a:srgbClr val="0E2A47"/>
                </a:solidFill>
              </a:ln>
            </p:spPr>
          </p:sp>
        </p:grpSp>
        <p:sp>
          <p:nvSpPr>
            <p:cNvPr id="30" name="Polygon 30"/>
            <p:cNvSpPr/>
            <p:nvPr/>
          </p:nvSpPr>
          <p:spPr>
            <a:xfrm>
              <a:off x="5848350" y="2209800"/>
              <a:ext cx="304800" cy="304800"/>
            </a:xfrm>
            <a:custGeom>
              <a:avLst/>
              <a:gdLst/>
              <a:ahLst/>
              <a:cxnLst/>
              <a:rect l="l" t="t" r="r" b="b"/>
              <a:pathLst>
                <a:path w="304800" h="304800">
                  <a:moveTo>
                    <a:pt x="0" y="304800"/>
                  </a:moveTo>
                  <a:lnTo>
                    <a:pt x="304800" y="304800"/>
                  </a:lnTo>
                  <a:lnTo>
                    <a:pt x="152400" y="0"/>
                  </a:lnTo>
                  <a:close/>
                </a:path>
              </a:pathLst>
            </a:custGeom>
            <a:solidFill>
              <a:srgbClr val="0E2A47"/>
            </a:solidFill>
            <a:ln>
              <a:noFill/>
            </a:ln>
          </p:spPr>
        </p:sp>
        <p:sp>
          <p:nvSpPr>
            <p:cNvPr id="31" name="Polygon 31"/>
            <p:cNvSpPr/>
            <p:nvPr/>
          </p:nvSpPr>
          <p:spPr>
            <a:xfrm>
              <a:off x="4838700" y="3800475"/>
              <a:ext cx="95250" cy="114300"/>
            </a:xfrm>
            <a:custGeom>
              <a:avLst/>
              <a:gdLst/>
              <a:ahLst/>
              <a:cxnLst/>
              <a:rect l="l" t="t" r="r" b="b"/>
              <a:pathLst>
                <a:path w="95250" h="114300">
                  <a:moveTo>
                    <a:pt x="0" y="57150"/>
                  </a:moveTo>
                  <a:lnTo>
                    <a:pt x="95250" y="0"/>
                  </a:lnTo>
                  <a:lnTo>
                    <a:pt x="95250" y="114300"/>
                  </a:lnTo>
                  <a:close/>
                </a:path>
              </a:pathLst>
            </a:custGeom>
            <a:solidFill>
              <a:srgbClr val="0E2A47"/>
            </a:solidFill>
            <a:ln>
              <a:noFill/>
            </a:ln>
          </p:spPr>
        </p:sp>
        <p:sp>
          <p:nvSpPr>
            <p:cNvPr id="32" name="Ellipse 32"/>
            <p:cNvSpPr/>
            <p:nvPr/>
          </p:nvSpPr>
          <p:spPr>
            <a:xfrm>
              <a:off x="4629150" y="2095500"/>
              <a:ext cx="647700" cy="647700"/>
            </a:xfrm>
            <a:prstGeom prst="ellipse">
              <a:avLst/>
            </a:prstGeom>
            <a:solidFill>
              <a:srgbClr val="FFFFFF"/>
            </a:solidFill>
            <a:ln w="23812">
              <a:solidFill>
                <a:srgbClr val="0E2A47"/>
              </a:solidFill>
            </a:ln>
          </p:spPr>
        </p:sp>
        <p:sp>
          <p:nvSpPr>
            <p:cNvPr id="33" name="TextBox 33"/>
            <p:cNvSpPr txBox="1"/>
            <p:nvPr/>
          </p:nvSpPr>
          <p:spPr>
            <a:xfrm>
              <a:off x="4799402" y="2260600"/>
              <a:ext cx="307196" cy="410718"/>
            </a:xfrm>
            <a:prstGeom prst="rect">
              <a:avLst/>
            </a:prstGeom>
            <a:noFill/>
            <a:ln>
              <a:noFill/>
            </a:ln>
          </p:spPr>
          <p:txBody>
            <a:bodyPr wrap="none" lIns="0" tIns="0" rIns="0" bIns="0" anchor="t" anchorCtr="0">
              <a:spAutoFit/>
            </a:bodyPr>
            <a:lstStyle/>
            <a:p>
              <a:pPr algn="ctr"/>
              <a:r>
                <a:rPr lang="en" sz="2100" b="1" dirty="0">
                  <a:solidFill>
                    <a:srgbClr val="0E2A47"/>
                  </a:solidFill>
                  <a:latin typeface="+mn-lt"/>
                  <a:ea typeface="+mn-ea"/>
                  <a:cs typeface="+mn-cs"/>
                </a:rPr>
                <a:t>M</a:t>
              </a:r>
            </a:p>
          </p:txBody>
        </p:sp>
        <p:grpSp>
          <p:nvGrpSpPr>
            <p:cNvPr id="38" name="Group 38"/>
            <p:cNvGrpSpPr/>
            <p:nvPr/>
          </p:nvGrpSpPr>
          <p:grpSpPr>
            <a:xfrm>
              <a:off x="3762375" y="1666875"/>
              <a:ext cx="2286000" cy="2238375"/>
              <a:chOff x="3762375" y="1666875"/>
              <a:chExt cx="2286000" cy="2238375"/>
            </a:xfrm>
          </p:grpSpPr>
          <p:sp>
            <p:nvSpPr>
              <p:cNvPr id="34" name="Ellipse 34"/>
              <p:cNvSpPr/>
              <p:nvPr/>
            </p:nvSpPr>
            <p:spPr>
              <a:xfrm>
                <a:off x="4905375" y="3190875"/>
                <a:ext cx="95250" cy="95250"/>
              </a:xfrm>
              <a:prstGeom prst="ellipse">
                <a:avLst/>
              </a:prstGeom>
              <a:solidFill>
                <a:srgbClr val="0E2A47"/>
              </a:solidFill>
              <a:ln>
                <a:noFill/>
              </a:ln>
            </p:spPr>
          </p:sp>
          <p:sp>
            <p:nvSpPr>
              <p:cNvPr id="35" name="Ellipse 35"/>
              <p:cNvSpPr/>
              <p:nvPr/>
            </p:nvSpPr>
            <p:spPr>
              <a:xfrm>
                <a:off x="3762375" y="3810000"/>
                <a:ext cx="95250" cy="95250"/>
              </a:xfrm>
              <a:prstGeom prst="ellipse">
                <a:avLst/>
              </a:prstGeom>
              <a:solidFill>
                <a:srgbClr val="0E2A47"/>
              </a:solidFill>
              <a:ln>
                <a:noFill/>
              </a:ln>
            </p:spPr>
          </p:sp>
          <p:sp>
            <p:nvSpPr>
              <p:cNvPr id="36" name="Ellipse 36"/>
              <p:cNvSpPr/>
              <p:nvPr/>
            </p:nvSpPr>
            <p:spPr>
              <a:xfrm>
                <a:off x="4905375" y="1666875"/>
                <a:ext cx="95250" cy="95250"/>
              </a:xfrm>
              <a:prstGeom prst="ellipse">
                <a:avLst/>
              </a:prstGeom>
              <a:solidFill>
                <a:srgbClr val="0E2A47"/>
              </a:solidFill>
              <a:ln>
                <a:noFill/>
              </a:ln>
            </p:spPr>
          </p:sp>
          <p:sp>
            <p:nvSpPr>
              <p:cNvPr id="37" name="Ellipse 37"/>
              <p:cNvSpPr/>
              <p:nvPr/>
            </p:nvSpPr>
            <p:spPr>
              <a:xfrm>
                <a:off x="5953125" y="1666875"/>
                <a:ext cx="95250" cy="95250"/>
              </a:xfrm>
              <a:prstGeom prst="ellipse">
                <a:avLst/>
              </a:prstGeom>
              <a:solidFill>
                <a:srgbClr val="0E2A47"/>
              </a:solidFill>
              <a:ln>
                <a:noFill/>
              </a:ln>
            </p:spPr>
          </p:sp>
        </p:grpSp>
        <p:sp>
          <p:nvSpPr>
            <p:cNvPr id="39" name="Rectangle 39"/>
            <p:cNvSpPr/>
            <p:nvPr/>
          </p:nvSpPr>
          <p:spPr>
            <a:xfrm>
              <a:off x="1428750" y="3619500"/>
              <a:ext cx="1809750" cy="476250"/>
            </a:xfrm>
            <a:prstGeom prst="roundRect">
              <a:avLst>
                <a:gd name="adj" fmla="val 16000"/>
              </a:avLst>
            </a:prstGeom>
            <a:solidFill>
              <a:srgbClr val="0E2A47"/>
            </a:solidFill>
            <a:ln>
              <a:noFill/>
            </a:ln>
          </p:spPr>
        </p:sp>
        <p:sp>
          <p:nvSpPr>
            <p:cNvPr id="40" name="TextBox 40"/>
            <p:cNvSpPr txBox="1"/>
            <p:nvPr/>
          </p:nvSpPr>
          <p:spPr>
            <a:xfrm>
              <a:off x="1739265" y="3746500"/>
              <a:ext cx="1188720" cy="293370"/>
            </a:xfrm>
            <a:prstGeom prst="rect">
              <a:avLst/>
            </a:prstGeom>
            <a:noFill/>
            <a:ln>
              <a:noFill/>
            </a:ln>
          </p:spPr>
          <p:txBody>
            <a:bodyPr wrap="none" lIns="0" tIns="0" rIns="0" bIns="0" anchor="t" anchorCtr="0">
              <a:spAutoFit/>
            </a:bodyPr>
            <a:lstStyle/>
            <a:p>
              <a:pPr algn="ctr"/>
              <a:r>
                <a:rPr lang="en" sz="1500" dirty="0">
                  <a:solidFill>
                    <a:srgbClr val="FFFFFF"/>
                  </a:solidFill>
                  <a:latin typeface="Consolas"/>
                  <a:ea typeface="Consolas"/>
                  <a:cs typeface="Consolas"/>
                </a:rPr>
                <a:t>ESP32 GPIO</a:t>
              </a:r>
            </a:p>
          </p:txBody>
        </p:sp>
        <p:grpSp>
          <p:nvGrpSpPr>
            <p:cNvPr id="48" name="Group 48"/>
            <p:cNvGrpSpPr/>
            <p:nvPr/>
          </p:nvGrpSpPr>
          <p:grpSpPr>
            <a:xfrm>
              <a:off x="2362200" y="1603375"/>
              <a:ext cx="4363212" cy="3939921"/>
              <a:chOff x="2362200" y="1603375"/>
              <a:chExt cx="4363212" cy="3939921"/>
            </a:xfrm>
          </p:grpSpPr>
          <p:sp>
            <p:nvSpPr>
              <p:cNvPr id="41" name="TextBox 41"/>
              <p:cNvSpPr txBox="1"/>
              <p:nvPr/>
            </p:nvSpPr>
            <p:spPr>
              <a:xfrm>
                <a:off x="2362200" y="1603375"/>
                <a:ext cx="1188720" cy="293370"/>
              </a:xfrm>
              <a:prstGeom prst="rect">
                <a:avLst/>
              </a:prstGeom>
              <a:noFill/>
              <a:ln>
                <a:noFill/>
              </a:ln>
            </p:spPr>
            <p:txBody>
              <a:bodyPr wrap="none" lIns="0" tIns="0" rIns="0" bIns="0" anchor="t" anchorCtr="0">
                <a:spAutoFit/>
              </a:bodyPr>
              <a:lstStyle/>
              <a:p>
                <a:pPr algn="r"/>
                <a:r>
                  <a:rPr lang="en" sz="1500" b="1" dirty="0">
                    <a:solidFill>
                      <a:srgbClr val="0E2A47"/>
                    </a:solidFill>
                    <a:latin typeface="Consolas"/>
                    <a:ea typeface="Consolas"/>
                    <a:cs typeface="Consolas"/>
                  </a:rPr>
                  <a:t>VBAT 3.7 V</a:t>
                </a:r>
              </a:p>
            </p:txBody>
          </p:sp>
          <p:sp>
            <p:nvSpPr>
              <p:cNvPr id="42" name="TextBox 42"/>
              <p:cNvSpPr txBox="1"/>
              <p:nvPr/>
            </p:nvSpPr>
            <p:spPr>
              <a:xfrm>
                <a:off x="5135880" y="3632200"/>
                <a:ext cx="719328" cy="293370"/>
              </a:xfrm>
              <a:prstGeom prst="rect">
                <a:avLst/>
              </a:prstGeom>
              <a:noFill/>
              <a:ln>
                <a:noFill/>
              </a:ln>
            </p:spPr>
            <p:txBody>
              <a:bodyPr wrap="none" lIns="0" tIns="0" rIns="0" bIns="0" anchor="t" anchorCtr="0">
                <a:spAutoFit/>
              </a:bodyPr>
              <a:lstStyle/>
              <a:p>
                <a:pPr algn="l"/>
                <a:r>
                  <a:rPr lang="en" sz="1500" dirty="0">
                    <a:solidFill>
                      <a:srgbClr val="0E2A47"/>
                    </a:solidFill>
                    <a:latin typeface="Consolas"/>
                    <a:ea typeface="Consolas"/>
                    <a:cs typeface="Consolas"/>
                  </a:rPr>
                  <a:t>AO3400</a:t>
                </a:r>
              </a:p>
            </p:txBody>
          </p:sp>
          <p:sp>
            <p:nvSpPr>
              <p:cNvPr id="43" name="TextBox 43"/>
              <p:cNvSpPr txBox="1"/>
              <p:nvPr/>
            </p:nvSpPr>
            <p:spPr>
              <a:xfrm>
                <a:off x="3002756" y="4298950"/>
                <a:ext cx="586264" cy="293370"/>
              </a:xfrm>
              <a:prstGeom prst="rect">
                <a:avLst/>
              </a:prstGeom>
              <a:noFill/>
              <a:ln>
                <a:noFill/>
              </a:ln>
            </p:spPr>
            <p:txBody>
              <a:bodyPr wrap="none" lIns="0" tIns="0" rIns="0" bIns="0" anchor="t" anchorCtr="0">
                <a:spAutoFit/>
              </a:bodyPr>
              <a:lstStyle/>
              <a:p>
                <a:pPr algn="r"/>
                <a:r>
                  <a:rPr lang="el-GR" sz="1500" dirty="0">
                    <a:solidFill>
                      <a:srgbClr val="0E2A47"/>
                    </a:solidFill>
                    <a:latin typeface="Consolas"/>
                    <a:ea typeface="Consolas"/>
                    <a:cs typeface="Consolas"/>
                  </a:rPr>
                  <a:t>10 kΩ</a:t>
                </a:r>
              </a:p>
            </p:txBody>
          </p:sp>
          <p:sp>
            <p:nvSpPr>
              <p:cNvPr id="44" name="TextBox 44"/>
              <p:cNvSpPr txBox="1"/>
              <p:nvPr/>
            </p:nvSpPr>
            <p:spPr>
              <a:xfrm>
                <a:off x="6240780" y="2260600"/>
                <a:ext cx="484632" cy="293370"/>
              </a:xfrm>
              <a:prstGeom prst="rect">
                <a:avLst/>
              </a:prstGeom>
              <a:noFill/>
              <a:ln>
                <a:noFill/>
              </a:ln>
            </p:spPr>
            <p:txBody>
              <a:bodyPr wrap="none" lIns="0" tIns="0" rIns="0" bIns="0" anchor="t" anchorCtr="0">
                <a:spAutoFit/>
              </a:bodyPr>
              <a:lstStyle/>
              <a:p>
                <a:pPr algn="l"/>
                <a:r>
                  <a:rPr lang="en" sz="1500" dirty="0">
                    <a:solidFill>
                      <a:srgbClr val="0E2A47"/>
                    </a:solidFill>
                    <a:latin typeface="Consolas"/>
                    <a:ea typeface="Consolas"/>
                    <a:cs typeface="Consolas"/>
                  </a:rPr>
                  <a:t>SS24</a:t>
                </a:r>
              </a:p>
            </p:txBody>
          </p:sp>
          <p:sp>
            <p:nvSpPr>
              <p:cNvPr id="45" name="TextBox 45"/>
              <p:cNvSpPr txBox="1"/>
              <p:nvPr/>
            </p:nvSpPr>
            <p:spPr>
              <a:xfrm>
                <a:off x="5383530" y="2317750"/>
                <a:ext cx="459486" cy="293370"/>
              </a:xfrm>
              <a:prstGeom prst="rect">
                <a:avLst/>
              </a:prstGeom>
              <a:noFill/>
              <a:ln>
                <a:noFill/>
              </a:ln>
            </p:spPr>
            <p:txBody>
              <a:bodyPr wrap="none" lIns="0" tIns="0" rIns="0" bIns="0" anchor="t" anchorCtr="0">
                <a:spAutoFit/>
              </a:bodyPr>
              <a:lstStyle/>
              <a:p>
                <a:pPr algn="l"/>
                <a:r>
                  <a:rPr lang="en" sz="1500" dirty="0">
                    <a:solidFill>
                      <a:srgbClr val="0E2A47"/>
                    </a:solidFill>
                    <a:latin typeface="Consolas"/>
                    <a:ea typeface="Consolas"/>
                    <a:cs typeface="Consolas"/>
                  </a:rPr>
                  <a:t>8520</a:t>
                </a:r>
              </a:p>
            </p:txBody>
          </p:sp>
          <p:sp>
            <p:nvSpPr>
              <p:cNvPr id="46" name="TextBox 46"/>
              <p:cNvSpPr txBox="1"/>
              <p:nvPr/>
            </p:nvSpPr>
            <p:spPr>
              <a:xfrm>
                <a:off x="4110761" y="3613150"/>
                <a:ext cx="293827" cy="234696"/>
              </a:xfrm>
              <a:prstGeom prst="rect">
                <a:avLst/>
              </a:prstGeom>
              <a:noFill/>
              <a:ln>
                <a:noFill/>
              </a:ln>
            </p:spPr>
            <p:txBody>
              <a:bodyPr wrap="none" lIns="0" tIns="0" rIns="0" bIns="0" anchor="t" anchorCtr="0">
                <a:spAutoFit/>
              </a:bodyPr>
              <a:lstStyle/>
              <a:p>
                <a:pPr algn="ctr"/>
                <a:r>
                  <a:rPr lang="en" sz="1200" dirty="0">
                    <a:solidFill>
                      <a:srgbClr val="C2410C"/>
                    </a:solidFill>
                    <a:latin typeface="Consolas"/>
                    <a:ea typeface="Consolas"/>
                    <a:cs typeface="Consolas"/>
                  </a:rPr>
                  <a:t>PWM</a:t>
                </a:r>
              </a:p>
            </p:txBody>
          </p:sp>
          <p:sp>
            <p:nvSpPr>
              <p:cNvPr id="47" name="TextBox 47"/>
              <p:cNvSpPr txBox="1"/>
              <p:nvPr/>
            </p:nvSpPr>
            <p:spPr>
              <a:xfrm>
                <a:off x="4680204" y="5308600"/>
                <a:ext cx="293827" cy="234696"/>
              </a:xfrm>
              <a:prstGeom prst="rect">
                <a:avLst/>
              </a:prstGeom>
              <a:noFill/>
              <a:ln>
                <a:noFill/>
              </a:ln>
            </p:spPr>
            <p:txBody>
              <a:bodyPr wrap="none" lIns="0" tIns="0" rIns="0" bIns="0" anchor="t" anchorCtr="0">
                <a:spAutoFit/>
              </a:bodyPr>
              <a:lstStyle/>
              <a:p>
                <a:pPr algn="l"/>
                <a:r>
                  <a:rPr lang="en" sz="1200" dirty="0">
                    <a:solidFill>
                      <a:srgbClr val="6B7A8C"/>
                    </a:solidFill>
                    <a:latin typeface="Consolas"/>
                    <a:ea typeface="Consolas"/>
                    <a:cs typeface="Consolas"/>
                  </a:rPr>
                  <a:t>GND</a:t>
                </a:r>
              </a:p>
            </p:txBody>
          </p:sp>
        </p:grpSp>
        <p:grpSp>
          <p:nvGrpSpPr>
            <p:cNvPr id="52" name="Group 52"/>
            <p:cNvGrpSpPr/>
            <p:nvPr/>
          </p:nvGrpSpPr>
          <p:grpSpPr>
            <a:xfrm>
              <a:off x="3228975" y="1914525"/>
              <a:ext cx="3448050" cy="2952750"/>
              <a:chOff x="3228975" y="1914525"/>
              <a:chExt cx="3448050" cy="2952750"/>
            </a:xfrm>
          </p:grpSpPr>
          <p:sp>
            <p:nvSpPr>
              <p:cNvPr id="49" name="Ellipse 49"/>
              <p:cNvSpPr/>
              <p:nvPr/>
            </p:nvSpPr>
            <p:spPr>
              <a:xfrm>
                <a:off x="5400675" y="4010025"/>
                <a:ext cx="285750" cy="285750"/>
              </a:xfrm>
              <a:prstGeom prst="ellipse">
                <a:avLst/>
              </a:prstGeom>
              <a:solidFill>
                <a:srgbClr val="E8590C"/>
              </a:solidFill>
              <a:ln>
                <a:noFill/>
              </a:ln>
            </p:spPr>
          </p:sp>
          <p:sp>
            <p:nvSpPr>
              <p:cNvPr id="50" name="Ellipse 50"/>
              <p:cNvSpPr/>
              <p:nvPr/>
            </p:nvSpPr>
            <p:spPr>
              <a:xfrm>
                <a:off x="3228975" y="4581525"/>
                <a:ext cx="285750" cy="285750"/>
              </a:xfrm>
              <a:prstGeom prst="ellipse">
                <a:avLst/>
              </a:prstGeom>
              <a:solidFill>
                <a:srgbClr val="E8590C"/>
              </a:solidFill>
              <a:ln>
                <a:noFill/>
              </a:ln>
            </p:spPr>
          </p:sp>
          <p:sp>
            <p:nvSpPr>
              <p:cNvPr id="51" name="Ellipse 51"/>
              <p:cNvSpPr/>
              <p:nvPr/>
            </p:nvSpPr>
            <p:spPr>
              <a:xfrm>
                <a:off x="6391275" y="1914525"/>
                <a:ext cx="285750" cy="285750"/>
              </a:xfrm>
              <a:prstGeom prst="ellipse">
                <a:avLst/>
              </a:prstGeom>
              <a:solidFill>
                <a:srgbClr val="E8590C"/>
              </a:solidFill>
              <a:ln>
                <a:noFill/>
              </a:ln>
            </p:spPr>
          </p:sp>
        </p:grpSp>
        <p:grpSp>
          <p:nvGrpSpPr>
            <p:cNvPr id="56" name="Group 56"/>
            <p:cNvGrpSpPr/>
            <p:nvPr/>
          </p:nvGrpSpPr>
          <p:grpSpPr>
            <a:xfrm>
              <a:off x="3312724" y="1949450"/>
              <a:ext cx="3280551" cy="2931033"/>
              <a:chOff x="3312724" y="1949450"/>
              <a:chExt cx="3280551" cy="2931033"/>
            </a:xfrm>
          </p:grpSpPr>
          <p:sp>
            <p:nvSpPr>
              <p:cNvPr id="53" name="TextBox 53"/>
              <p:cNvSpPr txBox="1"/>
              <p:nvPr/>
            </p:nvSpPr>
            <p:spPr>
              <a:xfrm>
                <a:off x="5484424" y="4044950"/>
                <a:ext cx="118251"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mn-lt"/>
                    <a:ea typeface="+mn-ea"/>
                    <a:cs typeface="+mn-cs"/>
                  </a:rPr>
                  <a:t>1</a:t>
                </a:r>
              </a:p>
            </p:txBody>
          </p:sp>
          <p:sp>
            <p:nvSpPr>
              <p:cNvPr id="54" name="TextBox 54"/>
              <p:cNvSpPr txBox="1"/>
              <p:nvPr/>
            </p:nvSpPr>
            <p:spPr>
              <a:xfrm>
                <a:off x="3312724" y="4616450"/>
                <a:ext cx="118251"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mn-lt"/>
                    <a:ea typeface="+mn-ea"/>
                    <a:cs typeface="+mn-cs"/>
                  </a:rPr>
                  <a:t>2</a:t>
                </a:r>
              </a:p>
            </p:txBody>
          </p:sp>
          <p:sp>
            <p:nvSpPr>
              <p:cNvPr id="55" name="TextBox 55"/>
              <p:cNvSpPr txBox="1"/>
              <p:nvPr/>
            </p:nvSpPr>
            <p:spPr>
              <a:xfrm>
                <a:off x="6475024" y="1949450"/>
                <a:ext cx="118251"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mn-lt"/>
                    <a:ea typeface="+mn-ea"/>
                    <a:cs typeface="+mn-cs"/>
                  </a:rPr>
                  <a:t>3</a:t>
                </a:r>
              </a:p>
            </p:txBody>
          </p:sp>
        </p:grpSp>
      </p:grpSp>
      <p:grpSp>
        <p:nvGrpSpPr>
          <p:cNvPr id="61" name="pin-map"/>
          <p:cNvGrpSpPr/>
          <p:nvPr/>
        </p:nvGrpSpPr>
        <p:grpSpPr>
          <a:xfrm>
            <a:off x="609600" y="5600700"/>
            <a:ext cx="6286500" cy="666750"/>
            <a:chOff x="609600" y="5600700"/>
            <a:chExt cx="6286500" cy="666750"/>
          </a:xfrm>
        </p:grpSpPr>
        <p:sp>
          <p:nvSpPr>
            <p:cNvPr id="58" name="Rectangle 58"/>
            <p:cNvSpPr/>
            <p:nvPr/>
          </p:nvSpPr>
          <p:spPr>
            <a:xfrm>
              <a:off x="609600" y="5600700"/>
              <a:ext cx="6286500" cy="666750"/>
            </a:xfrm>
            <a:prstGeom prst="roundRect">
              <a:avLst>
                <a:gd name="adj" fmla="val 11429"/>
              </a:avLst>
            </a:prstGeom>
            <a:solidFill>
              <a:srgbClr val="F3F6F9"/>
            </a:solidFill>
            <a:ln>
              <a:noFill/>
            </a:ln>
          </p:spPr>
        </p:sp>
        <p:sp>
          <p:nvSpPr>
            <p:cNvPr id="59" name="TextBox 59"/>
            <p:cNvSpPr txBox="1"/>
            <p:nvPr/>
          </p:nvSpPr>
          <p:spPr>
            <a:xfrm>
              <a:off x="830580" y="5708650"/>
              <a:ext cx="5295900" cy="293370"/>
            </a:xfrm>
            <a:prstGeom prst="rect">
              <a:avLst/>
            </a:prstGeom>
            <a:noFill/>
            <a:ln>
              <a:noFill/>
            </a:ln>
          </p:spPr>
          <p:txBody>
            <a:bodyPr wrap="none" lIns="0" tIns="0" rIns="0" bIns="0" anchor="t" anchorCtr="0">
              <a:spAutoFit/>
            </a:bodyPr>
            <a:lstStyle/>
            <a:p>
              <a:pPr algn="l"/>
              <a:r>
                <a:rPr lang="en" sz="1500" dirty="0">
                  <a:solidFill>
                    <a:srgbClr val="0E2A47"/>
                  </a:solidFill>
                  <a:latin typeface="Consolas"/>
                  <a:ea typeface="Consolas"/>
                  <a:cs typeface="Consolas"/>
                </a:rPr>
                <a:t>M1 GPIO32 · M2 GPIO25 · M3 GPIO33 · M4 GPIO26</a:t>
              </a:r>
            </a:p>
          </p:txBody>
        </p:sp>
        <p:sp>
          <p:nvSpPr>
            <p:cNvPr id="60" name="TextBox 60"/>
            <p:cNvSpPr txBox="1"/>
            <p:nvPr/>
          </p:nvSpPr>
          <p:spPr>
            <a:xfrm>
              <a:off x="831342" y="5969000"/>
              <a:ext cx="3991996" cy="264033"/>
            </a:xfrm>
            <a:prstGeom prst="rect">
              <a:avLst/>
            </a:prstGeom>
            <a:noFill/>
            <a:ln>
              <a:noFill/>
            </a:ln>
          </p:spPr>
          <p:txBody>
            <a:bodyPr wrap="none" lIns="0" tIns="0" rIns="0" bIns="0" anchor="t" anchorCtr="0">
              <a:spAutoFit/>
            </a:bodyPr>
            <a:lstStyle/>
            <a:p>
              <a:pPr algn="l"/>
              <a:r>
                <a:rPr lang="en" sz="1350" dirty="0">
                  <a:solidFill>
                    <a:srgbClr val="4A5A6E"/>
                  </a:solidFill>
                  <a:latin typeface="+mn-lt"/>
                  <a:ea typeface="+mn-ea"/>
                  <a:cs typeface="+mn-cs"/>
                </a:rPr>
                <a:t>16 kHz, 12-bit PWM from the ESP32 LEDC timers</a:t>
              </a:r>
            </a:p>
          </p:txBody>
        </p:sp>
      </p:grpSp>
      <p:grpSp>
        <p:nvGrpSpPr>
          <p:cNvPr id="66" name="part-mosfet"/>
          <p:cNvGrpSpPr/>
          <p:nvPr/>
        </p:nvGrpSpPr>
        <p:grpSpPr>
          <a:xfrm>
            <a:off x="7239000" y="1657350"/>
            <a:ext cx="3464909" cy="890270"/>
            <a:chOff x="7239000" y="1657350"/>
            <a:chExt cx="3464909" cy="890270"/>
          </a:xfrm>
        </p:grpSpPr>
        <p:sp>
          <p:nvSpPr>
            <p:cNvPr id="62" name="Ellipse 62"/>
            <p:cNvSpPr/>
            <p:nvPr/>
          </p:nvSpPr>
          <p:spPr>
            <a:xfrm>
              <a:off x="7239000" y="1657350"/>
              <a:ext cx="304800" cy="304800"/>
            </a:xfrm>
            <a:prstGeom prst="ellipse">
              <a:avLst/>
            </a:prstGeom>
            <a:solidFill>
              <a:srgbClr val="E8590C"/>
            </a:solidFill>
            <a:ln>
              <a:noFill/>
            </a:ln>
          </p:spPr>
        </p:sp>
        <p:sp>
          <p:nvSpPr>
            <p:cNvPr id="63" name="TextBox 63"/>
            <p:cNvSpPr txBox="1"/>
            <p:nvPr/>
          </p:nvSpPr>
          <p:spPr>
            <a:xfrm>
              <a:off x="7332274" y="1711325"/>
              <a:ext cx="118251"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mn-lt"/>
                  <a:ea typeface="+mn-ea"/>
                  <a:cs typeface="+mn-cs"/>
                </a:rPr>
                <a:t>1</a:t>
              </a:r>
            </a:p>
          </p:txBody>
        </p:sp>
        <p:sp>
          <p:nvSpPr>
            <p:cNvPr id="64" name="TextBox 64"/>
            <p:cNvSpPr txBox="1"/>
            <p:nvPr/>
          </p:nvSpPr>
          <p:spPr>
            <a:xfrm>
              <a:off x="7649718" y="1682750"/>
              <a:ext cx="3014066"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AO3400 N-channel MOSFET</a:t>
              </a:r>
            </a:p>
          </p:txBody>
        </p:sp>
        <p:sp>
          <p:nvSpPr>
            <p:cNvPr id="65" name="TextBox 65"/>
            <p:cNvSpPr txBox="1"/>
            <p:nvPr/>
          </p:nvSpPr>
          <p:spPr>
            <a:xfrm>
              <a:off x="7650480" y="1987550"/>
              <a:ext cx="3053429"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Logic-level: a 3.3 V gate turns it fully</a:t>
              </a:r>
              <a:br>
                <a:rPr lang="en" sz="1500" dirty="0">
                  <a:solidFill>
                    <a:srgbClr val="4A5A6E"/>
                  </a:solidFill>
                  <a:latin typeface="+mn-lt"/>
                  <a:ea typeface="+mn-ea"/>
                  <a:cs typeface="+mn-cs"/>
                </a:rPr>
              </a:br>
              <a:r>
                <a:rPr lang="el-GR" sz="1500" dirty="0">
                  <a:solidFill>
                    <a:srgbClr val="4A5A6E"/>
                  </a:solidFill>
                  <a:latin typeface="+mn-lt"/>
                  <a:ea typeface="+mn-ea"/>
                  <a:cs typeface="+mn-cs"/>
                </a:rPr>
                <a:t>on. Tens of mΩ, 5.7 A continuous.</a:t>
              </a:r>
            </a:p>
          </p:txBody>
        </p:sp>
      </p:grpSp>
      <p:grpSp>
        <p:nvGrpSpPr>
          <p:cNvPr id="71" name="part-pulldown"/>
          <p:cNvGrpSpPr/>
          <p:nvPr/>
        </p:nvGrpSpPr>
        <p:grpSpPr>
          <a:xfrm>
            <a:off x="7239000" y="3105150"/>
            <a:ext cx="3959676" cy="890270"/>
            <a:chOff x="7239000" y="3105150"/>
            <a:chExt cx="3959676" cy="890270"/>
          </a:xfrm>
        </p:grpSpPr>
        <p:sp>
          <p:nvSpPr>
            <p:cNvPr id="67" name="Ellipse 67"/>
            <p:cNvSpPr/>
            <p:nvPr/>
          </p:nvSpPr>
          <p:spPr>
            <a:xfrm>
              <a:off x="7239000" y="3105150"/>
              <a:ext cx="304800" cy="304800"/>
            </a:xfrm>
            <a:prstGeom prst="ellipse">
              <a:avLst/>
            </a:prstGeom>
            <a:solidFill>
              <a:srgbClr val="E8590C"/>
            </a:solidFill>
            <a:ln>
              <a:noFill/>
            </a:ln>
          </p:spPr>
        </p:sp>
        <p:sp>
          <p:nvSpPr>
            <p:cNvPr id="68" name="TextBox 68"/>
            <p:cNvSpPr txBox="1"/>
            <p:nvPr/>
          </p:nvSpPr>
          <p:spPr>
            <a:xfrm>
              <a:off x="7332274" y="3159125"/>
              <a:ext cx="118251"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mn-lt"/>
                  <a:ea typeface="+mn-ea"/>
                  <a:cs typeface="+mn-cs"/>
                </a:rPr>
                <a:t>2</a:t>
              </a:r>
            </a:p>
          </p:txBody>
        </p:sp>
        <p:sp>
          <p:nvSpPr>
            <p:cNvPr id="69" name="TextBox 69"/>
            <p:cNvSpPr txBox="1"/>
            <p:nvPr/>
          </p:nvSpPr>
          <p:spPr>
            <a:xfrm>
              <a:off x="7649718" y="3130550"/>
              <a:ext cx="2254268" cy="322707"/>
            </a:xfrm>
            <a:prstGeom prst="rect">
              <a:avLst/>
            </a:prstGeom>
            <a:noFill/>
            <a:ln>
              <a:noFill/>
            </a:ln>
          </p:spPr>
          <p:txBody>
            <a:bodyPr wrap="none" lIns="0" tIns="0" rIns="0" bIns="0" anchor="t" anchorCtr="0">
              <a:spAutoFit/>
            </a:bodyPr>
            <a:lstStyle/>
            <a:p>
              <a:pPr algn="l"/>
              <a:r>
                <a:rPr lang="el-GR" sz="1650" b="1" dirty="0">
                  <a:solidFill>
                    <a:srgbClr val="0E1B2C"/>
                  </a:solidFill>
                  <a:latin typeface="+mn-lt"/>
                  <a:ea typeface="+mn-ea"/>
                  <a:cs typeface="+mn-cs"/>
                </a:rPr>
                <a:t>10 kΩ gate pull-down</a:t>
              </a:r>
            </a:p>
          </p:txBody>
        </p:sp>
        <p:sp>
          <p:nvSpPr>
            <p:cNvPr id="70" name="TextBox 70"/>
            <p:cNvSpPr txBox="1"/>
            <p:nvPr/>
          </p:nvSpPr>
          <p:spPr>
            <a:xfrm>
              <a:off x="7650480" y="3435350"/>
              <a:ext cx="3548196"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Holds the gate low while the ESP32 boots,</a:t>
              </a:r>
              <a:br>
                <a:rPr lang="en" sz="1500" dirty="0">
                  <a:solidFill>
                    <a:srgbClr val="4A5A6E"/>
                  </a:solidFill>
                  <a:latin typeface="+mn-lt"/>
                  <a:ea typeface="+mn-ea"/>
                  <a:cs typeface="+mn-cs"/>
                </a:rPr>
              </a:br>
              <a:r>
                <a:rPr lang="en" sz="1500" dirty="0">
                  <a:solidFill>
                    <a:srgbClr val="4A5A6E"/>
                  </a:solidFill>
                  <a:latin typeface="+mn-lt"/>
                  <a:ea typeface="+mn-ea"/>
                  <a:cs typeface="+mn-cs"/>
                </a:rPr>
                <a:t>so motors cannot twitch at power-up.</a:t>
              </a:r>
            </a:p>
          </p:txBody>
        </p:sp>
      </p:grpSp>
      <p:grpSp>
        <p:nvGrpSpPr>
          <p:cNvPr id="76" name="part-diode"/>
          <p:cNvGrpSpPr/>
          <p:nvPr/>
        </p:nvGrpSpPr>
        <p:grpSpPr>
          <a:xfrm>
            <a:off x="7239000" y="4552950"/>
            <a:ext cx="3833984" cy="890270"/>
            <a:chOff x="7239000" y="4552950"/>
            <a:chExt cx="3833984" cy="890270"/>
          </a:xfrm>
        </p:grpSpPr>
        <p:sp>
          <p:nvSpPr>
            <p:cNvPr id="72" name="Ellipse 72"/>
            <p:cNvSpPr/>
            <p:nvPr/>
          </p:nvSpPr>
          <p:spPr>
            <a:xfrm>
              <a:off x="7239000" y="4552950"/>
              <a:ext cx="304800" cy="304800"/>
            </a:xfrm>
            <a:prstGeom prst="ellipse">
              <a:avLst/>
            </a:prstGeom>
            <a:solidFill>
              <a:srgbClr val="E8590C"/>
            </a:solidFill>
            <a:ln>
              <a:noFill/>
            </a:ln>
          </p:spPr>
        </p:sp>
        <p:sp>
          <p:nvSpPr>
            <p:cNvPr id="73" name="TextBox 73"/>
            <p:cNvSpPr txBox="1"/>
            <p:nvPr/>
          </p:nvSpPr>
          <p:spPr>
            <a:xfrm>
              <a:off x="7332274" y="4606925"/>
              <a:ext cx="118251"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mn-lt"/>
                  <a:ea typeface="+mn-ea"/>
                  <a:cs typeface="+mn-cs"/>
                </a:rPr>
                <a:t>3</a:t>
              </a:r>
            </a:p>
          </p:txBody>
        </p:sp>
        <p:sp>
          <p:nvSpPr>
            <p:cNvPr id="74" name="TextBox 74"/>
            <p:cNvSpPr txBox="1"/>
            <p:nvPr/>
          </p:nvSpPr>
          <p:spPr>
            <a:xfrm>
              <a:off x="7649718" y="4578350"/>
              <a:ext cx="3366998"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SS24 Schottky diode (40 V, 2 A)</a:t>
              </a:r>
            </a:p>
          </p:txBody>
        </p:sp>
        <p:sp>
          <p:nvSpPr>
            <p:cNvPr id="75" name="TextBox 75"/>
            <p:cNvSpPr txBox="1"/>
            <p:nvPr/>
          </p:nvSpPr>
          <p:spPr>
            <a:xfrm>
              <a:off x="7650480" y="4883150"/>
              <a:ext cx="3422504"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Gives the motor current a path when the</a:t>
              </a:r>
              <a:br>
                <a:rPr lang="en" sz="1500" dirty="0">
                  <a:solidFill>
                    <a:srgbClr val="4A5A6E"/>
                  </a:solidFill>
                  <a:latin typeface="+mn-lt"/>
                  <a:ea typeface="+mn-ea"/>
                  <a:cs typeface="+mn-cs"/>
                </a:rPr>
              </a:br>
              <a:r>
                <a:rPr lang="en" sz="1500" dirty="0">
                  <a:solidFill>
                    <a:srgbClr val="4A5A6E"/>
                  </a:solidFill>
                  <a:latin typeface="+mn-lt"/>
                  <a:ea typeface="+mn-ea"/>
                  <a:cs typeface="+mn-cs"/>
                </a:rPr>
                <a:t>FET turns off, so no voltage spike.</a:t>
              </a:r>
            </a:p>
          </p:txBody>
        </p:sp>
      </p:grpSp>
      <p:grpSp>
        <p:nvGrpSpPr>
          <p:cNvPr id="79" name="footer"/>
          <p:cNvGrpSpPr/>
          <p:nvPr/>
        </p:nvGrpSpPr>
        <p:grpSpPr>
          <a:xfrm>
            <a:off x="603504" y="6457950"/>
            <a:ext cx="10984992" cy="247396"/>
            <a:chOff x="603504" y="6457950"/>
            <a:chExt cx="10984992" cy="247396"/>
          </a:xfrm>
        </p:grpSpPr>
        <p:sp>
          <p:nvSpPr>
            <p:cNvPr id="77" name="TextBox 77"/>
            <p:cNvSpPr txBox="1"/>
            <p:nvPr/>
          </p:nvSpPr>
          <p:spPr>
            <a:xfrm>
              <a:off x="603504" y="6457950"/>
              <a:ext cx="3569566"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Low-side switch, ×4. Pins from Drone/src/config.h</a:t>
              </a:r>
            </a:p>
          </p:txBody>
        </p:sp>
        <p:sp>
          <p:nvSpPr>
            <p:cNvPr id="78" name="TextBox 78"/>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08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down)">
                                      <p:cBhvr>
                                        <p:cTn id="7" dur="800"/>
                                        <p:tgtEl>
                                          <p:spTgt spid="57"/>
                                        </p:tgtEl>
                                      </p:cBhvr>
                                    </p:animEffect>
                                  </p:childTnLst>
                                </p:cTn>
                              </p:par>
                            </p:childTnLst>
                          </p:cTn>
                        </p:par>
                        <p:par>
                          <p:cTn id="8" fill="hold">
                            <p:stCondLst>
                              <p:cond delay="800"/>
                            </p:stCondLst>
                            <p:childTnLst>
                              <p:par>
                                <p:cTn id="9" presetID="10" presetClass="entr" presetSubtype="0" fill="hold" nodeType="afterEffect">
                                  <p:stCondLst>
                                    <p:cond delay="100"/>
                                  </p:stCondLst>
                                  <p:childTnLst>
                                    <p:set>
                                      <p:cBhvr>
                                        <p:cTn id="10" dur="1" fill="hold">
                                          <p:stCondLst>
                                            <p:cond delay="0"/>
                                          </p:stCondLst>
                                        </p:cTn>
                                        <p:tgtEl>
                                          <p:spTgt spid="61"/>
                                        </p:tgtEl>
                                        <p:attrNameLst>
                                          <p:attrName>style.visibility</p:attrName>
                                        </p:attrNameLst>
                                      </p:cBhvr>
                                      <p:to>
                                        <p:strVal val="visible"/>
                                      </p:to>
                                    </p:set>
                                    <p:animEffect transition="in" filter="fade">
                                      <p:cBhvr>
                                        <p:cTn id="11" dur="450"/>
                                        <p:tgtEl>
                                          <p:spTgt spid="61"/>
                                        </p:tgtEl>
                                      </p:cBhvr>
                                    </p:animEffect>
                                  </p:childTnLst>
                                </p:cTn>
                              </p:par>
                            </p:childTnLst>
                          </p:cTn>
                        </p:par>
                        <p:par>
                          <p:cTn id="12" fill="hold">
                            <p:stCondLst>
                              <p:cond delay="1350"/>
                            </p:stCondLst>
                            <p:childTnLst>
                              <p:par>
                                <p:cTn id="13" presetID="10" presetClass="entr" presetSubtype="0" fill="hold" nodeType="afterEffect">
                                  <p:stCondLst>
                                    <p:cond delay="10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450"/>
                                        <p:tgtEl>
                                          <p:spTgt spid="66"/>
                                        </p:tgtEl>
                                      </p:cBhvr>
                                    </p:animEffect>
                                  </p:childTnLst>
                                </p:cTn>
                              </p:par>
                            </p:childTnLst>
                          </p:cTn>
                        </p:par>
                        <p:par>
                          <p:cTn id="16" fill="hold">
                            <p:stCondLst>
                              <p:cond delay="1900"/>
                            </p:stCondLst>
                            <p:childTnLst>
                              <p:par>
                                <p:cTn id="17" presetID="10" presetClass="entr" presetSubtype="0" fill="hold" nodeType="afterEffect">
                                  <p:stCondLst>
                                    <p:cond delay="10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450"/>
                                        <p:tgtEl>
                                          <p:spTgt spid="71"/>
                                        </p:tgtEl>
                                      </p:cBhvr>
                                    </p:animEffect>
                                  </p:childTnLst>
                                </p:cTn>
                              </p:par>
                            </p:childTnLst>
                          </p:cTn>
                        </p:par>
                        <p:par>
                          <p:cTn id="20" fill="hold">
                            <p:stCondLst>
                              <p:cond delay="2450"/>
                            </p:stCondLst>
                            <p:childTnLst>
                              <p:par>
                                <p:cTn id="21" presetID="10" presetClass="entr" presetSubtype="0" fill="hold" nodeType="afterEffect">
                                  <p:stCondLst>
                                    <p:cond delay="100"/>
                                  </p:stCondLst>
                                  <p:childTnLst>
                                    <p:set>
                                      <p:cBhvr>
                                        <p:cTn id="22" dur="1" fill="hold">
                                          <p:stCondLst>
                                            <p:cond delay="0"/>
                                          </p:stCondLst>
                                        </p:cTn>
                                        <p:tgtEl>
                                          <p:spTgt spid="76"/>
                                        </p:tgtEl>
                                        <p:attrNameLst>
                                          <p:attrName>style.visibility</p:attrName>
                                        </p:attrNameLst>
                                      </p:cBhvr>
                                      <p:to>
                                        <p:strVal val="visible"/>
                                      </p:to>
                                    </p:set>
                                    <p:animEffect transition="in" filter="fade">
                                      <p:cBhvr>
                                        <p:cTn id="23" dur="45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6789415" cy="880364"/>
            <a:chOff x="592836" y="539750"/>
            <a:chExt cx="6789415" cy="880364"/>
          </a:xfrm>
        </p:grpSpPr>
        <p:sp>
          <p:nvSpPr>
            <p:cNvPr id="2" name="TextBox 2"/>
            <p:cNvSpPr txBox="1"/>
            <p:nvPr/>
          </p:nvSpPr>
          <p:spPr>
            <a:xfrm>
              <a:off x="602742" y="539750"/>
              <a:ext cx="2531364"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09 / BEFORE VS AFTER</a:t>
              </a:r>
            </a:p>
          </p:txBody>
        </p:sp>
        <p:sp>
          <p:nvSpPr>
            <p:cNvPr id="3" name="TextBox 3"/>
            <p:cNvSpPr txBox="1"/>
            <p:nvPr/>
          </p:nvSpPr>
          <p:spPr>
            <a:xfrm>
              <a:off x="592836" y="774700"/>
              <a:ext cx="6789415"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Same motors, new driver: it flies</a:t>
              </a:r>
            </a:p>
          </p:txBody>
        </p:sp>
      </p:grpSp>
      <p:grpSp>
        <p:nvGrpSpPr>
          <p:cNvPr id="21" name="panel-before"/>
          <p:cNvGrpSpPr/>
          <p:nvPr/>
        </p:nvGrpSpPr>
        <p:grpSpPr>
          <a:xfrm>
            <a:off x="609600" y="1447800"/>
            <a:ext cx="4953000" cy="3810000"/>
            <a:chOff x="609600" y="1447800"/>
            <a:chExt cx="4953000" cy="3810000"/>
          </a:xfrm>
        </p:grpSpPr>
        <p:sp>
          <p:nvSpPr>
            <p:cNvPr id="5" name="Rectangle 5"/>
            <p:cNvSpPr/>
            <p:nvPr/>
          </p:nvSpPr>
          <p:spPr>
            <a:xfrm>
              <a:off x="609600" y="1447800"/>
              <a:ext cx="4953000" cy="3810000"/>
            </a:xfrm>
            <a:prstGeom prst="roundRect">
              <a:avLst>
                <a:gd name="adj" fmla="val 4000"/>
              </a:avLst>
            </a:prstGeom>
            <a:solidFill>
              <a:srgbClr val="FDECEC"/>
            </a:solidFill>
            <a:ln>
              <a:noFill/>
            </a:ln>
          </p:spPr>
        </p:sp>
        <p:sp>
          <p:nvSpPr>
            <p:cNvPr id="6" name="TextBox 6"/>
            <p:cNvSpPr txBox="1"/>
            <p:nvPr/>
          </p:nvSpPr>
          <p:spPr>
            <a:xfrm>
              <a:off x="904494" y="1701800"/>
              <a:ext cx="2405201"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DRV8833 H-bridge</a:t>
              </a:r>
            </a:p>
          </p:txBody>
        </p:sp>
        <p:sp>
          <p:nvSpPr>
            <p:cNvPr id="7" name="Rectangle 7"/>
            <p:cNvSpPr/>
            <p:nvPr/>
          </p:nvSpPr>
          <p:spPr>
            <a:xfrm>
              <a:off x="4000500" y="1695450"/>
              <a:ext cx="1333500" cy="342900"/>
            </a:xfrm>
            <a:prstGeom prst="roundRect">
              <a:avLst>
                <a:gd name="adj" fmla="val 50000"/>
              </a:avLst>
            </a:prstGeom>
            <a:solidFill>
              <a:srgbClr val="C81E1E"/>
            </a:solidFill>
            <a:ln>
              <a:noFill/>
            </a:ln>
          </p:spPr>
        </p:sp>
        <p:sp>
          <p:nvSpPr>
            <p:cNvPr id="8" name="TextBox 8"/>
            <p:cNvSpPr txBox="1"/>
            <p:nvPr/>
          </p:nvSpPr>
          <p:spPr>
            <a:xfrm>
              <a:off x="4237939" y="1768475"/>
              <a:ext cx="858622"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Consolas"/>
                  <a:ea typeface="Consolas"/>
                  <a:cs typeface="Consolas"/>
                </a:rPr>
                <a:t>✕ FAILED</a:t>
              </a:r>
            </a:p>
          </p:txBody>
        </p:sp>
        <p:grpSp>
          <p:nvGrpSpPr>
            <p:cNvPr id="14" name="Group 14"/>
            <p:cNvGrpSpPr/>
            <p:nvPr/>
          </p:nvGrpSpPr>
          <p:grpSpPr>
            <a:xfrm>
              <a:off x="914400" y="2209800"/>
              <a:ext cx="4343400" cy="2371725"/>
              <a:chOff x="914400" y="2209800"/>
              <a:chExt cx="4343400" cy="2371725"/>
            </a:xfrm>
          </p:grpSpPr>
          <p:sp>
            <p:nvSpPr>
              <p:cNvPr id="9" name="Line 9"/>
              <p:cNvSpPr/>
              <p:nvPr/>
            </p:nvSpPr>
            <p:spPr>
              <a:xfrm>
                <a:off x="914400" y="2209800"/>
                <a:ext cx="4343400" cy="9525"/>
              </a:xfrm>
              <a:custGeom>
                <a:avLst/>
                <a:gdLst/>
                <a:ahLst/>
                <a:cxnLst/>
                <a:rect l="l" t="t" r="r" b="b"/>
                <a:pathLst>
                  <a:path w="4343400" h="9525">
                    <a:moveTo>
                      <a:pt x="0" y="0"/>
                    </a:moveTo>
                    <a:lnTo>
                      <a:pt x="4343400" y="0"/>
                    </a:lnTo>
                  </a:path>
                </a:pathLst>
              </a:custGeom>
              <a:noFill/>
              <a:ln w="9525">
                <a:solidFill>
                  <a:srgbClr val="EFC2C2"/>
                </a:solidFill>
              </a:ln>
            </p:spPr>
          </p:sp>
          <p:sp>
            <p:nvSpPr>
              <p:cNvPr id="10" name="Line 10"/>
              <p:cNvSpPr/>
              <p:nvPr/>
            </p:nvSpPr>
            <p:spPr>
              <a:xfrm>
                <a:off x="914400" y="2800350"/>
                <a:ext cx="4343400" cy="9525"/>
              </a:xfrm>
              <a:custGeom>
                <a:avLst/>
                <a:gdLst/>
                <a:ahLst/>
                <a:cxnLst/>
                <a:rect l="l" t="t" r="r" b="b"/>
                <a:pathLst>
                  <a:path w="4343400" h="9525">
                    <a:moveTo>
                      <a:pt x="0" y="0"/>
                    </a:moveTo>
                    <a:lnTo>
                      <a:pt x="4343400" y="0"/>
                    </a:lnTo>
                  </a:path>
                </a:pathLst>
              </a:custGeom>
              <a:noFill/>
              <a:ln w="9525">
                <a:solidFill>
                  <a:srgbClr val="EFC2C2"/>
                </a:solidFill>
              </a:ln>
            </p:spPr>
          </p:sp>
          <p:sp>
            <p:nvSpPr>
              <p:cNvPr id="11" name="Line 11"/>
              <p:cNvSpPr/>
              <p:nvPr/>
            </p:nvSpPr>
            <p:spPr>
              <a:xfrm>
                <a:off x="914400" y="3390900"/>
                <a:ext cx="4343400" cy="9525"/>
              </a:xfrm>
              <a:custGeom>
                <a:avLst/>
                <a:gdLst/>
                <a:ahLst/>
                <a:cxnLst/>
                <a:rect l="l" t="t" r="r" b="b"/>
                <a:pathLst>
                  <a:path w="4343400" h="9525">
                    <a:moveTo>
                      <a:pt x="0" y="0"/>
                    </a:moveTo>
                    <a:lnTo>
                      <a:pt x="4343400" y="0"/>
                    </a:lnTo>
                  </a:path>
                </a:pathLst>
              </a:custGeom>
              <a:noFill/>
              <a:ln w="9525">
                <a:solidFill>
                  <a:srgbClr val="EFC2C2"/>
                </a:solidFill>
              </a:ln>
            </p:spPr>
          </p:sp>
          <p:sp>
            <p:nvSpPr>
              <p:cNvPr id="12" name="Line 12"/>
              <p:cNvSpPr/>
              <p:nvPr/>
            </p:nvSpPr>
            <p:spPr>
              <a:xfrm>
                <a:off x="914400" y="3981450"/>
                <a:ext cx="4343400" cy="9525"/>
              </a:xfrm>
              <a:custGeom>
                <a:avLst/>
                <a:gdLst/>
                <a:ahLst/>
                <a:cxnLst/>
                <a:rect l="l" t="t" r="r" b="b"/>
                <a:pathLst>
                  <a:path w="4343400" h="9525">
                    <a:moveTo>
                      <a:pt x="0" y="0"/>
                    </a:moveTo>
                    <a:lnTo>
                      <a:pt x="4343400" y="0"/>
                    </a:lnTo>
                  </a:path>
                </a:pathLst>
              </a:custGeom>
              <a:noFill/>
              <a:ln w="9525">
                <a:solidFill>
                  <a:srgbClr val="EFC2C2"/>
                </a:solidFill>
              </a:ln>
            </p:spPr>
          </p:sp>
          <p:sp>
            <p:nvSpPr>
              <p:cNvPr id="13" name="Line 13"/>
              <p:cNvSpPr/>
              <p:nvPr/>
            </p:nvSpPr>
            <p:spPr>
              <a:xfrm>
                <a:off x="914400" y="4572000"/>
                <a:ext cx="4343400" cy="9525"/>
              </a:xfrm>
              <a:custGeom>
                <a:avLst/>
                <a:gdLst/>
                <a:ahLst/>
                <a:cxnLst/>
                <a:rect l="l" t="t" r="r" b="b"/>
                <a:pathLst>
                  <a:path w="4343400" h="9525">
                    <a:moveTo>
                      <a:pt x="0" y="0"/>
                    </a:moveTo>
                    <a:lnTo>
                      <a:pt x="4343400" y="0"/>
                    </a:lnTo>
                  </a:path>
                </a:pathLst>
              </a:custGeom>
              <a:noFill/>
              <a:ln w="9525">
                <a:solidFill>
                  <a:srgbClr val="EFC2C2"/>
                </a:solidFill>
              </a:ln>
            </p:spPr>
          </p:sp>
        </p:grpSp>
        <p:grpSp>
          <p:nvGrpSpPr>
            <p:cNvPr id="20" name="Group 20"/>
            <p:cNvGrpSpPr/>
            <p:nvPr/>
          </p:nvGrpSpPr>
          <p:grpSpPr>
            <a:xfrm>
              <a:off x="904494" y="2349500"/>
              <a:ext cx="2491454" cy="2743581"/>
              <a:chOff x="904494" y="2349500"/>
              <a:chExt cx="2491454" cy="2743581"/>
            </a:xfrm>
          </p:grpSpPr>
          <p:sp>
            <p:nvSpPr>
              <p:cNvPr id="15" name="TextBox 15"/>
              <p:cNvSpPr txBox="1"/>
              <p:nvPr/>
            </p:nvSpPr>
            <p:spPr>
              <a:xfrm>
                <a:off x="904494" y="2349500"/>
                <a:ext cx="1133686" cy="381381"/>
              </a:xfrm>
              <a:prstGeom prst="rect">
                <a:avLst/>
              </a:prstGeom>
              <a:noFill/>
              <a:ln>
                <a:noFill/>
              </a:ln>
            </p:spPr>
            <p:txBody>
              <a:bodyPr wrap="none" lIns="0" tIns="0" rIns="0" bIns="0" anchor="t" anchorCtr="0">
                <a:spAutoFit/>
              </a:bodyPr>
              <a:lstStyle/>
              <a:p>
                <a:pPr algn="l"/>
                <a:r>
                  <a:rPr lang="el-GR" sz="1950" dirty="0">
                    <a:solidFill>
                      <a:srgbClr val="0E1B2C"/>
                    </a:solidFill>
                    <a:latin typeface="+mn-lt"/>
                    <a:ea typeface="+mn-ea"/>
                    <a:cs typeface="+mn-cs"/>
                  </a:rPr>
                  <a:t>≈ 360 mΩ</a:t>
                </a:r>
              </a:p>
            </p:txBody>
          </p:sp>
          <p:sp>
            <p:nvSpPr>
              <p:cNvPr id="16" name="TextBox 16"/>
              <p:cNvSpPr txBox="1"/>
              <p:nvPr/>
            </p:nvSpPr>
            <p:spPr>
              <a:xfrm>
                <a:off x="904494" y="2940050"/>
                <a:ext cx="2491454"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1.5 A RMS · 2 A peak</a:t>
                </a:r>
              </a:p>
            </p:txBody>
          </p:sp>
          <p:sp>
            <p:nvSpPr>
              <p:cNvPr id="17" name="TextBox 17"/>
              <p:cNvSpPr txBox="1"/>
              <p:nvPr/>
            </p:nvSpPr>
            <p:spPr>
              <a:xfrm>
                <a:off x="904494" y="3530600"/>
                <a:ext cx="2230409"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&lt; 2.7 V (measured)</a:t>
                </a:r>
              </a:p>
            </p:txBody>
          </p:sp>
          <p:sp>
            <p:nvSpPr>
              <p:cNvPr id="18" name="TextBox 18"/>
              <p:cNvSpPr txBox="1"/>
              <p:nvPr/>
            </p:nvSpPr>
            <p:spPr>
              <a:xfrm>
                <a:off x="904494" y="4121150"/>
                <a:ext cx="2181853"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Thermal shutdown</a:t>
                </a:r>
              </a:p>
            </p:txBody>
          </p:sp>
          <p:sp>
            <p:nvSpPr>
              <p:cNvPr id="19" name="TextBox 19"/>
              <p:cNvSpPr txBox="1"/>
              <p:nvPr/>
            </p:nvSpPr>
            <p:spPr>
              <a:xfrm>
                <a:off x="904494" y="4711700"/>
                <a:ext cx="2409534" cy="381381"/>
              </a:xfrm>
              <a:prstGeom prst="rect">
                <a:avLst/>
              </a:prstGeom>
              <a:noFill/>
              <a:ln>
                <a:noFill/>
              </a:ln>
            </p:spPr>
            <p:txBody>
              <a:bodyPr wrap="none" lIns="0" tIns="0" rIns="0" bIns="0" anchor="t" anchorCtr="0">
                <a:spAutoFit/>
              </a:bodyPr>
              <a:lstStyle/>
              <a:p>
                <a:pPr algn="l"/>
                <a:r>
                  <a:rPr lang="en" sz="1950" b="1" dirty="0">
                    <a:solidFill>
                      <a:srgbClr val="C81E1E"/>
                    </a:solidFill>
                    <a:latin typeface="+mn-lt"/>
                    <a:ea typeface="+mn-ea"/>
                    <a:cs typeface="+mn-cs"/>
                  </a:rPr>
                  <a:t>Skated on the floor</a:t>
                </a:r>
              </a:p>
            </p:txBody>
          </p:sp>
        </p:grpSp>
      </p:grpSp>
      <p:grpSp>
        <p:nvGrpSpPr>
          <p:cNvPr id="27" name="row-labels"/>
          <p:cNvGrpSpPr/>
          <p:nvPr/>
        </p:nvGrpSpPr>
        <p:grpSpPr>
          <a:xfrm>
            <a:off x="5620512" y="2432050"/>
            <a:ext cx="950976" cy="2596896"/>
            <a:chOff x="5620512" y="2432050"/>
            <a:chExt cx="950976" cy="2596896"/>
          </a:xfrm>
        </p:grpSpPr>
        <p:sp>
          <p:nvSpPr>
            <p:cNvPr id="22" name="TextBox 22"/>
            <p:cNvSpPr txBox="1"/>
            <p:nvPr/>
          </p:nvSpPr>
          <p:spPr>
            <a:xfrm>
              <a:off x="5620512" y="2432050"/>
              <a:ext cx="950976" cy="234696"/>
            </a:xfrm>
            <a:prstGeom prst="rect">
              <a:avLst/>
            </a:prstGeom>
            <a:noFill/>
            <a:ln>
              <a:noFill/>
            </a:ln>
          </p:spPr>
          <p:txBody>
            <a:bodyPr wrap="none" lIns="0" tIns="0" rIns="0" bIns="0" anchor="t" anchorCtr="0">
              <a:spAutoFit/>
            </a:bodyPr>
            <a:lstStyle/>
            <a:p>
              <a:pPr algn="ctr"/>
              <a:r>
                <a:rPr lang="en" sz="1200" dirty="0">
                  <a:solidFill>
                    <a:srgbClr val="6B7A8C"/>
                  </a:solidFill>
                  <a:latin typeface="Consolas"/>
                  <a:ea typeface="Consolas"/>
                  <a:cs typeface="Consolas"/>
                </a:rPr>
                <a:t>RESISTANCE</a:t>
              </a:r>
            </a:p>
          </p:txBody>
        </p:sp>
        <p:sp>
          <p:nvSpPr>
            <p:cNvPr id="23" name="TextBox 23"/>
            <p:cNvSpPr txBox="1"/>
            <p:nvPr/>
          </p:nvSpPr>
          <p:spPr>
            <a:xfrm>
              <a:off x="5761330" y="3022600"/>
              <a:ext cx="669341" cy="234696"/>
            </a:xfrm>
            <a:prstGeom prst="rect">
              <a:avLst/>
            </a:prstGeom>
            <a:noFill/>
            <a:ln>
              <a:noFill/>
            </a:ln>
          </p:spPr>
          <p:txBody>
            <a:bodyPr wrap="none" lIns="0" tIns="0" rIns="0" bIns="0" anchor="t" anchorCtr="0">
              <a:spAutoFit/>
            </a:bodyPr>
            <a:lstStyle/>
            <a:p>
              <a:pPr algn="ctr"/>
              <a:r>
                <a:rPr lang="en" sz="1200" dirty="0">
                  <a:solidFill>
                    <a:srgbClr val="6B7A8C"/>
                  </a:solidFill>
                  <a:latin typeface="Consolas"/>
                  <a:ea typeface="Consolas"/>
                  <a:cs typeface="Consolas"/>
                </a:rPr>
                <a:t>CURRENT</a:t>
              </a:r>
            </a:p>
          </p:txBody>
        </p:sp>
        <p:sp>
          <p:nvSpPr>
            <p:cNvPr id="24" name="TextBox 24"/>
            <p:cNvSpPr txBox="1"/>
            <p:nvPr/>
          </p:nvSpPr>
          <p:spPr>
            <a:xfrm>
              <a:off x="5714390" y="3613150"/>
              <a:ext cx="763219" cy="234696"/>
            </a:xfrm>
            <a:prstGeom prst="rect">
              <a:avLst/>
            </a:prstGeom>
            <a:noFill/>
            <a:ln>
              <a:noFill/>
            </a:ln>
          </p:spPr>
          <p:txBody>
            <a:bodyPr wrap="none" lIns="0" tIns="0" rIns="0" bIns="0" anchor="t" anchorCtr="0">
              <a:spAutoFit/>
            </a:bodyPr>
            <a:lstStyle/>
            <a:p>
              <a:pPr algn="ctr"/>
              <a:r>
                <a:rPr lang="en" sz="1200" dirty="0">
                  <a:solidFill>
                    <a:srgbClr val="6B7A8C"/>
                  </a:solidFill>
                  <a:latin typeface="Consolas"/>
                  <a:ea typeface="Consolas"/>
                  <a:cs typeface="Consolas"/>
                </a:rPr>
                <a:t>AT MOTOR</a:t>
              </a:r>
            </a:p>
          </p:txBody>
        </p:sp>
        <p:sp>
          <p:nvSpPr>
            <p:cNvPr id="25" name="TextBox 25"/>
            <p:cNvSpPr txBox="1"/>
            <p:nvPr/>
          </p:nvSpPr>
          <p:spPr>
            <a:xfrm>
              <a:off x="5902147" y="4203700"/>
              <a:ext cx="387706" cy="234696"/>
            </a:xfrm>
            <a:prstGeom prst="rect">
              <a:avLst/>
            </a:prstGeom>
            <a:noFill/>
            <a:ln>
              <a:noFill/>
            </a:ln>
          </p:spPr>
          <p:txBody>
            <a:bodyPr wrap="none" lIns="0" tIns="0" rIns="0" bIns="0" anchor="t" anchorCtr="0">
              <a:spAutoFit/>
            </a:bodyPr>
            <a:lstStyle/>
            <a:p>
              <a:pPr algn="ctr"/>
              <a:r>
                <a:rPr lang="en" sz="1200" dirty="0">
                  <a:solidFill>
                    <a:srgbClr val="6B7A8C"/>
                  </a:solidFill>
                  <a:latin typeface="Consolas"/>
                  <a:ea typeface="Consolas"/>
                  <a:cs typeface="Consolas"/>
                </a:rPr>
                <a:t>HEAT</a:t>
              </a:r>
            </a:p>
          </p:txBody>
        </p:sp>
        <p:sp>
          <p:nvSpPr>
            <p:cNvPr id="26" name="TextBox 26"/>
            <p:cNvSpPr txBox="1"/>
            <p:nvPr/>
          </p:nvSpPr>
          <p:spPr>
            <a:xfrm>
              <a:off x="5808269" y="4794250"/>
              <a:ext cx="575462" cy="234696"/>
            </a:xfrm>
            <a:prstGeom prst="rect">
              <a:avLst/>
            </a:prstGeom>
            <a:noFill/>
            <a:ln>
              <a:noFill/>
            </a:ln>
          </p:spPr>
          <p:txBody>
            <a:bodyPr wrap="none" lIns="0" tIns="0" rIns="0" bIns="0" anchor="t" anchorCtr="0">
              <a:spAutoFit/>
            </a:bodyPr>
            <a:lstStyle/>
            <a:p>
              <a:pPr algn="ctr"/>
              <a:r>
                <a:rPr lang="en" sz="1200" dirty="0">
                  <a:solidFill>
                    <a:srgbClr val="6B7A8C"/>
                  </a:solidFill>
                  <a:latin typeface="Consolas"/>
                  <a:ea typeface="Consolas"/>
                  <a:cs typeface="Consolas"/>
                </a:rPr>
                <a:t>RESULT</a:t>
              </a:r>
            </a:p>
          </p:txBody>
        </p:sp>
      </p:grpSp>
      <p:grpSp>
        <p:nvGrpSpPr>
          <p:cNvPr id="44" name="panel-after"/>
          <p:cNvGrpSpPr/>
          <p:nvPr/>
        </p:nvGrpSpPr>
        <p:grpSpPr>
          <a:xfrm>
            <a:off x="6629400" y="1447800"/>
            <a:ext cx="4953000" cy="3810000"/>
            <a:chOff x="6629400" y="1447800"/>
            <a:chExt cx="4953000" cy="3810000"/>
          </a:xfrm>
        </p:grpSpPr>
        <p:sp>
          <p:nvSpPr>
            <p:cNvPr id="28" name="Rectangle 28"/>
            <p:cNvSpPr/>
            <p:nvPr/>
          </p:nvSpPr>
          <p:spPr>
            <a:xfrm>
              <a:off x="6629400" y="1447800"/>
              <a:ext cx="4953000" cy="3810000"/>
            </a:xfrm>
            <a:prstGeom prst="roundRect">
              <a:avLst>
                <a:gd name="adj" fmla="val 4000"/>
              </a:avLst>
            </a:prstGeom>
            <a:solidFill>
              <a:srgbClr val="EAF6EE"/>
            </a:solidFill>
            <a:ln>
              <a:noFill/>
            </a:ln>
          </p:spPr>
        </p:sp>
        <p:sp>
          <p:nvSpPr>
            <p:cNvPr id="29" name="TextBox 29"/>
            <p:cNvSpPr txBox="1"/>
            <p:nvPr/>
          </p:nvSpPr>
          <p:spPr>
            <a:xfrm>
              <a:off x="6924294" y="1701800"/>
              <a:ext cx="2225442"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AO3400 MOSFET</a:t>
              </a:r>
            </a:p>
          </p:txBody>
        </p:sp>
        <p:sp>
          <p:nvSpPr>
            <p:cNvPr id="30" name="Rectangle 30"/>
            <p:cNvSpPr/>
            <p:nvPr/>
          </p:nvSpPr>
          <p:spPr>
            <a:xfrm>
              <a:off x="10020300" y="1695450"/>
              <a:ext cx="1333500" cy="342900"/>
            </a:xfrm>
            <a:prstGeom prst="roundRect">
              <a:avLst>
                <a:gd name="adj" fmla="val 50000"/>
              </a:avLst>
            </a:prstGeom>
            <a:solidFill>
              <a:srgbClr val="127A3E"/>
            </a:solidFill>
            <a:ln>
              <a:noFill/>
            </a:ln>
          </p:spPr>
        </p:sp>
        <p:sp>
          <p:nvSpPr>
            <p:cNvPr id="31" name="TextBox 31"/>
            <p:cNvSpPr txBox="1"/>
            <p:nvPr/>
          </p:nvSpPr>
          <p:spPr>
            <a:xfrm>
              <a:off x="10310546" y="1768475"/>
              <a:ext cx="753008"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Consolas"/>
                  <a:ea typeface="Consolas"/>
                  <a:cs typeface="Consolas"/>
                </a:rPr>
                <a:t>✓ FLIES</a:t>
              </a:r>
            </a:p>
          </p:txBody>
        </p:sp>
        <p:grpSp>
          <p:nvGrpSpPr>
            <p:cNvPr id="37" name="Group 37"/>
            <p:cNvGrpSpPr/>
            <p:nvPr/>
          </p:nvGrpSpPr>
          <p:grpSpPr>
            <a:xfrm>
              <a:off x="6934200" y="2209800"/>
              <a:ext cx="4343400" cy="2371725"/>
              <a:chOff x="6934200" y="2209800"/>
              <a:chExt cx="4343400" cy="2371725"/>
            </a:xfrm>
          </p:grpSpPr>
          <p:sp>
            <p:nvSpPr>
              <p:cNvPr id="32" name="Line 32"/>
              <p:cNvSpPr/>
              <p:nvPr/>
            </p:nvSpPr>
            <p:spPr>
              <a:xfrm>
                <a:off x="6934200" y="2209800"/>
                <a:ext cx="4343400" cy="9525"/>
              </a:xfrm>
              <a:custGeom>
                <a:avLst/>
                <a:gdLst/>
                <a:ahLst/>
                <a:cxnLst/>
                <a:rect l="l" t="t" r="r" b="b"/>
                <a:pathLst>
                  <a:path w="4343400" h="9525">
                    <a:moveTo>
                      <a:pt x="0" y="0"/>
                    </a:moveTo>
                    <a:lnTo>
                      <a:pt x="4343400" y="0"/>
                    </a:lnTo>
                  </a:path>
                </a:pathLst>
              </a:custGeom>
              <a:noFill/>
              <a:ln w="9525">
                <a:solidFill>
                  <a:srgbClr val="BFE3CC"/>
                </a:solidFill>
              </a:ln>
            </p:spPr>
          </p:sp>
          <p:sp>
            <p:nvSpPr>
              <p:cNvPr id="33" name="Line 33"/>
              <p:cNvSpPr/>
              <p:nvPr/>
            </p:nvSpPr>
            <p:spPr>
              <a:xfrm>
                <a:off x="6934200" y="2800350"/>
                <a:ext cx="4343400" cy="9525"/>
              </a:xfrm>
              <a:custGeom>
                <a:avLst/>
                <a:gdLst/>
                <a:ahLst/>
                <a:cxnLst/>
                <a:rect l="l" t="t" r="r" b="b"/>
                <a:pathLst>
                  <a:path w="4343400" h="9525">
                    <a:moveTo>
                      <a:pt x="0" y="0"/>
                    </a:moveTo>
                    <a:lnTo>
                      <a:pt x="4343400" y="0"/>
                    </a:lnTo>
                  </a:path>
                </a:pathLst>
              </a:custGeom>
              <a:noFill/>
              <a:ln w="9525">
                <a:solidFill>
                  <a:srgbClr val="BFE3CC"/>
                </a:solidFill>
              </a:ln>
            </p:spPr>
          </p:sp>
          <p:sp>
            <p:nvSpPr>
              <p:cNvPr id="34" name="Line 34"/>
              <p:cNvSpPr/>
              <p:nvPr/>
            </p:nvSpPr>
            <p:spPr>
              <a:xfrm>
                <a:off x="6934200" y="3390900"/>
                <a:ext cx="4343400" cy="9525"/>
              </a:xfrm>
              <a:custGeom>
                <a:avLst/>
                <a:gdLst/>
                <a:ahLst/>
                <a:cxnLst/>
                <a:rect l="l" t="t" r="r" b="b"/>
                <a:pathLst>
                  <a:path w="4343400" h="9525">
                    <a:moveTo>
                      <a:pt x="0" y="0"/>
                    </a:moveTo>
                    <a:lnTo>
                      <a:pt x="4343400" y="0"/>
                    </a:lnTo>
                  </a:path>
                </a:pathLst>
              </a:custGeom>
              <a:noFill/>
              <a:ln w="9525">
                <a:solidFill>
                  <a:srgbClr val="BFE3CC"/>
                </a:solidFill>
              </a:ln>
            </p:spPr>
          </p:sp>
          <p:sp>
            <p:nvSpPr>
              <p:cNvPr id="35" name="Line 35"/>
              <p:cNvSpPr/>
              <p:nvPr/>
            </p:nvSpPr>
            <p:spPr>
              <a:xfrm>
                <a:off x="6934200" y="3981450"/>
                <a:ext cx="4343400" cy="9525"/>
              </a:xfrm>
              <a:custGeom>
                <a:avLst/>
                <a:gdLst/>
                <a:ahLst/>
                <a:cxnLst/>
                <a:rect l="l" t="t" r="r" b="b"/>
                <a:pathLst>
                  <a:path w="4343400" h="9525">
                    <a:moveTo>
                      <a:pt x="0" y="0"/>
                    </a:moveTo>
                    <a:lnTo>
                      <a:pt x="4343400" y="0"/>
                    </a:lnTo>
                  </a:path>
                </a:pathLst>
              </a:custGeom>
              <a:noFill/>
              <a:ln w="9525">
                <a:solidFill>
                  <a:srgbClr val="BFE3CC"/>
                </a:solidFill>
              </a:ln>
            </p:spPr>
          </p:sp>
          <p:sp>
            <p:nvSpPr>
              <p:cNvPr id="36" name="Line 36"/>
              <p:cNvSpPr/>
              <p:nvPr/>
            </p:nvSpPr>
            <p:spPr>
              <a:xfrm>
                <a:off x="6934200" y="4572000"/>
                <a:ext cx="4343400" cy="9525"/>
              </a:xfrm>
              <a:custGeom>
                <a:avLst/>
                <a:gdLst/>
                <a:ahLst/>
                <a:cxnLst/>
                <a:rect l="l" t="t" r="r" b="b"/>
                <a:pathLst>
                  <a:path w="4343400" h="9525">
                    <a:moveTo>
                      <a:pt x="0" y="0"/>
                    </a:moveTo>
                    <a:lnTo>
                      <a:pt x="4343400" y="0"/>
                    </a:lnTo>
                  </a:path>
                </a:pathLst>
              </a:custGeom>
              <a:noFill/>
              <a:ln w="9525">
                <a:solidFill>
                  <a:srgbClr val="BFE3CC"/>
                </a:solidFill>
              </a:ln>
            </p:spPr>
          </p:sp>
        </p:grpSp>
        <p:grpSp>
          <p:nvGrpSpPr>
            <p:cNvPr id="43" name="Group 43"/>
            <p:cNvGrpSpPr/>
            <p:nvPr/>
          </p:nvGrpSpPr>
          <p:grpSpPr>
            <a:xfrm>
              <a:off x="6924294" y="2349500"/>
              <a:ext cx="3056722" cy="2743581"/>
              <a:chOff x="6924294" y="2349500"/>
              <a:chExt cx="3056722" cy="2743581"/>
            </a:xfrm>
          </p:grpSpPr>
          <p:sp>
            <p:nvSpPr>
              <p:cNvPr id="38" name="TextBox 38"/>
              <p:cNvSpPr txBox="1"/>
              <p:nvPr/>
            </p:nvSpPr>
            <p:spPr>
              <a:xfrm>
                <a:off x="6924294" y="2349500"/>
                <a:ext cx="2821320" cy="381381"/>
              </a:xfrm>
              <a:prstGeom prst="rect">
                <a:avLst/>
              </a:prstGeom>
              <a:noFill/>
              <a:ln>
                <a:noFill/>
              </a:ln>
            </p:spPr>
            <p:txBody>
              <a:bodyPr wrap="none" lIns="0" tIns="0" rIns="0" bIns="0" anchor="t" anchorCtr="0">
                <a:spAutoFit/>
              </a:bodyPr>
              <a:lstStyle/>
              <a:p>
                <a:pPr algn="l"/>
                <a:r>
                  <a:rPr lang="el-GR" sz="1950" dirty="0">
                    <a:solidFill>
                      <a:srgbClr val="0E1B2C"/>
                    </a:solidFill>
                    <a:latin typeface="+mn-lt"/>
                    <a:ea typeface="+mn-ea"/>
                    <a:cs typeface="+mn-cs"/>
                  </a:rPr>
                  <a:t>Tens of mΩ </a:t>
                </a:r>
                <a:r>
                  <a:rPr lang="en" sz="1950" b="1" dirty="0">
                    <a:solidFill>
                      <a:srgbClr val="127A3E"/>
                    </a:solidFill>
                    <a:latin typeface="+mn-lt"/>
                    <a:ea typeface="+mn-ea"/>
                    <a:cs typeface="+mn-cs"/>
                  </a:rPr>
                  <a:t>(≈ 10× less)</a:t>
                </a:r>
              </a:p>
            </p:txBody>
          </p:sp>
          <p:sp>
            <p:nvSpPr>
              <p:cNvPr id="39" name="TextBox 39"/>
              <p:cNvSpPr txBox="1"/>
              <p:nvPr/>
            </p:nvSpPr>
            <p:spPr>
              <a:xfrm>
                <a:off x="6924294" y="2940050"/>
                <a:ext cx="1969868"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5.7 A continuous</a:t>
                </a:r>
              </a:p>
            </p:txBody>
          </p:sp>
          <p:sp>
            <p:nvSpPr>
              <p:cNvPr id="40" name="TextBox 40"/>
              <p:cNvSpPr txBox="1"/>
              <p:nvPr/>
            </p:nvSpPr>
            <p:spPr>
              <a:xfrm>
                <a:off x="6924294" y="3530600"/>
                <a:ext cx="2300464"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3.65 V+ (measured)</a:t>
                </a:r>
              </a:p>
            </p:txBody>
          </p:sp>
          <p:sp>
            <p:nvSpPr>
              <p:cNvPr id="41" name="TextBox 41"/>
              <p:cNvSpPr txBox="1"/>
              <p:nvPr/>
            </p:nvSpPr>
            <p:spPr>
              <a:xfrm>
                <a:off x="6924294" y="4121150"/>
                <a:ext cx="1157645"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Runs cool</a:t>
                </a:r>
              </a:p>
            </p:txBody>
          </p:sp>
          <p:sp>
            <p:nvSpPr>
              <p:cNvPr id="42" name="TextBox 42"/>
              <p:cNvSpPr txBox="1"/>
              <p:nvPr/>
            </p:nvSpPr>
            <p:spPr>
              <a:xfrm>
                <a:off x="6924294" y="4711700"/>
                <a:ext cx="3056722" cy="381381"/>
              </a:xfrm>
              <a:prstGeom prst="rect">
                <a:avLst/>
              </a:prstGeom>
              <a:noFill/>
              <a:ln>
                <a:noFill/>
              </a:ln>
            </p:spPr>
            <p:txBody>
              <a:bodyPr wrap="none" lIns="0" tIns="0" rIns="0" bIns="0" anchor="t" anchorCtr="0">
                <a:spAutoFit/>
              </a:bodyPr>
              <a:lstStyle/>
              <a:p>
                <a:pPr algn="l"/>
                <a:r>
                  <a:rPr lang="en" sz="1950" b="1" dirty="0">
                    <a:solidFill>
                      <a:srgbClr val="127A3E"/>
                    </a:solidFill>
                    <a:latin typeface="+mn-lt"/>
                    <a:ea typeface="+mn-ea"/>
                    <a:cs typeface="+mn-cs"/>
                  </a:rPr>
                  <a:t>Climbs at ~55 % throttle</a:t>
                </a:r>
              </a:p>
            </p:txBody>
          </p:sp>
        </p:grpSp>
      </p:grpSp>
      <p:grpSp>
        <p:nvGrpSpPr>
          <p:cNvPr id="47" name="verdict"/>
          <p:cNvGrpSpPr/>
          <p:nvPr/>
        </p:nvGrpSpPr>
        <p:grpSpPr>
          <a:xfrm>
            <a:off x="598170" y="5607050"/>
            <a:ext cx="9290744" cy="668020"/>
            <a:chOff x="598170" y="5607050"/>
            <a:chExt cx="9290744" cy="668020"/>
          </a:xfrm>
        </p:grpSpPr>
        <p:sp>
          <p:nvSpPr>
            <p:cNvPr id="45" name="TextBox 45"/>
            <p:cNvSpPr txBox="1"/>
            <p:nvPr/>
          </p:nvSpPr>
          <p:spPr>
            <a:xfrm>
              <a:off x="598170" y="5607050"/>
              <a:ext cx="9290744" cy="440055"/>
            </a:xfrm>
            <a:prstGeom prst="rect">
              <a:avLst/>
            </a:prstGeom>
            <a:noFill/>
            <a:ln>
              <a:noFill/>
            </a:ln>
          </p:spPr>
          <p:txBody>
            <a:bodyPr wrap="none" lIns="0" tIns="0" rIns="0" bIns="0" anchor="t" anchorCtr="0">
              <a:spAutoFit/>
            </a:bodyPr>
            <a:lstStyle/>
            <a:p>
              <a:pPr algn="l"/>
              <a:r>
                <a:rPr lang="en" sz="2250" b="1" dirty="0">
                  <a:solidFill>
                    <a:srgbClr val="0E1B2C"/>
                  </a:solidFill>
                  <a:latin typeface="+mn-lt"/>
                  <a:ea typeface="+mn-ea"/>
                  <a:cs typeface="+mn-cs"/>
                </a:rPr>
                <a:t>Same motors, same battery, same code. </a:t>
              </a:r>
              <a:r>
                <a:rPr lang="en" sz="2250" b="1" dirty="0">
                  <a:solidFill>
                    <a:srgbClr val="E8590C"/>
                  </a:solidFill>
                  <a:latin typeface="+mn-lt"/>
                  <a:ea typeface="+mn-ea"/>
                  <a:cs typeface="+mn-cs"/>
                </a:rPr>
                <a:t>Only the driver changed.</a:t>
              </a:r>
            </a:p>
          </p:txBody>
        </p:sp>
        <p:sp>
          <p:nvSpPr>
            <p:cNvPr id="46" name="TextBox 46"/>
            <p:cNvSpPr txBox="1"/>
            <p:nvPr/>
          </p:nvSpPr>
          <p:spPr>
            <a:xfrm>
              <a:off x="601980" y="5981700"/>
              <a:ext cx="5967754"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Measure the voltage at the motor terminals, not just at the battery.</a:t>
              </a:r>
            </a:p>
          </p:txBody>
        </p:sp>
      </p:grpSp>
      <p:grpSp>
        <p:nvGrpSpPr>
          <p:cNvPr id="50" name="footer"/>
          <p:cNvGrpSpPr/>
          <p:nvPr/>
        </p:nvGrpSpPr>
        <p:grpSpPr>
          <a:xfrm>
            <a:off x="603504" y="6457950"/>
            <a:ext cx="10984992" cy="247396"/>
            <a:chOff x="603504" y="6457950"/>
            <a:chExt cx="10984992" cy="247396"/>
          </a:xfrm>
        </p:grpSpPr>
        <p:sp>
          <p:nvSpPr>
            <p:cNvPr id="48" name="TextBox 48"/>
            <p:cNvSpPr txBox="1"/>
            <p:nvPr/>
          </p:nvSpPr>
          <p:spPr>
            <a:xfrm>
              <a:off x="603504" y="6457950"/>
              <a:ext cx="2801015"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Build, Fly &amp; Tune a Drone from Scratch</a:t>
              </a:r>
            </a:p>
          </p:txBody>
        </p:sp>
        <p:sp>
          <p:nvSpPr>
            <p:cNvPr id="49" name="TextBox 49"/>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09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600" fill="hold"/>
                                        <p:tgtEl>
                                          <p:spTgt spid="21"/>
                                        </p:tgtEl>
                                        <p:attrNameLst>
                                          <p:attrName>ppt_x</p:attrName>
                                        </p:attrNameLst>
                                      </p:cBhvr>
                                      <p:tavLst>
                                        <p:tav tm="0">
                                          <p:val>
                                            <p:strVal val="1+#ppt_w/2"/>
                                          </p:val>
                                        </p:tav>
                                        <p:tav tm="100000">
                                          <p:val>
                                            <p:strVal val="#ppt_x"/>
                                          </p:val>
                                        </p:tav>
                                      </p:tavLst>
                                    </p:anim>
                                    <p:anim calcmode="lin" valueType="num">
                                      <p:cBhvr additive="base">
                                        <p:cTn id="8" dur="6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600"/>
                            </p:stCondLst>
                            <p:childTnLst>
                              <p:par>
                                <p:cTn id="10" presetID="10" presetClass="entr" presetSubtype="0" fill="hold" nodeType="afterEffect">
                                  <p:stCondLst>
                                    <p:cond delay="10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par>
                          <p:cTn id="13" fill="hold">
                            <p:stCondLst>
                              <p:cond delay="1100"/>
                            </p:stCondLst>
                            <p:childTnLst>
                              <p:par>
                                <p:cTn id="14" presetID="2" presetClass="entr" presetSubtype="8" fill="hold" nodeType="afterEffect">
                                  <p:stCondLst>
                                    <p:cond delay="100"/>
                                  </p:stCondLst>
                                  <p:childTnLst>
                                    <p:set>
                                      <p:cBhvr>
                                        <p:cTn id="15" dur="1" fill="hold">
                                          <p:stCondLst>
                                            <p:cond delay="0"/>
                                          </p:stCondLst>
                                        </p:cTn>
                                        <p:tgtEl>
                                          <p:spTgt spid="44"/>
                                        </p:tgtEl>
                                        <p:attrNameLst>
                                          <p:attrName>style.visibility</p:attrName>
                                        </p:attrNameLst>
                                      </p:cBhvr>
                                      <p:to>
                                        <p:strVal val="visible"/>
                                      </p:to>
                                    </p:set>
                                    <p:anim calcmode="lin" valueType="num">
                                      <p:cBhvr additive="base">
                                        <p:cTn id="16" dur="600" fill="hold"/>
                                        <p:tgtEl>
                                          <p:spTgt spid="44"/>
                                        </p:tgtEl>
                                        <p:attrNameLst>
                                          <p:attrName>ppt_x</p:attrName>
                                        </p:attrNameLst>
                                      </p:cBhvr>
                                      <p:tavLst>
                                        <p:tav tm="0">
                                          <p:val>
                                            <p:strVal val="0-#ppt_w/2"/>
                                          </p:val>
                                        </p:tav>
                                        <p:tav tm="100000">
                                          <p:val>
                                            <p:strVal val="#ppt_x"/>
                                          </p:val>
                                        </p:tav>
                                      </p:tavLst>
                                    </p:anim>
                                    <p:anim calcmode="lin" valueType="num">
                                      <p:cBhvr additive="base">
                                        <p:cTn id="17" dur="600" fill="hold"/>
                                        <p:tgtEl>
                                          <p:spTgt spid="44"/>
                                        </p:tgtEl>
                                        <p:attrNameLst>
                                          <p:attrName>ppt_y</p:attrName>
                                        </p:attrNameLst>
                                      </p:cBhvr>
                                      <p:tavLst>
                                        <p:tav tm="0">
                                          <p:val>
                                            <p:strVal val="#ppt_y"/>
                                          </p:val>
                                        </p:tav>
                                        <p:tav tm="100000">
                                          <p:val>
                                            <p:strVal val="#ppt_y"/>
                                          </p:val>
                                        </p:tav>
                                      </p:tavLst>
                                    </p:anim>
                                  </p:childTnLst>
                                </p:cTn>
                              </p:par>
                            </p:childTnLst>
                          </p:cTn>
                        </p:par>
                        <p:par>
                          <p:cTn id="18" fill="hold">
                            <p:stCondLst>
                              <p:cond delay="1800"/>
                            </p:stCondLst>
                            <p:childTnLst>
                              <p:par>
                                <p:cTn id="19" presetID="37" presetClass="entr" presetSubtype="0" fill="hold" nodeType="afterEffect">
                                  <p:stCondLst>
                                    <p:cond delay="10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600"/>
                                        <p:tgtEl>
                                          <p:spTgt spid="47"/>
                                        </p:tgtEl>
                                      </p:cBhvr>
                                    </p:animEffect>
                                    <p:anim calcmode="lin" valueType="num">
                                      <p:cBhvr>
                                        <p:cTn id="22" dur="600" fill="hold"/>
                                        <p:tgtEl>
                                          <p:spTgt spid="47"/>
                                        </p:tgtEl>
                                        <p:attrNameLst>
                                          <p:attrName>ppt_x</p:attrName>
                                        </p:attrNameLst>
                                      </p:cBhvr>
                                      <p:tavLst>
                                        <p:tav tm="0">
                                          <p:val>
                                            <p:strVal val="#ppt_x"/>
                                          </p:val>
                                        </p:tav>
                                        <p:tav tm="100000">
                                          <p:val>
                                            <p:strVal val="#ppt_x"/>
                                          </p:val>
                                        </p:tav>
                                      </p:tavLst>
                                    </p:anim>
                                    <p:anim calcmode="lin" valueType="num">
                                      <p:cBhvr>
                                        <p:cTn id="23" dur="540" decel="100000" fill="hold"/>
                                        <p:tgtEl>
                                          <p:spTgt spid="47"/>
                                        </p:tgtEl>
                                        <p:attrNameLst>
                                          <p:attrName>ppt_y</p:attrName>
                                        </p:attrNameLst>
                                      </p:cBhvr>
                                      <p:tavLst>
                                        <p:tav tm="0">
                                          <p:val>
                                            <p:strVal val="#ppt_y+1"/>
                                          </p:val>
                                        </p:tav>
                                        <p:tav tm="100000">
                                          <p:val>
                                            <p:strVal val="#ppt_y-.03"/>
                                          </p:val>
                                        </p:tav>
                                      </p:tavLst>
                                    </p:anim>
                                    <p:anim calcmode="lin" valueType="num">
                                      <p:cBhvr>
                                        <p:cTn id="24" dur="60" accel="100000" fill="hold">
                                          <p:stCondLst>
                                            <p:cond delay="540"/>
                                          </p:stCondLst>
                                        </p:cTn>
                                        <p:tgtEl>
                                          <p:spTgt spid="4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7090779" cy="880364"/>
            <a:chOff x="592836" y="539750"/>
            <a:chExt cx="7090779" cy="880364"/>
          </a:xfrm>
        </p:grpSpPr>
        <p:sp>
          <p:nvSpPr>
            <p:cNvPr id="2" name="TextBox 2"/>
            <p:cNvSpPr txBox="1"/>
            <p:nvPr/>
          </p:nvSpPr>
          <p:spPr>
            <a:xfrm>
              <a:off x="602742" y="539750"/>
              <a:ext cx="1642720"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10 / FIRMWARE</a:t>
              </a:r>
            </a:p>
          </p:txBody>
        </p:sp>
        <p:sp>
          <p:nvSpPr>
            <p:cNvPr id="3" name="TextBox 3"/>
            <p:cNvSpPr txBox="1"/>
            <p:nvPr/>
          </p:nvSpPr>
          <p:spPr>
            <a:xfrm>
              <a:off x="592836" y="774700"/>
              <a:ext cx="7090779"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Two cores, one 500 Hz flight loop</a:t>
              </a:r>
            </a:p>
          </p:txBody>
        </p:sp>
      </p:grpSp>
      <p:grpSp>
        <p:nvGrpSpPr>
          <p:cNvPr id="8" name="lane-radio"/>
          <p:cNvGrpSpPr/>
          <p:nvPr/>
        </p:nvGrpSpPr>
        <p:grpSpPr>
          <a:xfrm>
            <a:off x="609600" y="1447800"/>
            <a:ext cx="10972800" cy="876300"/>
            <a:chOff x="609600" y="1447800"/>
            <a:chExt cx="10972800" cy="876300"/>
          </a:xfrm>
        </p:grpSpPr>
        <p:sp>
          <p:nvSpPr>
            <p:cNvPr id="5" name="Rectangle 5"/>
            <p:cNvSpPr/>
            <p:nvPr/>
          </p:nvSpPr>
          <p:spPr>
            <a:xfrm>
              <a:off x="609600" y="1447800"/>
              <a:ext cx="10972800" cy="876300"/>
            </a:xfrm>
            <a:prstGeom prst="roundRect">
              <a:avLst>
                <a:gd name="adj" fmla="val 13043"/>
              </a:avLst>
            </a:prstGeom>
            <a:solidFill>
              <a:srgbClr val="E9F4F3"/>
            </a:solidFill>
            <a:ln>
              <a:noFill/>
            </a:ln>
          </p:spPr>
        </p:sp>
        <p:sp>
          <p:nvSpPr>
            <p:cNvPr id="6" name="TextBox 6"/>
            <p:cNvSpPr txBox="1"/>
            <p:nvPr/>
          </p:nvSpPr>
          <p:spPr>
            <a:xfrm>
              <a:off x="831342" y="1587500"/>
              <a:ext cx="3491484" cy="264033"/>
            </a:xfrm>
            <a:prstGeom prst="rect">
              <a:avLst/>
            </a:prstGeom>
            <a:noFill/>
            <a:ln>
              <a:noFill/>
            </a:ln>
          </p:spPr>
          <p:txBody>
            <a:bodyPr wrap="none" lIns="0" tIns="0" rIns="0" bIns="0" anchor="t" anchorCtr="0">
              <a:spAutoFit/>
            </a:bodyPr>
            <a:lstStyle/>
            <a:p>
              <a:pPr algn="l"/>
              <a:r>
                <a:rPr lang="en" sz="1350" spc="75" dirty="0">
                  <a:solidFill>
                    <a:srgbClr val="0B7A75"/>
                  </a:solidFill>
                  <a:latin typeface="Consolas"/>
                  <a:ea typeface="Consolas"/>
                  <a:cs typeface="Consolas"/>
                </a:rPr>
                <a:t>CORE 0 · WI-FI + ESP-NOW STACK</a:t>
              </a:r>
            </a:p>
          </p:txBody>
        </p:sp>
        <p:sp>
          <p:nvSpPr>
            <p:cNvPr id="7" name="TextBox 7"/>
            <p:cNvSpPr txBox="1"/>
            <p:nvPr/>
          </p:nvSpPr>
          <p:spPr>
            <a:xfrm>
              <a:off x="829818" y="1911350"/>
              <a:ext cx="6172709" cy="322707"/>
            </a:xfrm>
            <a:prstGeom prst="rect">
              <a:avLst/>
            </a:prstGeom>
            <a:noFill/>
            <a:ln>
              <a:noFill/>
            </a:ln>
          </p:spPr>
          <p:txBody>
            <a:bodyPr wrap="none" lIns="0" tIns="0" rIns="0" bIns="0" anchor="t" anchorCtr="0">
              <a:spAutoFit/>
            </a:bodyPr>
            <a:lstStyle/>
            <a:p>
              <a:pPr algn="l"/>
              <a:r>
                <a:rPr lang="en" sz="1650" dirty="0">
                  <a:solidFill>
                    <a:srgbClr val="0E1B2C"/>
                  </a:solidFill>
                  <a:latin typeface="+mn-lt"/>
                  <a:ea typeface="+mn-ea"/>
                  <a:cs typeface="+mn-cs"/>
                </a:rPr>
                <a:t>Radio receives stick packets from the remote or the phone app</a:t>
              </a:r>
            </a:p>
          </p:txBody>
        </p:sp>
      </p:grpSp>
      <p:grpSp>
        <p:nvGrpSpPr>
          <p:cNvPr id="30" name="lane-flight"/>
          <p:cNvGrpSpPr/>
          <p:nvPr/>
        </p:nvGrpSpPr>
        <p:grpSpPr>
          <a:xfrm>
            <a:off x="609600" y="2286000"/>
            <a:ext cx="10972800" cy="1981200"/>
            <a:chOff x="609600" y="2286000"/>
            <a:chExt cx="10972800" cy="1981200"/>
          </a:xfrm>
        </p:grpSpPr>
        <p:sp>
          <p:nvSpPr>
            <p:cNvPr id="9" name="Rectangle 9"/>
            <p:cNvSpPr/>
            <p:nvPr/>
          </p:nvSpPr>
          <p:spPr>
            <a:xfrm>
              <a:off x="609600" y="2438400"/>
              <a:ext cx="10972800" cy="1828800"/>
            </a:xfrm>
            <a:prstGeom prst="roundRect">
              <a:avLst>
                <a:gd name="adj" fmla="val 6250"/>
              </a:avLst>
            </a:prstGeom>
            <a:solidFill>
              <a:srgbClr val="F3F6F9"/>
            </a:solidFill>
            <a:ln>
              <a:noFill/>
            </a:ln>
          </p:spPr>
        </p:sp>
        <p:sp>
          <p:nvSpPr>
            <p:cNvPr id="10" name="TextBox 10"/>
            <p:cNvSpPr txBox="1"/>
            <p:nvPr/>
          </p:nvSpPr>
          <p:spPr>
            <a:xfrm>
              <a:off x="831342" y="2597150"/>
              <a:ext cx="3363948" cy="264033"/>
            </a:xfrm>
            <a:prstGeom prst="rect">
              <a:avLst/>
            </a:prstGeom>
            <a:noFill/>
            <a:ln>
              <a:noFill/>
            </a:ln>
          </p:spPr>
          <p:txBody>
            <a:bodyPr wrap="none" lIns="0" tIns="0" rIns="0" bIns="0" anchor="t" anchorCtr="0">
              <a:spAutoFit/>
            </a:bodyPr>
            <a:lstStyle/>
            <a:p>
              <a:pPr algn="l"/>
              <a:r>
                <a:rPr lang="en" sz="1350" spc="75" dirty="0">
                  <a:solidFill>
                    <a:srgbClr val="C2410C"/>
                  </a:solidFill>
                  <a:latin typeface="Consolas"/>
                  <a:ea typeface="Consolas"/>
                  <a:cs typeface="Consolas"/>
                </a:rPr>
                <a:t>CORE 1 · FLIGHT TASK · 500 Hz</a:t>
              </a:r>
            </a:p>
          </p:txBody>
        </p:sp>
        <p:sp>
          <p:nvSpPr>
            <p:cNvPr id="11" name="Line 11"/>
            <p:cNvSpPr/>
            <p:nvPr/>
          </p:nvSpPr>
          <p:spPr>
            <a:xfrm>
              <a:off x="6191250" y="2286000"/>
              <a:ext cx="1" cy="628650"/>
            </a:xfrm>
            <a:prstGeom prst="line">
              <a:avLst/>
            </a:prstGeom>
            <a:noFill/>
            <a:ln w="28575">
              <a:solidFill>
                <a:srgbClr val="0B7A75"/>
              </a:solidFill>
              <a:tailEnd type="triangle" w="lg" len="lg"/>
            </a:ln>
          </p:spPr>
        </p:sp>
        <p:sp>
          <p:nvSpPr>
            <p:cNvPr id="12" name="TextBox 12"/>
            <p:cNvSpPr txBox="1"/>
            <p:nvPr/>
          </p:nvSpPr>
          <p:spPr>
            <a:xfrm>
              <a:off x="6337554" y="2622550"/>
              <a:ext cx="811835" cy="234696"/>
            </a:xfrm>
            <a:prstGeom prst="rect">
              <a:avLst/>
            </a:prstGeom>
            <a:noFill/>
            <a:ln>
              <a:noFill/>
            </a:ln>
          </p:spPr>
          <p:txBody>
            <a:bodyPr wrap="none" lIns="0" tIns="0" rIns="0" bIns="0" anchor="t" anchorCtr="0">
              <a:spAutoFit/>
            </a:bodyPr>
            <a:lstStyle/>
            <a:p>
              <a:pPr algn="l"/>
              <a:r>
                <a:rPr lang="en" sz="1200" dirty="0">
                  <a:solidFill>
                    <a:srgbClr val="0B7A75"/>
                  </a:solidFill>
                  <a:latin typeface="Consolas"/>
                  <a:ea typeface="Consolas"/>
                  <a:cs typeface="Consolas"/>
                </a:rPr>
                <a:t>setpoints</a:t>
              </a:r>
            </a:p>
          </p:txBody>
        </p:sp>
        <p:sp>
          <p:nvSpPr>
            <p:cNvPr id="13" name="Freeform 13"/>
            <p:cNvSpPr/>
            <p:nvPr/>
          </p:nvSpPr>
          <p:spPr>
            <a:xfrm>
              <a:off x="914400" y="3028950"/>
              <a:ext cx="2209800" cy="762000"/>
            </a:xfrm>
            <a:prstGeom prst="homePlate">
              <a:avLst/>
            </a:prstGeom>
            <a:solidFill>
              <a:srgbClr val="0E2A47"/>
            </a:solidFill>
            <a:ln>
              <a:noFill/>
            </a:ln>
          </p:spPr>
        </p:sp>
        <p:sp>
          <p:nvSpPr>
            <p:cNvPr id="14" name="Freeform 14"/>
            <p:cNvSpPr/>
            <p:nvPr/>
          </p:nvSpPr>
          <p:spPr>
            <a:xfrm>
              <a:off x="2952750" y="3028950"/>
              <a:ext cx="2209800" cy="762000"/>
            </a:xfrm>
            <a:prstGeom prst="chevron">
              <a:avLst/>
            </a:prstGeom>
            <a:solidFill>
              <a:srgbClr val="0E2A47"/>
            </a:solidFill>
            <a:ln>
              <a:noFill/>
            </a:ln>
          </p:spPr>
        </p:sp>
        <p:sp>
          <p:nvSpPr>
            <p:cNvPr id="15" name="Freeform 15"/>
            <p:cNvSpPr/>
            <p:nvPr/>
          </p:nvSpPr>
          <p:spPr>
            <a:xfrm>
              <a:off x="4991100" y="3028950"/>
              <a:ext cx="2209800" cy="762000"/>
            </a:xfrm>
            <a:prstGeom prst="chevron">
              <a:avLst/>
            </a:prstGeom>
            <a:solidFill>
              <a:srgbClr val="0E2A47"/>
            </a:solidFill>
            <a:ln>
              <a:noFill/>
            </a:ln>
          </p:spPr>
        </p:sp>
        <p:sp>
          <p:nvSpPr>
            <p:cNvPr id="16" name="Freeform 16"/>
            <p:cNvSpPr/>
            <p:nvPr/>
          </p:nvSpPr>
          <p:spPr>
            <a:xfrm>
              <a:off x="7029450" y="3028950"/>
              <a:ext cx="2209800" cy="762000"/>
            </a:xfrm>
            <a:prstGeom prst="chevron">
              <a:avLst/>
            </a:prstGeom>
            <a:solidFill>
              <a:srgbClr val="0E2A47"/>
            </a:solidFill>
            <a:ln>
              <a:noFill/>
            </a:ln>
          </p:spPr>
        </p:sp>
        <p:sp>
          <p:nvSpPr>
            <p:cNvPr id="17" name="Freeform 17"/>
            <p:cNvSpPr/>
            <p:nvPr/>
          </p:nvSpPr>
          <p:spPr>
            <a:xfrm>
              <a:off x="9067800" y="3028950"/>
              <a:ext cx="2209800" cy="762000"/>
            </a:xfrm>
            <a:prstGeom prst="chevron">
              <a:avLst/>
            </a:prstGeom>
            <a:solidFill>
              <a:srgbClr val="E8590C"/>
            </a:solidFill>
            <a:ln>
              <a:noFill/>
            </a:ln>
          </p:spPr>
        </p:sp>
        <p:grpSp>
          <p:nvGrpSpPr>
            <p:cNvPr id="23" name="Group 23"/>
            <p:cNvGrpSpPr/>
            <p:nvPr/>
          </p:nvGrpSpPr>
          <p:grpSpPr>
            <a:xfrm>
              <a:off x="1328370" y="3282950"/>
              <a:ext cx="9457041" cy="322707"/>
              <a:chOff x="1328370" y="3282950"/>
              <a:chExt cx="9457041" cy="322707"/>
            </a:xfrm>
          </p:grpSpPr>
          <p:sp>
            <p:nvSpPr>
              <p:cNvPr id="18" name="TextBox 18"/>
              <p:cNvSpPr txBox="1"/>
              <p:nvPr/>
            </p:nvSpPr>
            <p:spPr>
              <a:xfrm>
                <a:off x="1328370" y="3282950"/>
                <a:ext cx="1077059"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mn-lt"/>
                    <a:ea typeface="+mn-ea"/>
                    <a:cs typeface="+mn-cs"/>
                  </a:rPr>
                  <a:t>Read IMU</a:t>
                </a:r>
              </a:p>
            </p:txBody>
          </p:sp>
          <p:sp>
            <p:nvSpPr>
              <p:cNvPr id="19" name="TextBox 19"/>
              <p:cNvSpPr txBox="1"/>
              <p:nvPr/>
            </p:nvSpPr>
            <p:spPr>
              <a:xfrm>
                <a:off x="3907324" y="3282950"/>
                <a:ext cx="49115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mn-lt"/>
                    <a:ea typeface="+mn-ea"/>
                    <a:cs typeface="+mn-cs"/>
                  </a:rPr>
                  <a:t>Fuse</a:t>
                </a:r>
              </a:p>
            </p:txBody>
          </p:sp>
          <p:sp>
            <p:nvSpPr>
              <p:cNvPr id="20" name="TextBox 20"/>
              <p:cNvSpPr txBox="1"/>
              <p:nvPr/>
            </p:nvSpPr>
            <p:spPr>
              <a:xfrm>
                <a:off x="5987073" y="3282950"/>
                <a:ext cx="408354"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mn-lt"/>
                    <a:ea typeface="+mn-ea"/>
                    <a:cs typeface="+mn-cs"/>
                  </a:rPr>
                  <a:t>PID</a:t>
                </a:r>
              </a:p>
            </p:txBody>
          </p:sp>
          <p:sp>
            <p:nvSpPr>
              <p:cNvPr id="21" name="TextBox 21"/>
              <p:cNvSpPr txBox="1"/>
              <p:nvPr/>
            </p:nvSpPr>
            <p:spPr>
              <a:xfrm>
                <a:off x="8018271" y="3282950"/>
                <a:ext cx="422658"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mn-lt"/>
                    <a:ea typeface="+mn-ea"/>
                    <a:cs typeface="+mn-cs"/>
                  </a:rPr>
                  <a:t>Mix</a:t>
                </a:r>
              </a:p>
            </p:txBody>
          </p:sp>
          <p:sp>
            <p:nvSpPr>
              <p:cNvPr id="22" name="TextBox 22"/>
              <p:cNvSpPr txBox="1"/>
              <p:nvPr/>
            </p:nvSpPr>
            <p:spPr>
              <a:xfrm>
                <a:off x="9750489" y="3282950"/>
                <a:ext cx="103492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mn-lt"/>
                    <a:ea typeface="+mn-ea"/>
                    <a:cs typeface="+mn-cs"/>
                  </a:rPr>
                  <a:t>PWM out</a:t>
                </a:r>
              </a:p>
            </p:txBody>
          </p:sp>
        </p:grpSp>
        <p:grpSp>
          <p:nvGrpSpPr>
            <p:cNvPr id="29" name="Group 29"/>
            <p:cNvGrpSpPr/>
            <p:nvPr/>
          </p:nvGrpSpPr>
          <p:grpSpPr>
            <a:xfrm>
              <a:off x="1127074" y="3924300"/>
              <a:ext cx="9906340" cy="293370"/>
              <a:chOff x="1127074" y="3924300"/>
              <a:chExt cx="9906340" cy="293370"/>
            </a:xfrm>
          </p:grpSpPr>
          <p:sp>
            <p:nvSpPr>
              <p:cNvPr id="24" name="TextBox 24"/>
              <p:cNvSpPr txBox="1"/>
              <p:nvPr/>
            </p:nvSpPr>
            <p:spPr>
              <a:xfrm>
                <a:off x="1127074" y="3924300"/>
                <a:ext cx="1479652"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gyro + accel, I²C</a:t>
                </a:r>
              </a:p>
            </p:txBody>
          </p:sp>
          <p:sp>
            <p:nvSpPr>
              <p:cNvPr id="25" name="TextBox 25"/>
              <p:cNvSpPr txBox="1"/>
              <p:nvPr/>
            </p:nvSpPr>
            <p:spPr>
              <a:xfrm>
                <a:off x="3390082" y="3924300"/>
                <a:ext cx="1525636"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attitude estimate</a:t>
                </a:r>
              </a:p>
            </p:txBody>
          </p:sp>
          <p:sp>
            <p:nvSpPr>
              <p:cNvPr id="26" name="TextBox 26"/>
              <p:cNvSpPr txBox="1"/>
              <p:nvPr/>
            </p:nvSpPr>
            <p:spPr>
              <a:xfrm>
                <a:off x="5424292" y="3924300"/>
                <a:ext cx="1533915"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angle → rate loop</a:t>
                </a:r>
              </a:p>
            </p:txBody>
          </p:sp>
          <p:sp>
            <p:nvSpPr>
              <p:cNvPr id="27" name="TextBox 27"/>
              <p:cNvSpPr txBox="1"/>
              <p:nvPr/>
            </p:nvSpPr>
            <p:spPr>
              <a:xfrm>
                <a:off x="7597661" y="3924300"/>
                <a:ext cx="1263878"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Quad-X mixer</a:t>
                </a:r>
              </a:p>
            </p:txBody>
          </p:sp>
          <p:sp>
            <p:nvSpPr>
              <p:cNvPr id="28" name="TextBox 28"/>
              <p:cNvSpPr txBox="1"/>
              <p:nvPr/>
            </p:nvSpPr>
            <p:spPr>
              <a:xfrm>
                <a:off x="9502485" y="3924300"/>
                <a:ext cx="1530929"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4 motors, 16 kHz</a:t>
                </a:r>
              </a:p>
            </p:txBody>
          </p:sp>
        </p:grpSp>
      </p:grpSp>
      <p:grpSp>
        <p:nvGrpSpPr>
          <p:cNvPr id="48" name="lane-loop"/>
          <p:cNvGrpSpPr/>
          <p:nvPr/>
        </p:nvGrpSpPr>
        <p:grpSpPr>
          <a:xfrm>
            <a:off x="609600" y="4381500"/>
            <a:ext cx="10972800" cy="1314450"/>
            <a:chOff x="609600" y="4381500"/>
            <a:chExt cx="10972800" cy="1314450"/>
          </a:xfrm>
        </p:grpSpPr>
        <p:sp>
          <p:nvSpPr>
            <p:cNvPr id="31" name="Rectangle 31"/>
            <p:cNvSpPr/>
            <p:nvPr/>
          </p:nvSpPr>
          <p:spPr>
            <a:xfrm>
              <a:off x="609600" y="4381500"/>
              <a:ext cx="10972800" cy="1314450"/>
            </a:xfrm>
            <a:prstGeom prst="roundRect">
              <a:avLst>
                <a:gd name="adj" fmla="val 8696"/>
              </a:avLst>
            </a:prstGeom>
            <a:solidFill>
              <a:srgbClr val="FFF3EA"/>
            </a:solidFill>
            <a:ln>
              <a:noFill/>
            </a:ln>
          </p:spPr>
        </p:sp>
        <p:sp>
          <p:nvSpPr>
            <p:cNvPr id="32" name="TextBox 32"/>
            <p:cNvSpPr txBox="1"/>
            <p:nvPr/>
          </p:nvSpPr>
          <p:spPr>
            <a:xfrm>
              <a:off x="831342" y="4521200"/>
              <a:ext cx="3452261" cy="264033"/>
            </a:xfrm>
            <a:prstGeom prst="rect">
              <a:avLst/>
            </a:prstGeom>
            <a:noFill/>
            <a:ln>
              <a:noFill/>
            </a:ln>
          </p:spPr>
          <p:txBody>
            <a:bodyPr wrap="none" lIns="0" tIns="0" rIns="0" bIns="0" anchor="t" anchorCtr="0">
              <a:spAutoFit/>
            </a:bodyPr>
            <a:lstStyle/>
            <a:p>
              <a:pPr algn="l"/>
              <a:r>
                <a:rPr lang="en" sz="1350" spc="75" dirty="0">
                  <a:solidFill>
                    <a:srgbClr val="C2410C"/>
                  </a:solidFill>
                  <a:latin typeface="Consolas"/>
                  <a:ea typeface="Consolas"/>
                  <a:cs typeface="Consolas"/>
                </a:rPr>
                <a:t>CORE 1 · loop() · LOW PRIORITY</a:t>
              </a:r>
            </a:p>
          </p:txBody>
        </p:sp>
        <p:grpSp>
          <p:nvGrpSpPr>
            <p:cNvPr id="37" name="Group 37"/>
            <p:cNvGrpSpPr/>
            <p:nvPr/>
          </p:nvGrpSpPr>
          <p:grpSpPr>
            <a:xfrm>
              <a:off x="838200" y="4838700"/>
              <a:ext cx="10515600" cy="685800"/>
              <a:chOff x="838200" y="4838700"/>
              <a:chExt cx="10515600" cy="685800"/>
            </a:xfrm>
          </p:grpSpPr>
          <p:sp>
            <p:nvSpPr>
              <p:cNvPr id="33" name="Rectangle 33"/>
              <p:cNvSpPr/>
              <p:nvPr/>
            </p:nvSpPr>
            <p:spPr>
              <a:xfrm>
                <a:off x="838200" y="4838700"/>
                <a:ext cx="2495550" cy="685800"/>
              </a:xfrm>
              <a:prstGeom prst="roundRect">
                <a:avLst>
                  <a:gd name="adj" fmla="val 13889"/>
                </a:avLst>
              </a:prstGeom>
              <a:solidFill>
                <a:srgbClr val="FFFFFF"/>
              </a:solidFill>
              <a:ln w="14288">
                <a:solidFill>
                  <a:srgbClr val="E9CDB8"/>
                </a:solidFill>
              </a:ln>
            </p:spPr>
          </p:sp>
          <p:sp>
            <p:nvSpPr>
              <p:cNvPr id="34" name="Rectangle 34"/>
              <p:cNvSpPr/>
              <p:nvPr/>
            </p:nvSpPr>
            <p:spPr>
              <a:xfrm>
                <a:off x="3524250" y="4838700"/>
                <a:ext cx="2495550" cy="685800"/>
              </a:xfrm>
              <a:prstGeom prst="roundRect">
                <a:avLst>
                  <a:gd name="adj" fmla="val 13889"/>
                </a:avLst>
              </a:prstGeom>
              <a:solidFill>
                <a:srgbClr val="FFFFFF"/>
              </a:solidFill>
              <a:ln w="14288">
                <a:solidFill>
                  <a:srgbClr val="E9CDB8"/>
                </a:solidFill>
              </a:ln>
            </p:spPr>
          </p:sp>
          <p:sp>
            <p:nvSpPr>
              <p:cNvPr id="35" name="Rectangle 35"/>
              <p:cNvSpPr/>
              <p:nvPr/>
            </p:nvSpPr>
            <p:spPr>
              <a:xfrm>
                <a:off x="6210300" y="4838700"/>
                <a:ext cx="2495550" cy="685800"/>
              </a:xfrm>
              <a:prstGeom prst="roundRect">
                <a:avLst>
                  <a:gd name="adj" fmla="val 13889"/>
                </a:avLst>
              </a:prstGeom>
              <a:solidFill>
                <a:srgbClr val="FFFFFF"/>
              </a:solidFill>
              <a:ln w="14288">
                <a:solidFill>
                  <a:srgbClr val="E9CDB8"/>
                </a:solidFill>
              </a:ln>
            </p:spPr>
          </p:sp>
          <p:sp>
            <p:nvSpPr>
              <p:cNvPr id="36" name="Rectangle 36"/>
              <p:cNvSpPr/>
              <p:nvPr/>
            </p:nvSpPr>
            <p:spPr>
              <a:xfrm>
                <a:off x="8896350" y="4838700"/>
                <a:ext cx="2457450" cy="685800"/>
              </a:xfrm>
              <a:prstGeom prst="roundRect">
                <a:avLst>
                  <a:gd name="adj" fmla="val 13889"/>
                </a:avLst>
              </a:prstGeom>
              <a:solidFill>
                <a:srgbClr val="FFFFFF"/>
              </a:solidFill>
              <a:ln w="14288">
                <a:solidFill>
                  <a:srgbClr val="E9CDB8"/>
                </a:solidFill>
              </a:ln>
            </p:spPr>
          </p:sp>
        </p:grpSp>
        <p:grpSp>
          <p:nvGrpSpPr>
            <p:cNvPr id="42" name="Group 42"/>
            <p:cNvGrpSpPr/>
            <p:nvPr/>
          </p:nvGrpSpPr>
          <p:grpSpPr>
            <a:xfrm>
              <a:off x="1020318" y="4921250"/>
              <a:ext cx="9837081" cy="322707"/>
              <a:chOff x="1020318" y="4921250"/>
              <a:chExt cx="9837081" cy="322707"/>
            </a:xfrm>
          </p:grpSpPr>
          <p:sp>
            <p:nvSpPr>
              <p:cNvPr id="38" name="TextBox 38"/>
              <p:cNvSpPr txBox="1"/>
              <p:nvPr/>
            </p:nvSpPr>
            <p:spPr>
              <a:xfrm>
                <a:off x="1020318" y="4921250"/>
                <a:ext cx="1195500"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Commands</a:t>
                </a:r>
              </a:p>
            </p:txBody>
          </p:sp>
          <p:sp>
            <p:nvSpPr>
              <p:cNvPr id="39" name="TextBox 39"/>
              <p:cNvSpPr txBox="1"/>
              <p:nvPr/>
            </p:nvSpPr>
            <p:spPr>
              <a:xfrm>
                <a:off x="3706368" y="4921250"/>
                <a:ext cx="1074997"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Telemetry</a:t>
                </a:r>
              </a:p>
            </p:txBody>
          </p:sp>
          <p:sp>
            <p:nvSpPr>
              <p:cNvPr id="40" name="TextBox 40"/>
              <p:cNvSpPr txBox="1"/>
              <p:nvPr/>
            </p:nvSpPr>
            <p:spPr>
              <a:xfrm>
                <a:off x="6392418" y="4921250"/>
                <a:ext cx="1487393"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Battery + LED</a:t>
                </a:r>
              </a:p>
            </p:txBody>
          </p:sp>
          <p:sp>
            <p:nvSpPr>
              <p:cNvPr id="41" name="TextBox 41"/>
              <p:cNvSpPr txBox="1"/>
              <p:nvPr/>
            </p:nvSpPr>
            <p:spPr>
              <a:xfrm>
                <a:off x="9078468" y="4921250"/>
                <a:ext cx="1778931"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Motor watchdog</a:t>
                </a:r>
              </a:p>
            </p:txBody>
          </p:sp>
        </p:grpSp>
        <p:grpSp>
          <p:nvGrpSpPr>
            <p:cNvPr id="47" name="Group 47"/>
            <p:cNvGrpSpPr/>
            <p:nvPr/>
          </p:nvGrpSpPr>
          <p:grpSpPr>
            <a:xfrm>
              <a:off x="1021080" y="5200650"/>
              <a:ext cx="10043338" cy="293370"/>
              <a:chOff x="1021080" y="5200650"/>
              <a:chExt cx="10043338" cy="293370"/>
            </a:xfrm>
          </p:grpSpPr>
          <p:sp>
            <p:nvSpPr>
              <p:cNvPr id="43" name="TextBox 43"/>
              <p:cNvSpPr txBox="1"/>
              <p:nvPr/>
            </p:nvSpPr>
            <p:spPr>
              <a:xfrm>
                <a:off x="1021080" y="5200650"/>
                <a:ext cx="1597604"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serial + web page</a:t>
                </a:r>
              </a:p>
            </p:txBody>
          </p:sp>
          <p:sp>
            <p:nvSpPr>
              <p:cNvPr id="44" name="TextBox 44"/>
              <p:cNvSpPr txBox="1"/>
              <p:nvPr/>
            </p:nvSpPr>
            <p:spPr>
              <a:xfrm>
                <a:off x="3707130" y="5200650"/>
                <a:ext cx="1343859"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 blackbox log</a:t>
                </a:r>
              </a:p>
            </p:txBody>
          </p:sp>
          <p:sp>
            <p:nvSpPr>
              <p:cNvPr id="45" name="TextBox 45"/>
              <p:cNvSpPr txBox="1"/>
              <p:nvPr/>
            </p:nvSpPr>
            <p:spPr>
              <a:xfrm>
                <a:off x="6393180" y="5200650"/>
                <a:ext cx="1299212"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voltage, status</a:t>
                </a:r>
              </a:p>
            </p:txBody>
          </p:sp>
          <p:sp>
            <p:nvSpPr>
              <p:cNvPr id="46" name="TextBox 46"/>
              <p:cNvSpPr txBox="1"/>
              <p:nvPr/>
            </p:nvSpPr>
            <p:spPr>
              <a:xfrm>
                <a:off x="9079230" y="5200650"/>
                <a:ext cx="1985188"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task silent 50 ms → cut</a:t>
                </a:r>
              </a:p>
            </p:txBody>
          </p:sp>
        </p:grpSp>
      </p:grpSp>
      <p:grpSp>
        <p:nvGrpSpPr>
          <p:cNvPr id="50" name="rule-note"/>
          <p:cNvGrpSpPr/>
          <p:nvPr/>
        </p:nvGrpSpPr>
        <p:grpSpPr>
          <a:xfrm>
            <a:off x="601218" y="5892800"/>
            <a:ext cx="8482365" cy="322707"/>
            <a:chOff x="601218" y="5892800"/>
            <a:chExt cx="8482365" cy="322707"/>
          </a:xfrm>
        </p:grpSpPr>
        <p:sp>
          <p:nvSpPr>
            <p:cNvPr id="49" name="TextBox 49"/>
            <p:cNvSpPr txBox="1"/>
            <p:nvPr/>
          </p:nvSpPr>
          <p:spPr>
            <a:xfrm>
              <a:off x="601218" y="5892800"/>
              <a:ext cx="8482365"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Rule:</a:t>
              </a:r>
              <a:r>
                <a:rPr lang="en" sz="1650" dirty="0">
                  <a:solidFill>
                    <a:srgbClr val="0E1B2C"/>
                  </a:solidFill>
                  <a:latin typeface="+mn-lt"/>
                  <a:ea typeface="+mn-ea"/>
                  <a:cs typeface="+mn-cs"/>
                </a:rPr>
                <a:t> only the flight task touches I²C and the motors; the rest uses locked shared data.</a:t>
              </a:r>
            </a:p>
          </p:txBody>
        </p:sp>
      </p:grpSp>
      <p:grpSp>
        <p:nvGrpSpPr>
          <p:cNvPr id="53" name="footer"/>
          <p:cNvGrpSpPr/>
          <p:nvPr/>
        </p:nvGrpSpPr>
        <p:grpSpPr>
          <a:xfrm>
            <a:off x="603504" y="6457950"/>
            <a:ext cx="10984992" cy="247396"/>
            <a:chOff x="603504" y="6457950"/>
            <a:chExt cx="10984992" cy="247396"/>
          </a:xfrm>
        </p:grpSpPr>
        <p:sp>
          <p:nvSpPr>
            <p:cNvPr id="51" name="TextBox 51"/>
            <p:cNvSpPr txBox="1"/>
            <p:nvPr/>
          </p:nvSpPr>
          <p:spPr>
            <a:xfrm>
              <a:off x="603504" y="6457950"/>
              <a:ext cx="3910371"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Arduino framework on FreeRTOS · no external libraries</a:t>
              </a:r>
            </a:p>
          </p:txBody>
        </p:sp>
        <p:sp>
          <p:nvSpPr>
            <p:cNvPr id="52" name="TextBox 52"/>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10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id="9" presetID="22" presetClass="entr" presetSubtype="2" fill="hold" nodeType="afterEffect">
                                  <p:stCondLst>
                                    <p:cond delay="100"/>
                                  </p:stCondLst>
                                  <p:childTnLst>
                                    <p:set>
                                      <p:cBhvr>
                                        <p:cTn id="10" dur="1" fill="hold">
                                          <p:stCondLst>
                                            <p:cond delay="0"/>
                                          </p:stCondLst>
                                        </p:cTn>
                                        <p:tgtEl>
                                          <p:spTgt spid="30"/>
                                        </p:tgtEl>
                                        <p:attrNameLst>
                                          <p:attrName>style.visibility</p:attrName>
                                        </p:attrNameLst>
                                      </p:cBhvr>
                                      <p:to>
                                        <p:strVal val="visible"/>
                                      </p:to>
                                    </p:set>
                                    <p:animEffect transition="in" filter="wipe(right)">
                                      <p:cBhvr>
                                        <p:cTn id="11" dur="800"/>
                                        <p:tgtEl>
                                          <p:spTgt spid="30"/>
                                        </p:tgtEl>
                                      </p:cBhvr>
                                    </p:animEffect>
                                  </p:childTnLst>
                                </p:cTn>
                              </p:par>
                            </p:childTnLst>
                          </p:cTn>
                        </p:par>
                        <p:par>
                          <p:cTn id="12" fill="hold">
                            <p:stCondLst>
                              <p:cond delay="1350"/>
                            </p:stCondLst>
                            <p:childTnLst>
                              <p:par>
                                <p:cTn id="13" presetID="10" presetClass="entr" presetSubtype="0" fill="hold" nodeType="afterEffect">
                                  <p:stCondLst>
                                    <p:cond delay="10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450"/>
                                        <p:tgtEl>
                                          <p:spTgt spid="48"/>
                                        </p:tgtEl>
                                      </p:cBhvr>
                                    </p:animEffect>
                                  </p:childTnLst>
                                </p:cTn>
                              </p:par>
                            </p:childTnLst>
                          </p:cTn>
                        </p:par>
                        <p:par>
                          <p:cTn id="16" fill="hold">
                            <p:stCondLst>
                              <p:cond delay="1900"/>
                            </p:stCondLst>
                            <p:childTnLst>
                              <p:par>
                                <p:cTn id="17" presetID="10" presetClass="entr" presetSubtype="0" fill="hold" nodeType="afterEffect">
                                  <p:stCondLst>
                                    <p:cond delay="10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4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4541325" cy="880364"/>
            <a:chOff x="592836" y="539750"/>
            <a:chExt cx="4541325" cy="880364"/>
          </a:xfrm>
        </p:grpSpPr>
        <p:sp>
          <p:nvSpPr>
            <p:cNvPr id="2" name="TextBox 2"/>
            <p:cNvSpPr txBox="1"/>
            <p:nvPr/>
          </p:nvSpPr>
          <p:spPr>
            <a:xfrm>
              <a:off x="602742" y="539750"/>
              <a:ext cx="2150516"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11 / CONTROL LOOP</a:t>
              </a:r>
            </a:p>
          </p:txBody>
        </p:sp>
        <p:sp>
          <p:nvSpPr>
            <p:cNvPr id="3" name="TextBox 3"/>
            <p:cNvSpPr txBox="1"/>
            <p:nvPr/>
          </p:nvSpPr>
          <p:spPr>
            <a:xfrm>
              <a:off x="592836" y="774700"/>
              <a:ext cx="4541325"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Inside every 2 ms tick</a:t>
              </a:r>
            </a:p>
          </p:txBody>
        </p:sp>
      </p:grpSp>
      <p:grpSp>
        <p:nvGrpSpPr>
          <p:cNvPr id="39" name="cascade"/>
          <p:cNvGrpSpPr/>
          <p:nvPr/>
        </p:nvGrpSpPr>
        <p:grpSpPr>
          <a:xfrm>
            <a:off x="609600" y="1460500"/>
            <a:ext cx="10972800" cy="2216150"/>
            <a:chOff x="609600" y="1460500"/>
            <a:chExt cx="10972800" cy="2216150"/>
          </a:xfrm>
        </p:grpSpPr>
        <p:grpSp>
          <p:nvGrpSpPr>
            <p:cNvPr id="9" name="Group 9"/>
            <p:cNvGrpSpPr/>
            <p:nvPr/>
          </p:nvGrpSpPr>
          <p:grpSpPr>
            <a:xfrm>
              <a:off x="609600" y="1676400"/>
              <a:ext cx="9010650" cy="914400"/>
              <a:chOff x="609600" y="1676400"/>
              <a:chExt cx="9010650" cy="914400"/>
            </a:xfrm>
          </p:grpSpPr>
          <p:sp>
            <p:nvSpPr>
              <p:cNvPr id="5" name="Rectangle 5"/>
              <p:cNvSpPr/>
              <p:nvPr/>
            </p:nvSpPr>
            <p:spPr>
              <a:xfrm>
                <a:off x="609600" y="1676400"/>
                <a:ext cx="1752600" cy="914400"/>
              </a:xfrm>
              <a:prstGeom prst="roundRect">
                <a:avLst>
                  <a:gd name="adj" fmla="val 12500"/>
                </a:avLst>
              </a:prstGeom>
              <a:solidFill>
                <a:srgbClr val="FFFFFF"/>
              </a:solidFill>
              <a:ln w="19050">
                <a:solidFill>
                  <a:srgbClr val="0E2A47"/>
                </a:solidFill>
              </a:ln>
            </p:spPr>
          </p:sp>
          <p:sp>
            <p:nvSpPr>
              <p:cNvPr id="6" name="Rectangle 6"/>
              <p:cNvSpPr/>
              <p:nvPr/>
            </p:nvSpPr>
            <p:spPr>
              <a:xfrm>
                <a:off x="2971800" y="1676400"/>
                <a:ext cx="2000250" cy="914400"/>
              </a:xfrm>
              <a:prstGeom prst="roundRect">
                <a:avLst>
                  <a:gd name="adj" fmla="val 12500"/>
                </a:avLst>
              </a:prstGeom>
              <a:solidFill>
                <a:srgbClr val="FFFFFF"/>
              </a:solidFill>
              <a:ln w="19050">
                <a:solidFill>
                  <a:srgbClr val="0E2A47"/>
                </a:solidFill>
              </a:ln>
            </p:spPr>
          </p:sp>
          <p:sp>
            <p:nvSpPr>
              <p:cNvPr id="7" name="Rectangle 7"/>
              <p:cNvSpPr/>
              <p:nvPr/>
            </p:nvSpPr>
            <p:spPr>
              <a:xfrm>
                <a:off x="5581650" y="1676400"/>
                <a:ext cx="2000250" cy="914400"/>
              </a:xfrm>
              <a:prstGeom prst="roundRect">
                <a:avLst>
                  <a:gd name="adj" fmla="val 12500"/>
                </a:avLst>
              </a:prstGeom>
              <a:solidFill>
                <a:srgbClr val="FFFFFF"/>
              </a:solidFill>
              <a:ln w="19050">
                <a:solidFill>
                  <a:srgbClr val="0E2A47"/>
                </a:solidFill>
              </a:ln>
            </p:spPr>
          </p:sp>
          <p:sp>
            <p:nvSpPr>
              <p:cNvPr id="8" name="Rectangle 8"/>
              <p:cNvSpPr/>
              <p:nvPr/>
            </p:nvSpPr>
            <p:spPr>
              <a:xfrm>
                <a:off x="8191500" y="1676400"/>
                <a:ext cx="1428750" cy="914400"/>
              </a:xfrm>
              <a:prstGeom prst="roundRect">
                <a:avLst>
                  <a:gd name="adj" fmla="val 12500"/>
                </a:avLst>
              </a:prstGeom>
              <a:solidFill>
                <a:srgbClr val="FFFFFF"/>
              </a:solidFill>
              <a:ln w="19050">
                <a:solidFill>
                  <a:srgbClr val="0E2A47"/>
                </a:solidFill>
              </a:ln>
            </p:spPr>
          </p:sp>
        </p:grpSp>
        <p:sp>
          <p:nvSpPr>
            <p:cNvPr id="10" name="Rectangle 10"/>
            <p:cNvSpPr/>
            <p:nvPr/>
          </p:nvSpPr>
          <p:spPr>
            <a:xfrm>
              <a:off x="10210800" y="1676400"/>
              <a:ext cx="1371600" cy="914400"/>
            </a:xfrm>
            <a:prstGeom prst="roundRect">
              <a:avLst>
                <a:gd name="adj" fmla="val 12500"/>
              </a:avLst>
            </a:prstGeom>
            <a:solidFill>
              <a:srgbClr val="E8590C"/>
            </a:solidFill>
            <a:ln>
              <a:noFill/>
            </a:ln>
          </p:spPr>
        </p:sp>
        <p:grpSp>
          <p:nvGrpSpPr>
            <p:cNvPr id="16" name="Group 16"/>
            <p:cNvGrpSpPr/>
            <p:nvPr/>
          </p:nvGrpSpPr>
          <p:grpSpPr>
            <a:xfrm>
              <a:off x="962459" y="1854200"/>
              <a:ext cx="10324445" cy="322707"/>
              <a:chOff x="962459" y="1854200"/>
              <a:chExt cx="10324445" cy="322707"/>
            </a:xfrm>
          </p:grpSpPr>
          <p:sp>
            <p:nvSpPr>
              <p:cNvPr id="11" name="TextBox 11"/>
              <p:cNvSpPr txBox="1"/>
              <p:nvPr/>
            </p:nvSpPr>
            <p:spPr>
              <a:xfrm>
                <a:off x="962459" y="1854200"/>
                <a:ext cx="1046882" cy="322707"/>
              </a:xfrm>
              <a:prstGeom prst="rect">
                <a:avLst/>
              </a:prstGeom>
              <a:noFill/>
              <a:ln>
                <a:noFill/>
              </a:ln>
            </p:spPr>
            <p:txBody>
              <a:bodyPr wrap="none" lIns="0" tIns="0" rIns="0" bIns="0" anchor="t" anchorCtr="0">
                <a:spAutoFit/>
              </a:bodyPr>
              <a:lstStyle/>
              <a:p>
                <a:pPr algn="ctr"/>
                <a:r>
                  <a:rPr lang="en" sz="1650" b="1" dirty="0">
                    <a:solidFill>
                      <a:srgbClr val="0E1B2C"/>
                    </a:solidFill>
                    <a:latin typeface="+mn-lt"/>
                    <a:ea typeface="+mn-ea"/>
                    <a:cs typeface="+mn-cs"/>
                  </a:rPr>
                  <a:t>Pilot stick</a:t>
                </a:r>
              </a:p>
            </p:txBody>
          </p:sp>
          <p:sp>
            <p:nvSpPr>
              <p:cNvPr id="12" name="TextBox 12"/>
              <p:cNvSpPr txBox="1"/>
              <p:nvPr/>
            </p:nvSpPr>
            <p:spPr>
              <a:xfrm>
                <a:off x="3387398" y="1854200"/>
                <a:ext cx="1169054" cy="322707"/>
              </a:xfrm>
              <a:prstGeom prst="rect">
                <a:avLst/>
              </a:prstGeom>
              <a:noFill/>
              <a:ln>
                <a:noFill/>
              </a:ln>
            </p:spPr>
            <p:txBody>
              <a:bodyPr wrap="none" lIns="0" tIns="0" rIns="0" bIns="0" anchor="t" anchorCtr="0">
                <a:spAutoFit/>
              </a:bodyPr>
              <a:lstStyle/>
              <a:p>
                <a:pPr algn="ctr"/>
                <a:r>
                  <a:rPr lang="en" sz="1650" b="1" dirty="0">
                    <a:solidFill>
                      <a:srgbClr val="0E1B2C"/>
                    </a:solidFill>
                    <a:latin typeface="+mn-lt"/>
                    <a:ea typeface="+mn-ea"/>
                    <a:cs typeface="+mn-cs"/>
                  </a:rPr>
                  <a:t>Angle loop</a:t>
                </a:r>
              </a:p>
            </p:txBody>
          </p:sp>
          <p:sp>
            <p:nvSpPr>
              <p:cNvPr id="13" name="TextBox 13"/>
              <p:cNvSpPr txBox="1"/>
              <p:nvPr/>
            </p:nvSpPr>
            <p:spPr>
              <a:xfrm>
                <a:off x="6067407" y="1854200"/>
                <a:ext cx="1028736" cy="322707"/>
              </a:xfrm>
              <a:prstGeom prst="rect">
                <a:avLst/>
              </a:prstGeom>
              <a:noFill/>
              <a:ln>
                <a:noFill/>
              </a:ln>
            </p:spPr>
            <p:txBody>
              <a:bodyPr wrap="none" lIns="0" tIns="0" rIns="0" bIns="0" anchor="t" anchorCtr="0">
                <a:spAutoFit/>
              </a:bodyPr>
              <a:lstStyle/>
              <a:p>
                <a:pPr algn="ctr"/>
                <a:r>
                  <a:rPr lang="en" sz="1650" b="1" dirty="0">
                    <a:solidFill>
                      <a:srgbClr val="0E1B2C"/>
                    </a:solidFill>
                    <a:latin typeface="+mn-lt"/>
                    <a:ea typeface="+mn-ea"/>
                    <a:cs typeface="+mn-cs"/>
                  </a:rPr>
                  <a:t>Rate loop</a:t>
                </a:r>
              </a:p>
            </p:txBody>
          </p:sp>
          <p:sp>
            <p:nvSpPr>
              <p:cNvPr id="14" name="TextBox 14"/>
              <p:cNvSpPr txBox="1"/>
              <p:nvPr/>
            </p:nvSpPr>
            <p:spPr>
              <a:xfrm>
                <a:off x="8590582" y="1854200"/>
                <a:ext cx="630586" cy="322707"/>
              </a:xfrm>
              <a:prstGeom prst="rect">
                <a:avLst/>
              </a:prstGeom>
              <a:noFill/>
              <a:ln>
                <a:noFill/>
              </a:ln>
            </p:spPr>
            <p:txBody>
              <a:bodyPr wrap="none" lIns="0" tIns="0" rIns="0" bIns="0" anchor="t" anchorCtr="0">
                <a:spAutoFit/>
              </a:bodyPr>
              <a:lstStyle/>
              <a:p>
                <a:pPr algn="ctr"/>
                <a:r>
                  <a:rPr lang="en" sz="1650" b="1" dirty="0">
                    <a:solidFill>
                      <a:srgbClr val="0E1B2C"/>
                    </a:solidFill>
                    <a:latin typeface="+mn-lt"/>
                    <a:ea typeface="+mn-ea"/>
                    <a:cs typeface="+mn-cs"/>
                  </a:rPr>
                  <a:t>Mixer</a:t>
                </a:r>
              </a:p>
            </p:txBody>
          </p:sp>
          <p:sp>
            <p:nvSpPr>
              <p:cNvPr id="15" name="TextBox 15"/>
              <p:cNvSpPr txBox="1"/>
              <p:nvPr/>
            </p:nvSpPr>
            <p:spPr>
              <a:xfrm>
                <a:off x="10506295" y="1854200"/>
                <a:ext cx="780609"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mn-lt"/>
                    <a:ea typeface="+mn-ea"/>
                    <a:cs typeface="+mn-cs"/>
                  </a:rPr>
                  <a:t>Motors</a:t>
                </a:r>
              </a:p>
            </p:txBody>
          </p:sp>
        </p:grpSp>
        <p:grpSp>
          <p:nvGrpSpPr>
            <p:cNvPr id="22" name="Group 22"/>
            <p:cNvGrpSpPr/>
            <p:nvPr/>
          </p:nvGrpSpPr>
          <p:grpSpPr>
            <a:xfrm>
              <a:off x="1002482" y="2171700"/>
              <a:ext cx="10261697" cy="293370"/>
              <a:chOff x="1002482" y="2171700"/>
              <a:chExt cx="10261697" cy="293370"/>
            </a:xfrm>
          </p:grpSpPr>
          <p:sp>
            <p:nvSpPr>
              <p:cNvPr id="17" name="TextBox 17"/>
              <p:cNvSpPr txBox="1"/>
              <p:nvPr/>
            </p:nvSpPr>
            <p:spPr>
              <a:xfrm>
                <a:off x="1002482" y="2171700"/>
                <a:ext cx="966835"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±500 units</a:t>
                </a:r>
              </a:p>
            </p:txBody>
          </p:sp>
          <p:sp>
            <p:nvSpPr>
              <p:cNvPr id="18" name="TextBox 18"/>
              <p:cNvSpPr txBox="1"/>
              <p:nvPr/>
            </p:nvSpPr>
            <p:spPr>
              <a:xfrm>
                <a:off x="3715623" y="2171700"/>
                <a:ext cx="512603"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P × 4</a:t>
                </a:r>
              </a:p>
            </p:txBody>
          </p:sp>
          <p:sp>
            <p:nvSpPr>
              <p:cNvPr id="19" name="TextBox 19"/>
              <p:cNvSpPr txBox="1"/>
              <p:nvPr/>
            </p:nvSpPr>
            <p:spPr>
              <a:xfrm>
                <a:off x="6061358" y="2171700"/>
                <a:ext cx="1040833"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PID vs gyro</a:t>
                </a:r>
              </a:p>
            </p:txBody>
          </p:sp>
          <p:sp>
            <p:nvSpPr>
              <p:cNvPr id="20" name="TextBox 20"/>
              <p:cNvSpPr txBox="1"/>
              <p:nvPr/>
            </p:nvSpPr>
            <p:spPr>
              <a:xfrm>
                <a:off x="8546458" y="2171700"/>
                <a:ext cx="718834" cy="293370"/>
              </a:xfrm>
              <a:prstGeom prst="rect">
                <a:avLst/>
              </a:prstGeom>
              <a:noFill/>
              <a:ln>
                <a:noFill/>
              </a:ln>
            </p:spPr>
            <p:txBody>
              <a:bodyPr wrap="none" lIns="0" tIns="0" rIns="0" bIns="0" anchor="t" anchorCtr="0">
                <a:spAutoFit/>
              </a:bodyPr>
              <a:lstStyle/>
              <a:p>
                <a:pPr algn="ctr"/>
                <a:r>
                  <a:rPr lang="en" sz="1500" dirty="0">
                    <a:solidFill>
                      <a:srgbClr val="4A5A6E"/>
                    </a:solidFill>
                    <a:latin typeface="+mn-lt"/>
                    <a:ea typeface="+mn-ea"/>
                    <a:cs typeface="+mn-cs"/>
                  </a:rPr>
                  <a:t>Quad-X</a:t>
                </a:r>
              </a:p>
            </p:txBody>
          </p:sp>
          <p:sp>
            <p:nvSpPr>
              <p:cNvPr id="21" name="TextBox 21"/>
              <p:cNvSpPr txBox="1"/>
              <p:nvPr/>
            </p:nvSpPr>
            <p:spPr>
              <a:xfrm>
                <a:off x="10529020" y="2171700"/>
                <a:ext cx="735159" cy="293370"/>
              </a:xfrm>
              <a:prstGeom prst="rect">
                <a:avLst/>
              </a:prstGeom>
              <a:noFill/>
              <a:ln>
                <a:noFill/>
              </a:ln>
            </p:spPr>
            <p:txBody>
              <a:bodyPr wrap="none" lIns="0" tIns="0" rIns="0" bIns="0" anchor="t" anchorCtr="0">
                <a:spAutoFit/>
              </a:bodyPr>
              <a:lstStyle/>
              <a:p>
                <a:pPr algn="ctr"/>
                <a:r>
                  <a:rPr lang="en" sz="1500" dirty="0">
                    <a:solidFill>
                      <a:srgbClr val="FFFFFF"/>
                    </a:solidFill>
                    <a:latin typeface="+mn-lt"/>
                    <a:ea typeface="+mn-ea"/>
                    <a:cs typeface="+mn-cs"/>
                  </a:rPr>
                  <a:t>M1–M4</a:t>
                </a:r>
              </a:p>
            </p:txBody>
          </p:sp>
        </p:grpSp>
        <p:grpSp>
          <p:nvGrpSpPr>
            <p:cNvPr id="27" name="Group 27"/>
            <p:cNvGrpSpPr/>
            <p:nvPr/>
          </p:nvGrpSpPr>
          <p:grpSpPr>
            <a:xfrm>
              <a:off x="2362200" y="2133600"/>
              <a:ext cx="7791450" cy="1"/>
              <a:chOff x="2362200" y="2133600"/>
              <a:chExt cx="7791450" cy="1"/>
            </a:xfrm>
          </p:grpSpPr>
          <p:sp>
            <p:nvSpPr>
              <p:cNvPr id="23" name="Line 23"/>
              <p:cNvSpPr/>
              <p:nvPr/>
            </p:nvSpPr>
            <p:spPr>
              <a:xfrm>
                <a:off x="2362200" y="2133600"/>
                <a:ext cx="552450" cy="1"/>
              </a:xfrm>
              <a:prstGeom prst="line">
                <a:avLst/>
              </a:prstGeom>
              <a:noFill/>
              <a:ln w="28575">
                <a:solidFill>
                  <a:srgbClr val="0E2A47"/>
                </a:solidFill>
                <a:tailEnd type="triangle" w="lg" len="lg"/>
              </a:ln>
            </p:spPr>
          </p:sp>
          <p:sp>
            <p:nvSpPr>
              <p:cNvPr id="24" name="Line 24"/>
              <p:cNvSpPr/>
              <p:nvPr/>
            </p:nvSpPr>
            <p:spPr>
              <a:xfrm>
                <a:off x="4972050" y="2133600"/>
                <a:ext cx="552450" cy="1"/>
              </a:xfrm>
              <a:prstGeom prst="line">
                <a:avLst/>
              </a:prstGeom>
              <a:noFill/>
              <a:ln w="28575">
                <a:solidFill>
                  <a:srgbClr val="0E2A47"/>
                </a:solidFill>
                <a:tailEnd type="triangle" w="lg" len="lg"/>
              </a:ln>
            </p:spPr>
          </p:sp>
          <p:sp>
            <p:nvSpPr>
              <p:cNvPr id="25" name="Line 25"/>
              <p:cNvSpPr/>
              <p:nvPr/>
            </p:nvSpPr>
            <p:spPr>
              <a:xfrm>
                <a:off x="7581900" y="2133600"/>
                <a:ext cx="552450" cy="1"/>
              </a:xfrm>
              <a:prstGeom prst="line">
                <a:avLst/>
              </a:prstGeom>
              <a:noFill/>
              <a:ln w="28575">
                <a:solidFill>
                  <a:srgbClr val="0E2A47"/>
                </a:solidFill>
                <a:tailEnd type="triangle" w="lg" len="lg"/>
              </a:ln>
            </p:spPr>
          </p:sp>
          <p:sp>
            <p:nvSpPr>
              <p:cNvPr id="26" name="Line 26"/>
              <p:cNvSpPr/>
              <p:nvPr/>
            </p:nvSpPr>
            <p:spPr>
              <a:xfrm>
                <a:off x="9620250" y="2133600"/>
                <a:ext cx="533400" cy="1"/>
              </a:xfrm>
              <a:prstGeom prst="line">
                <a:avLst/>
              </a:prstGeom>
              <a:noFill/>
              <a:ln w="28575">
                <a:solidFill>
                  <a:srgbClr val="0E2A47"/>
                </a:solidFill>
                <a:tailEnd type="triangle" w="lg" len="lg"/>
              </a:ln>
            </p:spPr>
          </p:sp>
        </p:grpSp>
        <p:grpSp>
          <p:nvGrpSpPr>
            <p:cNvPr id="31" name="Group 31"/>
            <p:cNvGrpSpPr/>
            <p:nvPr/>
          </p:nvGrpSpPr>
          <p:grpSpPr>
            <a:xfrm>
              <a:off x="2438781" y="1460500"/>
              <a:ext cx="5736412" cy="234696"/>
              <a:chOff x="2438781" y="1460500"/>
              <a:chExt cx="5736412" cy="234696"/>
            </a:xfrm>
          </p:grpSpPr>
          <p:sp>
            <p:nvSpPr>
              <p:cNvPr id="28" name="TextBox 28"/>
              <p:cNvSpPr txBox="1"/>
              <p:nvPr/>
            </p:nvSpPr>
            <p:spPr>
              <a:xfrm>
                <a:off x="2438781" y="1460500"/>
                <a:ext cx="456438" cy="234696"/>
              </a:xfrm>
              <a:prstGeom prst="rect">
                <a:avLst/>
              </a:prstGeom>
              <a:noFill/>
              <a:ln>
                <a:noFill/>
              </a:ln>
            </p:spPr>
            <p:txBody>
              <a:bodyPr wrap="none" lIns="0" tIns="0" rIns="0" bIns="0" anchor="t" anchorCtr="0">
                <a:spAutoFit/>
              </a:bodyPr>
              <a:lstStyle/>
              <a:p>
                <a:pPr algn="ctr"/>
                <a:r>
                  <a:rPr lang="en" sz="1200" dirty="0">
                    <a:solidFill>
                      <a:srgbClr val="C2410C"/>
                    </a:solidFill>
                    <a:latin typeface="Consolas"/>
                    <a:ea typeface="Consolas"/>
                    <a:cs typeface="Consolas"/>
                  </a:rPr>
                  <a:t>≤ 30°</a:t>
                </a:r>
              </a:p>
            </p:txBody>
          </p:sp>
          <p:sp>
            <p:nvSpPr>
              <p:cNvPr id="29" name="TextBox 29"/>
              <p:cNvSpPr txBox="1"/>
              <p:nvPr/>
            </p:nvSpPr>
            <p:spPr>
              <a:xfrm>
                <a:off x="4886782" y="1460500"/>
                <a:ext cx="722986" cy="234696"/>
              </a:xfrm>
              <a:prstGeom prst="rect">
                <a:avLst/>
              </a:prstGeom>
              <a:noFill/>
              <a:ln>
                <a:noFill/>
              </a:ln>
            </p:spPr>
            <p:txBody>
              <a:bodyPr wrap="none" lIns="0" tIns="0" rIns="0" bIns="0" anchor="t" anchorCtr="0">
                <a:spAutoFit/>
              </a:bodyPr>
              <a:lstStyle/>
              <a:p>
                <a:pPr algn="ctr"/>
                <a:r>
                  <a:rPr lang="en" sz="1200" dirty="0">
                    <a:solidFill>
                      <a:srgbClr val="C2410C"/>
                    </a:solidFill>
                    <a:latin typeface="Consolas"/>
                    <a:ea typeface="Consolas"/>
                    <a:cs typeface="Consolas"/>
                  </a:rPr>
                  <a:t>≤ 200°/s</a:t>
                </a:r>
              </a:p>
            </p:txBody>
          </p:sp>
          <p:sp>
            <p:nvSpPr>
              <p:cNvPr id="30" name="TextBox 30"/>
              <p:cNvSpPr txBox="1"/>
              <p:nvPr/>
            </p:nvSpPr>
            <p:spPr>
              <a:xfrm>
                <a:off x="7541057" y="1460500"/>
                <a:ext cx="634136" cy="234696"/>
              </a:xfrm>
              <a:prstGeom prst="rect">
                <a:avLst/>
              </a:prstGeom>
              <a:noFill/>
              <a:ln>
                <a:noFill/>
              </a:ln>
            </p:spPr>
            <p:txBody>
              <a:bodyPr wrap="none" lIns="0" tIns="0" rIns="0" bIns="0" anchor="t" anchorCtr="0">
                <a:spAutoFit/>
              </a:bodyPr>
              <a:lstStyle/>
              <a:p>
                <a:pPr algn="ctr"/>
                <a:r>
                  <a:rPr lang="en" sz="1200" dirty="0">
                    <a:solidFill>
                      <a:srgbClr val="C2410C"/>
                    </a:solidFill>
                    <a:latin typeface="Consolas"/>
                    <a:ea typeface="Consolas"/>
                    <a:cs typeface="Consolas"/>
                  </a:rPr>
                  <a:t>r, p, y</a:t>
                </a:r>
              </a:p>
            </p:txBody>
          </p:sp>
        </p:grpSp>
        <p:sp>
          <p:nvSpPr>
            <p:cNvPr id="32" name="Rectangle 32"/>
            <p:cNvSpPr/>
            <p:nvPr/>
          </p:nvSpPr>
          <p:spPr>
            <a:xfrm>
              <a:off x="4381500" y="3143250"/>
              <a:ext cx="3429000" cy="533400"/>
            </a:xfrm>
            <a:prstGeom prst="roundRect">
              <a:avLst>
                <a:gd name="adj" fmla="val 17857"/>
              </a:avLst>
            </a:prstGeom>
            <a:solidFill>
              <a:srgbClr val="E9F4F3"/>
            </a:solidFill>
            <a:ln w="19050">
              <a:solidFill>
                <a:srgbClr val="0B7A75"/>
              </a:solidFill>
            </a:ln>
          </p:spPr>
        </p:sp>
        <p:sp>
          <p:nvSpPr>
            <p:cNvPr id="33" name="TextBox 33"/>
            <p:cNvSpPr txBox="1"/>
            <p:nvPr/>
          </p:nvSpPr>
          <p:spPr>
            <a:xfrm>
              <a:off x="4611454" y="3282950"/>
              <a:ext cx="2969091" cy="322707"/>
            </a:xfrm>
            <a:prstGeom prst="rect">
              <a:avLst/>
            </a:prstGeom>
            <a:noFill/>
            <a:ln>
              <a:noFill/>
            </a:ln>
          </p:spPr>
          <p:txBody>
            <a:bodyPr wrap="none" lIns="0" tIns="0" rIns="0" bIns="0" anchor="t" anchorCtr="0">
              <a:spAutoFit/>
            </a:bodyPr>
            <a:lstStyle/>
            <a:p>
              <a:pPr algn="ctr"/>
              <a:r>
                <a:rPr lang="en" sz="1650" b="1" dirty="0">
                  <a:solidFill>
                    <a:srgbClr val="0B7A75"/>
                  </a:solidFill>
                  <a:latin typeface="+mn-lt"/>
                  <a:ea typeface="+mn-ea"/>
                  <a:cs typeface="+mn-cs"/>
                </a:rPr>
                <a:t>IMU + complementary filter</a:t>
              </a:r>
            </a:p>
          </p:txBody>
        </p:sp>
        <p:sp>
          <p:nvSpPr>
            <p:cNvPr id="34" name="Freeform 34"/>
            <p:cNvSpPr/>
            <p:nvPr/>
          </p:nvSpPr>
          <p:spPr>
            <a:xfrm>
              <a:off x="3971925" y="2647950"/>
              <a:ext cx="409575" cy="762000"/>
            </a:xfrm>
            <a:custGeom>
              <a:avLst/>
              <a:gdLst/>
              <a:ahLst/>
              <a:cxnLst/>
              <a:rect l="l" t="t" r="r" b="b"/>
              <a:pathLst>
                <a:path w="409575" h="762000">
                  <a:moveTo>
                    <a:pt x="409575" y="762000"/>
                  </a:moveTo>
                  <a:lnTo>
                    <a:pt x="0" y="762000"/>
                  </a:lnTo>
                  <a:lnTo>
                    <a:pt x="0" y="0"/>
                  </a:lnTo>
                </a:path>
              </a:pathLst>
            </a:custGeom>
            <a:noFill/>
            <a:ln w="23812">
              <a:solidFill>
                <a:srgbClr val="0B7A75"/>
              </a:solidFill>
              <a:tailEnd type="triangle" w="lg" len="lg"/>
            </a:ln>
          </p:spPr>
        </p:sp>
        <p:sp>
          <p:nvSpPr>
            <p:cNvPr id="35" name="Line 35"/>
            <p:cNvSpPr/>
            <p:nvPr/>
          </p:nvSpPr>
          <p:spPr>
            <a:xfrm flipV="1">
              <a:off x="6581775" y="2667000"/>
              <a:ext cx="1" cy="476250"/>
            </a:xfrm>
            <a:prstGeom prst="line">
              <a:avLst/>
            </a:prstGeom>
            <a:noFill/>
            <a:ln w="23812">
              <a:solidFill>
                <a:srgbClr val="0B7A75"/>
              </a:solidFill>
              <a:prstDash val="lgDash"/>
              <a:tailEnd type="triangle" w="lg" len="lg"/>
            </a:ln>
          </p:spPr>
        </p:sp>
        <p:grpSp>
          <p:nvGrpSpPr>
            <p:cNvPr id="38" name="Group 38"/>
            <p:cNvGrpSpPr/>
            <p:nvPr/>
          </p:nvGrpSpPr>
          <p:grpSpPr>
            <a:xfrm>
              <a:off x="2546604" y="2832100"/>
              <a:ext cx="4983785" cy="310896"/>
              <a:chOff x="2546604" y="2832100"/>
              <a:chExt cx="4983785" cy="310896"/>
            </a:xfrm>
          </p:grpSpPr>
          <p:sp>
            <p:nvSpPr>
              <p:cNvPr id="36" name="TextBox 36"/>
              <p:cNvSpPr txBox="1"/>
              <p:nvPr/>
            </p:nvSpPr>
            <p:spPr>
              <a:xfrm>
                <a:off x="2546604" y="2908300"/>
                <a:ext cx="1256081" cy="234696"/>
              </a:xfrm>
              <a:prstGeom prst="rect">
                <a:avLst/>
              </a:prstGeom>
              <a:noFill/>
              <a:ln>
                <a:noFill/>
              </a:ln>
            </p:spPr>
            <p:txBody>
              <a:bodyPr wrap="none" lIns="0" tIns="0" rIns="0" bIns="0" anchor="t" anchorCtr="0">
                <a:spAutoFit/>
              </a:bodyPr>
              <a:lstStyle/>
              <a:p>
                <a:pPr algn="l"/>
                <a:r>
                  <a:rPr lang="en" sz="1200" dirty="0">
                    <a:solidFill>
                      <a:srgbClr val="0B7A75"/>
                    </a:solidFill>
                    <a:latin typeface="Consolas"/>
                    <a:ea typeface="Consolas"/>
                    <a:cs typeface="Consolas"/>
                  </a:rPr>
                  <a:t>angle estimate</a:t>
                </a:r>
              </a:p>
            </p:txBody>
          </p:sp>
          <p:sp>
            <p:nvSpPr>
              <p:cNvPr id="37" name="TextBox 37"/>
              <p:cNvSpPr txBox="1"/>
              <p:nvPr/>
            </p:nvSpPr>
            <p:spPr>
              <a:xfrm>
                <a:off x="6718554" y="2832100"/>
                <a:ext cx="811835" cy="234696"/>
              </a:xfrm>
              <a:prstGeom prst="rect">
                <a:avLst/>
              </a:prstGeom>
              <a:noFill/>
              <a:ln>
                <a:noFill/>
              </a:ln>
            </p:spPr>
            <p:txBody>
              <a:bodyPr wrap="none" lIns="0" tIns="0" rIns="0" bIns="0" anchor="t" anchorCtr="0">
                <a:spAutoFit/>
              </a:bodyPr>
              <a:lstStyle/>
              <a:p>
                <a:pPr algn="l"/>
                <a:r>
                  <a:rPr lang="en" sz="1200" dirty="0">
                    <a:solidFill>
                      <a:srgbClr val="0B7A75"/>
                    </a:solidFill>
                    <a:latin typeface="Consolas"/>
                    <a:ea typeface="Consolas"/>
                    <a:cs typeface="Consolas"/>
                  </a:rPr>
                  <a:t>gyro rate</a:t>
                </a:r>
              </a:p>
            </p:txBody>
          </p:sp>
        </p:grpSp>
      </p:grpSp>
      <p:grpSp>
        <p:nvGrpSpPr>
          <p:cNvPr id="44" name="card-filter"/>
          <p:cNvGrpSpPr/>
          <p:nvPr/>
        </p:nvGrpSpPr>
        <p:grpSpPr>
          <a:xfrm>
            <a:off x="609600" y="4038600"/>
            <a:ext cx="5334000" cy="2209800"/>
            <a:chOff x="609600" y="4038600"/>
            <a:chExt cx="5334000" cy="2209800"/>
          </a:xfrm>
        </p:grpSpPr>
        <p:sp>
          <p:nvSpPr>
            <p:cNvPr id="40" name="Rectangle 40"/>
            <p:cNvSpPr/>
            <p:nvPr/>
          </p:nvSpPr>
          <p:spPr>
            <a:xfrm>
              <a:off x="609600" y="4038600"/>
              <a:ext cx="5334000" cy="2209800"/>
            </a:xfrm>
            <a:prstGeom prst="roundRect">
              <a:avLst>
                <a:gd name="adj" fmla="val 6034"/>
              </a:avLst>
            </a:prstGeom>
            <a:solidFill>
              <a:srgbClr val="F3F6F9"/>
            </a:solidFill>
            <a:ln>
              <a:noFill/>
            </a:ln>
          </p:spPr>
        </p:sp>
        <p:sp>
          <p:nvSpPr>
            <p:cNvPr id="41" name="TextBox 41"/>
            <p:cNvSpPr txBox="1"/>
            <p:nvPr/>
          </p:nvSpPr>
          <p:spPr>
            <a:xfrm>
              <a:off x="867918" y="4216400"/>
              <a:ext cx="3365345" cy="322707"/>
            </a:xfrm>
            <a:prstGeom prst="rect">
              <a:avLst/>
            </a:prstGeom>
            <a:noFill/>
            <a:ln>
              <a:noFill/>
            </a:ln>
          </p:spPr>
          <p:txBody>
            <a:bodyPr wrap="none" lIns="0" tIns="0" rIns="0" bIns="0" anchor="t" anchorCtr="0">
              <a:spAutoFit/>
            </a:bodyPr>
            <a:lstStyle/>
            <a:p>
              <a:pPr algn="l"/>
              <a:r>
                <a:rPr lang="el-GR" sz="1650" b="1" dirty="0">
                  <a:solidFill>
                    <a:srgbClr val="0E1B2C"/>
                  </a:solidFill>
                  <a:latin typeface="+mn-lt"/>
                  <a:ea typeface="+mn-ea"/>
                  <a:cs typeface="+mn-cs"/>
                </a:rPr>
                <a:t>Complementary filter, α = 0.995</a:t>
              </a:r>
            </a:p>
          </p:txBody>
        </p:sp>
        <p:sp>
          <p:nvSpPr>
            <p:cNvPr id="42" name="TextBox 42"/>
            <p:cNvSpPr txBox="1"/>
            <p:nvPr/>
          </p:nvSpPr>
          <p:spPr>
            <a:xfrm>
              <a:off x="867918" y="4610100"/>
              <a:ext cx="4050602" cy="627507"/>
            </a:xfrm>
            <a:prstGeom prst="rect">
              <a:avLst/>
            </a:prstGeom>
            <a:noFill/>
            <a:ln>
              <a:noFill/>
            </a:ln>
          </p:spPr>
          <p:txBody>
            <a:bodyPr wrap="none" lIns="0" tIns="0" rIns="0" bIns="0" anchor="t" anchorCtr="0">
              <a:spAutoFit/>
            </a:bodyPr>
            <a:lstStyle/>
            <a:p>
              <a:pPr algn="l">
                <a:lnSpc>
                  <a:spcPts val="2400"/>
                </a:lnSpc>
              </a:pPr>
              <a:r>
                <a:rPr lang="en" sz="1650" dirty="0">
                  <a:solidFill>
                    <a:srgbClr val="0E2A47"/>
                  </a:solidFill>
                  <a:latin typeface="Consolas"/>
                  <a:ea typeface="Consolas"/>
                  <a:cs typeface="Consolas"/>
                </a:rPr>
                <a:t>angle = 0.995 × (angle + gyro × dt)</a:t>
              </a:r>
              <a:br>
                <a:rPr lang="en" sz="1650" dirty="0">
                  <a:solidFill>
                    <a:srgbClr val="0E2A47"/>
                  </a:solidFill>
                  <a:latin typeface="Consolas"/>
                  <a:ea typeface="Consolas"/>
                  <a:cs typeface="Consolas"/>
                </a:rPr>
              </a:br>
              <a:r>
                <a:rPr lang="en" sz="1650" dirty="0">
                  <a:solidFill>
                    <a:srgbClr val="0E2A47"/>
                  </a:solidFill>
                  <a:latin typeface="Consolas"/>
                  <a:ea typeface="Consolas"/>
                  <a:cs typeface="Consolas"/>
                </a:rPr>
                <a:t>      + 0.005 × accel_angle</a:t>
              </a:r>
            </a:p>
          </p:txBody>
        </p:sp>
        <p:sp>
          <p:nvSpPr>
            <p:cNvPr id="43" name="TextBox 43"/>
            <p:cNvSpPr txBox="1"/>
            <p:nvPr/>
          </p:nvSpPr>
          <p:spPr>
            <a:xfrm>
              <a:off x="868680" y="5416550"/>
              <a:ext cx="4230605"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Gyro is smooth but drifts. Accel knows “down” but</a:t>
              </a:r>
              <a:br>
                <a:rPr lang="en" sz="1500" dirty="0">
                  <a:solidFill>
                    <a:srgbClr val="4A5A6E"/>
                  </a:solidFill>
                  <a:latin typeface="+mn-lt"/>
                  <a:ea typeface="+mn-ea"/>
                  <a:cs typeface="+mn-cs"/>
                </a:rPr>
              </a:br>
              <a:r>
                <a:rPr lang="en" sz="1500" dirty="0">
                  <a:solidFill>
                    <a:srgbClr val="4A5A6E"/>
                  </a:solidFill>
                  <a:latin typeface="+mn-lt"/>
                  <a:ea typeface="+mn-ea"/>
                  <a:cs typeface="+mn-cs"/>
                </a:rPr>
                <a:t>is noisy. Accel is ignored outside 0.8–1.2 g.</a:t>
              </a:r>
            </a:p>
          </p:txBody>
        </p:sp>
      </p:grpSp>
      <p:grpSp>
        <p:nvGrpSpPr>
          <p:cNvPr id="49" name="card-mixer"/>
          <p:cNvGrpSpPr/>
          <p:nvPr/>
        </p:nvGrpSpPr>
        <p:grpSpPr>
          <a:xfrm>
            <a:off x="6248400" y="4038600"/>
            <a:ext cx="5334000" cy="2209800"/>
            <a:chOff x="6248400" y="4038600"/>
            <a:chExt cx="5334000" cy="2209800"/>
          </a:xfrm>
        </p:grpSpPr>
        <p:sp>
          <p:nvSpPr>
            <p:cNvPr id="45" name="Rectangle 45"/>
            <p:cNvSpPr/>
            <p:nvPr/>
          </p:nvSpPr>
          <p:spPr>
            <a:xfrm>
              <a:off x="6248400" y="4038600"/>
              <a:ext cx="5334000" cy="2209800"/>
            </a:xfrm>
            <a:prstGeom prst="roundRect">
              <a:avLst>
                <a:gd name="adj" fmla="val 6034"/>
              </a:avLst>
            </a:prstGeom>
            <a:solidFill>
              <a:srgbClr val="0E2A47"/>
            </a:solidFill>
            <a:ln>
              <a:noFill/>
            </a:ln>
          </p:spPr>
        </p:sp>
        <p:sp>
          <p:nvSpPr>
            <p:cNvPr id="46" name="TextBox 46"/>
            <p:cNvSpPr txBox="1"/>
            <p:nvPr/>
          </p:nvSpPr>
          <p:spPr>
            <a:xfrm>
              <a:off x="6506718" y="4216400"/>
              <a:ext cx="2753610" cy="322707"/>
            </a:xfrm>
            <a:prstGeom prst="rect">
              <a:avLst/>
            </a:prstGeom>
            <a:noFill/>
            <a:ln>
              <a:noFill/>
            </a:ln>
          </p:spPr>
          <p:txBody>
            <a:bodyPr wrap="none" lIns="0" tIns="0" rIns="0" bIns="0" anchor="t" anchorCtr="0">
              <a:spAutoFit/>
            </a:bodyPr>
            <a:lstStyle/>
            <a:p>
              <a:pPr algn="l"/>
              <a:r>
                <a:rPr lang="en" sz="1650" b="1" dirty="0">
                  <a:solidFill>
                    <a:srgbClr val="FFFFFF"/>
                  </a:solidFill>
                  <a:latin typeface="+mn-lt"/>
                  <a:ea typeface="+mn-ea"/>
                  <a:cs typeface="+mn-cs"/>
                </a:rPr>
                <a:t>Quad-X mixer (mixer.cpp)</a:t>
              </a:r>
            </a:p>
          </p:txBody>
        </p:sp>
        <p:sp>
          <p:nvSpPr>
            <p:cNvPr id="47" name="TextBox 47"/>
            <p:cNvSpPr txBox="1"/>
            <p:nvPr/>
          </p:nvSpPr>
          <p:spPr>
            <a:xfrm>
              <a:off x="6506718" y="4610100"/>
              <a:ext cx="3474339" cy="1237107"/>
            </a:xfrm>
            <a:prstGeom prst="rect">
              <a:avLst/>
            </a:prstGeom>
            <a:noFill/>
            <a:ln>
              <a:noFill/>
            </a:ln>
          </p:spPr>
          <p:txBody>
            <a:bodyPr wrap="none" lIns="0" tIns="0" rIns="0" bIns="0" anchor="t" anchorCtr="0">
              <a:spAutoFit/>
            </a:bodyPr>
            <a:lstStyle/>
            <a:p>
              <a:pPr algn="l">
                <a:lnSpc>
                  <a:spcPts val="2400"/>
                </a:lnSpc>
              </a:pPr>
              <a:r>
                <a:rPr lang="en" sz="1650" dirty="0">
                  <a:solidFill>
                    <a:srgbClr val="E6ECF2"/>
                  </a:solidFill>
                  <a:latin typeface="Consolas"/>
                  <a:ea typeface="Consolas"/>
                  <a:cs typeface="Consolas"/>
                </a:rPr>
                <a:t>m1 = t + r + p − y   </a:t>
              </a:r>
              <a:r>
                <a:rPr lang="en" sz="1650" dirty="0">
                  <a:solidFill>
                    <a:srgbClr val="F7A072"/>
                  </a:solidFill>
                  <a:latin typeface="Consolas"/>
                  <a:ea typeface="Consolas"/>
                  <a:cs typeface="Consolas"/>
                </a:rPr>
                <a:t>// FL CW</a:t>
              </a:r>
              <a:br>
                <a:rPr lang="en" sz="1650" dirty="0">
                  <a:solidFill>
                    <a:srgbClr val="F7A072"/>
                  </a:solidFill>
                  <a:latin typeface="Consolas"/>
                  <a:ea typeface="Consolas"/>
                  <a:cs typeface="Consolas"/>
                </a:rPr>
              </a:br>
              <a:r>
                <a:rPr lang="en" sz="1650" dirty="0">
                  <a:solidFill>
                    <a:srgbClr val="E6ECF2"/>
                  </a:solidFill>
                  <a:latin typeface="Consolas"/>
                  <a:ea typeface="Consolas"/>
                  <a:cs typeface="Consolas"/>
                </a:rPr>
                <a:t>m2 = t − r + p + y   </a:t>
              </a:r>
              <a:r>
                <a:rPr lang="en" sz="1650" dirty="0">
                  <a:solidFill>
                    <a:srgbClr val="7CC8C2"/>
                  </a:solidFill>
                  <a:latin typeface="Consolas"/>
                  <a:ea typeface="Consolas"/>
                  <a:cs typeface="Consolas"/>
                </a:rPr>
                <a:t>// FR CCW</a:t>
              </a:r>
              <a:br>
                <a:rPr lang="en" sz="1650" dirty="0">
                  <a:solidFill>
                    <a:srgbClr val="7CC8C2"/>
                  </a:solidFill>
                  <a:latin typeface="Consolas"/>
                  <a:ea typeface="Consolas"/>
                  <a:cs typeface="Consolas"/>
                </a:rPr>
              </a:br>
              <a:r>
                <a:rPr lang="en" sz="1650" dirty="0">
                  <a:solidFill>
                    <a:srgbClr val="E6ECF2"/>
                  </a:solidFill>
                  <a:latin typeface="Consolas"/>
                  <a:ea typeface="Consolas"/>
                  <a:cs typeface="Consolas"/>
                </a:rPr>
                <a:t>m3 = t − r − p − y   </a:t>
              </a:r>
              <a:r>
                <a:rPr lang="en" sz="1650" dirty="0">
                  <a:solidFill>
                    <a:srgbClr val="F7A072"/>
                  </a:solidFill>
                  <a:latin typeface="Consolas"/>
                  <a:ea typeface="Consolas"/>
                  <a:cs typeface="Consolas"/>
                </a:rPr>
                <a:t>// RR CW</a:t>
              </a:r>
              <a:br>
                <a:rPr lang="en" sz="1650" dirty="0">
                  <a:solidFill>
                    <a:srgbClr val="F7A072"/>
                  </a:solidFill>
                  <a:latin typeface="Consolas"/>
                  <a:ea typeface="Consolas"/>
                  <a:cs typeface="Consolas"/>
                </a:rPr>
              </a:br>
              <a:r>
                <a:rPr lang="en" sz="1650" dirty="0">
                  <a:solidFill>
                    <a:srgbClr val="E6ECF2"/>
                  </a:solidFill>
                  <a:latin typeface="Consolas"/>
                  <a:ea typeface="Consolas"/>
                  <a:cs typeface="Consolas"/>
                </a:rPr>
                <a:t>m4 = t + r − p + y   </a:t>
              </a:r>
              <a:r>
                <a:rPr lang="en" sz="1650" dirty="0">
                  <a:solidFill>
                    <a:srgbClr val="7CC8C2"/>
                  </a:solidFill>
                  <a:latin typeface="Consolas"/>
                  <a:ea typeface="Consolas"/>
                  <a:cs typeface="Consolas"/>
                </a:rPr>
                <a:t>// RL CCW</a:t>
              </a:r>
            </a:p>
          </p:txBody>
        </p:sp>
        <p:sp>
          <p:nvSpPr>
            <p:cNvPr id="48" name="TextBox 48"/>
            <p:cNvSpPr txBox="1"/>
            <p:nvPr/>
          </p:nvSpPr>
          <p:spPr>
            <a:xfrm>
              <a:off x="6507480" y="5867400"/>
              <a:ext cx="4770540" cy="293370"/>
            </a:xfrm>
            <a:prstGeom prst="rect">
              <a:avLst/>
            </a:prstGeom>
            <a:noFill/>
            <a:ln>
              <a:noFill/>
            </a:ln>
          </p:spPr>
          <p:txBody>
            <a:bodyPr wrap="none" lIns="0" tIns="0" rIns="0" bIns="0" anchor="t" anchorCtr="0">
              <a:spAutoFit/>
            </a:bodyPr>
            <a:lstStyle/>
            <a:p>
              <a:pPr algn="l"/>
              <a:r>
                <a:rPr lang="en" sz="1500" dirty="0">
                  <a:solidFill>
                    <a:srgbClr val="B9C6D4"/>
                  </a:solidFill>
                  <a:latin typeface="+mn-lt"/>
                  <a:ea typeface="+mn-ea"/>
                  <a:cs typeface="+mn-cs"/>
                </a:rPr>
                <a:t>D acts on measurement · I frozen below 15 % throttle</a:t>
              </a:r>
            </a:p>
          </p:txBody>
        </p:sp>
      </p:grpSp>
      <p:grpSp>
        <p:nvGrpSpPr>
          <p:cNvPr id="52" name="footer"/>
          <p:cNvGrpSpPr/>
          <p:nvPr/>
        </p:nvGrpSpPr>
        <p:grpSpPr>
          <a:xfrm>
            <a:off x="603504" y="6457950"/>
            <a:ext cx="10984992" cy="247396"/>
            <a:chOff x="603504" y="6457950"/>
            <a:chExt cx="10984992" cy="247396"/>
          </a:xfrm>
        </p:grpSpPr>
        <p:sp>
          <p:nvSpPr>
            <p:cNvPr id="50" name="TextBox 50"/>
            <p:cNvSpPr txBox="1"/>
            <p:nvPr/>
          </p:nvSpPr>
          <p:spPr>
            <a:xfrm>
              <a:off x="603504" y="6457950"/>
              <a:ext cx="5588050"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t = throttle, r/p/y = roll/pitch/yaw corrections · values from Drone/src/config.h</a:t>
              </a:r>
            </a:p>
          </p:txBody>
        </p:sp>
        <p:sp>
          <p:nvSpPr>
            <p:cNvPr id="51" name="TextBox 51"/>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11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right)">
                                      <p:cBhvr>
                                        <p:cTn id="7" dur="900"/>
                                        <p:tgtEl>
                                          <p:spTgt spid="39"/>
                                        </p:tgtEl>
                                      </p:cBhvr>
                                    </p:animEffect>
                                  </p:childTnLst>
                                </p:cTn>
                              </p:par>
                            </p:childTnLst>
                          </p:cTn>
                        </p:par>
                        <p:par>
                          <p:cTn id="8" fill="hold">
                            <p:stCondLst>
                              <p:cond delay="900"/>
                            </p:stCondLst>
                            <p:childTnLst>
                              <p:par>
                                <p:cTn id="9" presetID="10" presetClass="entr" presetSubtype="0" fill="hold" nodeType="afterEffect">
                                  <p:stCondLst>
                                    <p:cond delay="10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450"/>
                                        <p:tgtEl>
                                          <p:spTgt spid="44"/>
                                        </p:tgtEl>
                                      </p:cBhvr>
                                    </p:animEffect>
                                  </p:childTnLst>
                                </p:cTn>
                              </p:par>
                            </p:childTnLst>
                          </p:cTn>
                        </p:par>
                        <p:par>
                          <p:cTn id="12" fill="hold">
                            <p:stCondLst>
                              <p:cond delay="1450"/>
                            </p:stCondLst>
                            <p:childTnLst>
                              <p:par>
                                <p:cTn id="13" presetID="10" presetClass="entr" presetSubtype="0" fill="hold" nodeType="afterEffect">
                                  <p:stCondLst>
                                    <p:cond delay="10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6585409" cy="880364"/>
            <a:chOff x="592836" y="539750"/>
            <a:chExt cx="6585409" cy="880364"/>
          </a:xfrm>
        </p:grpSpPr>
        <p:sp>
          <p:nvSpPr>
            <p:cNvPr id="2" name="TextBox 2"/>
            <p:cNvSpPr txBox="1"/>
            <p:nvPr/>
          </p:nvSpPr>
          <p:spPr>
            <a:xfrm>
              <a:off x="602742" y="539750"/>
              <a:ext cx="2023567"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12 / RADIO LINKS</a:t>
              </a:r>
            </a:p>
          </p:txBody>
        </p:sp>
        <p:sp>
          <p:nvSpPr>
            <p:cNvPr id="3" name="TextBox 3"/>
            <p:cNvSpPr txBox="1"/>
            <p:nvPr/>
          </p:nvSpPr>
          <p:spPr>
            <a:xfrm>
              <a:off x="592836" y="774700"/>
              <a:ext cx="6585409"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Three ways to talk to the drone</a:t>
              </a:r>
            </a:p>
          </p:txBody>
        </p:sp>
      </p:grpSp>
      <p:grpSp>
        <p:nvGrpSpPr>
          <p:cNvPr id="13" name="link-remote"/>
          <p:cNvGrpSpPr/>
          <p:nvPr/>
        </p:nvGrpSpPr>
        <p:grpSpPr>
          <a:xfrm>
            <a:off x="609600" y="2152650"/>
            <a:ext cx="3810000" cy="1905000"/>
            <a:chOff x="609600" y="2152650"/>
            <a:chExt cx="3810000" cy="1905000"/>
          </a:xfrm>
        </p:grpSpPr>
        <p:sp>
          <p:nvSpPr>
            <p:cNvPr id="5" name="Rectangle 5"/>
            <p:cNvSpPr/>
            <p:nvPr/>
          </p:nvSpPr>
          <p:spPr>
            <a:xfrm>
              <a:off x="609600" y="2152650"/>
              <a:ext cx="3810000" cy="1905000"/>
            </a:xfrm>
            <a:prstGeom prst="roundRect">
              <a:avLst>
                <a:gd name="adj" fmla="val 7000"/>
              </a:avLst>
            </a:prstGeom>
            <a:solidFill>
              <a:srgbClr val="F3F6F9"/>
            </a:solidFill>
            <a:ln>
              <a:noFill/>
            </a:ln>
          </p:spPr>
        </p:sp>
        <p:grpSp>
          <p:nvGrpSpPr>
            <p:cNvPr id="10" name="Group 10"/>
            <p:cNvGrpSpPr/>
            <p:nvPr/>
          </p:nvGrpSpPr>
          <p:grpSpPr>
            <a:xfrm>
              <a:off x="873125" y="2486025"/>
              <a:ext cx="349249" cy="209550"/>
              <a:chOff x="873125" y="2486025"/>
              <a:chExt cx="349249" cy="209550"/>
            </a:xfrm>
          </p:grpSpPr>
          <p:sp>
            <p:nvSpPr>
              <p:cNvPr id="6" name="Freeform 6"/>
              <p:cNvSpPr/>
              <p:nvPr/>
            </p:nvSpPr>
            <p:spPr>
              <a:xfrm>
                <a:off x="873125" y="2486025"/>
                <a:ext cx="349249" cy="209550"/>
              </a:xfrm>
              <a:custGeom>
                <a:avLst/>
                <a:gdLst/>
                <a:ahLst/>
                <a:cxnLst/>
                <a:rect l="l" t="t" r="r" b="b"/>
                <a:pathLst>
                  <a:path w="349249" h="209550">
                    <a:moveTo>
                      <a:pt x="0" y="34925"/>
                    </a:moveTo>
                    <a:cubicBezTo>
                      <a:pt x="0" y="15636"/>
                      <a:pt x="15636" y="0"/>
                      <a:pt x="34925" y="0"/>
                    </a:cubicBezTo>
                    <a:lnTo>
                      <a:pt x="314324" y="0"/>
                    </a:lnTo>
                    <a:cubicBezTo>
                      <a:pt x="333613" y="0"/>
                      <a:pt x="349249" y="15636"/>
                      <a:pt x="349249" y="34925"/>
                    </a:cubicBezTo>
                    <a:lnTo>
                      <a:pt x="349249" y="174625"/>
                    </a:lnTo>
                    <a:cubicBezTo>
                      <a:pt x="349249" y="193913"/>
                      <a:pt x="333613" y="209550"/>
                      <a:pt x="314324" y="209550"/>
                    </a:cubicBezTo>
                    <a:lnTo>
                      <a:pt x="34925" y="209550"/>
                    </a:lnTo>
                    <a:cubicBezTo>
                      <a:pt x="15636" y="209550"/>
                      <a:pt x="0" y="193913"/>
                      <a:pt x="0" y="174625"/>
                    </a:cubicBezTo>
                    <a:lnTo>
                      <a:pt x="0" y="34925"/>
                    </a:lnTo>
                  </a:path>
                </a:pathLst>
              </a:custGeom>
              <a:noFill/>
              <a:ln w="34925">
                <a:solidFill>
                  <a:srgbClr val="0E2A47"/>
                </a:solidFill>
              </a:ln>
            </p:spPr>
          </p:sp>
          <p:sp>
            <p:nvSpPr>
              <p:cNvPr id="7" name="Freeform 7"/>
              <p:cNvSpPr/>
              <p:nvPr/>
            </p:nvSpPr>
            <p:spPr>
              <a:xfrm>
                <a:off x="942975" y="2555875"/>
                <a:ext cx="69850" cy="69850"/>
              </a:xfrm>
              <a:custGeom>
                <a:avLst/>
                <a:gdLst/>
                <a:ahLst/>
                <a:cxnLst/>
                <a:rect l="l" t="t" r="r" b="b"/>
                <a:pathLst>
                  <a:path w="69850" h="69850">
                    <a:moveTo>
                      <a:pt x="0" y="34925"/>
                    </a:moveTo>
                    <a:lnTo>
                      <a:pt x="69850" y="34925"/>
                    </a:lnTo>
                    <a:moveTo>
                      <a:pt x="34925" y="0"/>
                    </a:moveTo>
                    <a:lnTo>
                      <a:pt x="34925" y="69850"/>
                    </a:lnTo>
                  </a:path>
                </a:pathLst>
              </a:custGeom>
              <a:noFill/>
              <a:ln w="34925">
                <a:solidFill>
                  <a:srgbClr val="0E2A47"/>
                </a:solidFill>
              </a:ln>
            </p:spPr>
          </p:sp>
          <p:sp>
            <p:nvSpPr>
              <p:cNvPr id="8" name="Freeform 8"/>
              <p:cNvSpPr/>
              <p:nvPr/>
            </p:nvSpPr>
            <p:spPr>
              <a:xfrm>
                <a:off x="1100137" y="2573337"/>
                <a:ext cx="9525" cy="9525"/>
              </a:xfrm>
              <a:custGeom>
                <a:avLst/>
                <a:gdLst/>
                <a:ahLst/>
                <a:cxnLst/>
                <a:rect l="l" t="t" r="r" b="b"/>
                <a:pathLst>
                  <a:path w="9525" h="9525">
                    <a:moveTo>
                      <a:pt x="0" y="0"/>
                    </a:moveTo>
                    <a:lnTo>
                      <a:pt x="0" y="175"/>
                    </a:lnTo>
                  </a:path>
                </a:pathLst>
              </a:custGeom>
              <a:noFill/>
              <a:ln w="34925">
                <a:solidFill>
                  <a:srgbClr val="0E2A47"/>
                </a:solidFill>
              </a:ln>
            </p:spPr>
          </p:sp>
          <p:sp>
            <p:nvSpPr>
              <p:cNvPr id="9" name="Freeform 9"/>
              <p:cNvSpPr/>
              <p:nvPr/>
            </p:nvSpPr>
            <p:spPr>
              <a:xfrm>
                <a:off x="1152524" y="2608262"/>
                <a:ext cx="9525" cy="9525"/>
              </a:xfrm>
              <a:custGeom>
                <a:avLst/>
                <a:gdLst/>
                <a:ahLst/>
                <a:cxnLst/>
                <a:rect l="l" t="t" r="r" b="b"/>
                <a:pathLst>
                  <a:path w="9525" h="9525">
                    <a:moveTo>
                      <a:pt x="0" y="0"/>
                    </a:moveTo>
                    <a:lnTo>
                      <a:pt x="0" y="175"/>
                    </a:lnTo>
                  </a:path>
                </a:pathLst>
              </a:custGeom>
              <a:noFill/>
              <a:ln w="34925">
                <a:solidFill>
                  <a:srgbClr val="0E2A47"/>
                </a:solidFill>
              </a:ln>
            </p:spPr>
          </p:sp>
        </p:grpSp>
        <p:sp>
          <p:nvSpPr>
            <p:cNvPr id="11" name="TextBox 11"/>
            <p:cNvSpPr txBox="1"/>
            <p:nvPr/>
          </p:nvSpPr>
          <p:spPr>
            <a:xfrm>
              <a:off x="1401318" y="2482850"/>
              <a:ext cx="1856019"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Handheld remote</a:t>
              </a:r>
            </a:p>
          </p:txBody>
        </p:sp>
        <p:sp>
          <p:nvSpPr>
            <p:cNvPr id="12" name="TextBox 12"/>
            <p:cNvSpPr txBox="1"/>
            <p:nvPr/>
          </p:nvSpPr>
          <p:spPr>
            <a:xfrm>
              <a:off x="830580" y="2978150"/>
              <a:ext cx="2484101" cy="8267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ESP-NOW on Wi-Fi channel 1</a:t>
              </a:r>
              <a:br>
                <a:rPr lang="en" sz="1500" dirty="0">
                  <a:solidFill>
                    <a:srgbClr val="4A5A6E"/>
                  </a:solidFill>
                  <a:latin typeface="+mn-lt"/>
                  <a:ea typeface="+mn-ea"/>
                  <a:cs typeface="+mn-cs"/>
                </a:rPr>
              </a:br>
              <a:r>
                <a:rPr lang="en" sz="1500" dirty="0">
                  <a:solidFill>
                    <a:srgbClr val="4A5A6E"/>
                  </a:solidFill>
                  <a:latin typeface="+mn-lt"/>
                  <a:ea typeface="+mn-ea"/>
                  <a:cs typeface="+mn-cs"/>
                </a:rPr>
                <a:t>Peer-to-peer, no router</a:t>
              </a:r>
              <a:br>
                <a:rPr lang="en" sz="1500" dirty="0">
                  <a:solidFill>
                    <a:srgbClr val="4A5A6E"/>
                  </a:solidFill>
                  <a:latin typeface="+mn-lt"/>
                  <a:ea typeface="+mn-ea"/>
                  <a:cs typeface="+mn-cs"/>
                </a:rPr>
              </a:br>
              <a:r>
                <a:rPr lang="en" sz="1500" dirty="0">
                  <a:solidFill>
                    <a:srgbClr val="4A5A6E"/>
                  </a:solidFill>
                  <a:latin typeface="+mn-lt"/>
                  <a:ea typeface="+mn-ea"/>
                  <a:cs typeface="+mn-cs"/>
                </a:rPr>
                <a:t>13-byte packet (below)</a:t>
              </a:r>
            </a:p>
          </p:txBody>
        </p:sp>
      </p:grpSp>
      <p:grpSp>
        <p:nvGrpSpPr>
          <p:cNvPr id="32" name="drone-hub"/>
          <p:cNvGrpSpPr/>
          <p:nvPr/>
        </p:nvGrpSpPr>
        <p:grpSpPr>
          <a:xfrm>
            <a:off x="4419600" y="2228850"/>
            <a:ext cx="3276600" cy="1828800"/>
            <a:chOff x="4419600" y="2228850"/>
            <a:chExt cx="3276600" cy="1828800"/>
          </a:xfrm>
        </p:grpSpPr>
        <p:grpSp>
          <p:nvGrpSpPr>
            <p:cNvPr id="17" name="Group 17"/>
            <p:cNvGrpSpPr/>
            <p:nvPr/>
          </p:nvGrpSpPr>
          <p:grpSpPr>
            <a:xfrm>
              <a:off x="4419600" y="2324100"/>
              <a:ext cx="3276600" cy="1581150"/>
              <a:chOff x="4419600" y="2324100"/>
              <a:chExt cx="3276600" cy="1581150"/>
            </a:xfrm>
          </p:grpSpPr>
          <p:sp>
            <p:nvSpPr>
              <p:cNvPr id="14" name="Line 14"/>
              <p:cNvSpPr/>
              <p:nvPr/>
            </p:nvSpPr>
            <p:spPr>
              <a:xfrm>
                <a:off x="4419600" y="3143250"/>
                <a:ext cx="762000" cy="9525"/>
              </a:xfrm>
              <a:custGeom>
                <a:avLst/>
                <a:gdLst/>
                <a:ahLst/>
                <a:cxnLst/>
                <a:rect l="l" t="t" r="r" b="b"/>
                <a:pathLst>
                  <a:path w="762000" h="9525">
                    <a:moveTo>
                      <a:pt x="0" y="0"/>
                    </a:moveTo>
                    <a:lnTo>
                      <a:pt x="762000" y="0"/>
                    </a:lnTo>
                  </a:path>
                </a:pathLst>
              </a:custGeom>
              <a:noFill/>
              <a:ln w="23812">
                <a:solidFill>
                  <a:srgbClr val="9AA8B8"/>
                </a:solidFill>
              </a:ln>
            </p:spPr>
          </p:sp>
          <p:sp>
            <p:nvSpPr>
              <p:cNvPr id="15" name="Line 15"/>
              <p:cNvSpPr/>
              <p:nvPr/>
            </p:nvSpPr>
            <p:spPr>
              <a:xfrm>
                <a:off x="6858000" y="2324100"/>
                <a:ext cx="838200" cy="361950"/>
              </a:xfrm>
              <a:custGeom>
                <a:avLst/>
                <a:gdLst/>
                <a:ahLst/>
                <a:cxnLst/>
                <a:rect l="l" t="t" r="r" b="b"/>
                <a:pathLst>
                  <a:path w="838200" h="361950">
                    <a:moveTo>
                      <a:pt x="0" y="361950"/>
                    </a:moveTo>
                    <a:lnTo>
                      <a:pt x="838200" y="0"/>
                    </a:lnTo>
                  </a:path>
                </a:pathLst>
              </a:custGeom>
              <a:noFill/>
              <a:ln w="23812">
                <a:solidFill>
                  <a:srgbClr val="9AA8B8"/>
                </a:solidFill>
              </a:ln>
            </p:spPr>
          </p:sp>
          <p:sp>
            <p:nvSpPr>
              <p:cNvPr id="16" name="Line 16"/>
              <p:cNvSpPr/>
              <p:nvPr/>
            </p:nvSpPr>
            <p:spPr>
              <a:xfrm>
                <a:off x="6858000" y="3619500"/>
                <a:ext cx="838200" cy="285750"/>
              </a:xfrm>
              <a:custGeom>
                <a:avLst/>
                <a:gdLst/>
                <a:ahLst/>
                <a:cxnLst/>
                <a:rect l="l" t="t" r="r" b="b"/>
                <a:pathLst>
                  <a:path w="838200" h="285750">
                    <a:moveTo>
                      <a:pt x="0" y="0"/>
                    </a:moveTo>
                    <a:lnTo>
                      <a:pt x="838200" y="285750"/>
                    </a:lnTo>
                  </a:path>
                </a:pathLst>
              </a:custGeom>
              <a:noFill/>
              <a:ln w="23812">
                <a:solidFill>
                  <a:srgbClr val="9AA8B8"/>
                </a:solidFill>
              </a:ln>
            </p:spPr>
          </p:sp>
        </p:grpSp>
        <p:sp>
          <p:nvSpPr>
            <p:cNvPr id="18" name="Ellipse 18"/>
            <p:cNvSpPr/>
            <p:nvPr/>
          </p:nvSpPr>
          <p:spPr>
            <a:xfrm>
              <a:off x="5181600" y="2228850"/>
              <a:ext cx="1828800" cy="1828800"/>
            </a:xfrm>
            <a:prstGeom prst="ellipse">
              <a:avLst/>
            </a:prstGeom>
            <a:solidFill>
              <a:srgbClr val="0E2A47"/>
            </a:solidFill>
            <a:ln>
              <a:noFill/>
            </a:ln>
          </p:spPr>
        </p:sp>
        <p:grpSp>
          <p:nvGrpSpPr>
            <p:cNvPr id="28" name="Group 28"/>
            <p:cNvGrpSpPr/>
            <p:nvPr/>
          </p:nvGrpSpPr>
          <p:grpSpPr>
            <a:xfrm>
              <a:off x="5865209" y="2569559"/>
              <a:ext cx="461582" cy="461582"/>
              <a:chOff x="5865209" y="2569559"/>
              <a:chExt cx="461582" cy="461582"/>
            </a:xfrm>
          </p:grpSpPr>
          <p:sp>
            <p:nvSpPr>
              <p:cNvPr id="19" name="Freeform 19"/>
              <p:cNvSpPr/>
              <p:nvPr/>
            </p:nvSpPr>
            <p:spPr>
              <a:xfrm>
                <a:off x="6045200" y="2749550"/>
                <a:ext cx="101600" cy="101600"/>
              </a:xfrm>
              <a:custGeom>
                <a:avLst/>
                <a:gdLst/>
                <a:ahLst/>
                <a:cxnLst/>
                <a:rect l="l" t="t" r="r" b="b"/>
                <a:pathLst>
                  <a:path w="101600" h="101600">
                    <a:moveTo>
                      <a:pt x="0" y="0"/>
                    </a:moveTo>
                    <a:lnTo>
                      <a:pt x="101600" y="0"/>
                    </a:lnTo>
                    <a:lnTo>
                      <a:pt x="101600" y="101600"/>
                    </a:lnTo>
                    <a:lnTo>
                      <a:pt x="0" y="101600"/>
                    </a:lnTo>
                    <a:lnTo>
                      <a:pt x="0" y="0"/>
                    </a:lnTo>
                  </a:path>
                </a:pathLst>
              </a:custGeom>
              <a:noFill/>
              <a:ln w="50800">
                <a:solidFill>
                  <a:srgbClr val="FFFFFF"/>
                </a:solidFill>
              </a:ln>
            </p:spPr>
          </p:sp>
          <p:sp>
            <p:nvSpPr>
              <p:cNvPr id="20" name="Freeform 20"/>
              <p:cNvSpPr/>
              <p:nvPr/>
            </p:nvSpPr>
            <p:spPr>
              <a:xfrm>
                <a:off x="5956300" y="2660650"/>
                <a:ext cx="88900" cy="88900"/>
              </a:xfrm>
              <a:custGeom>
                <a:avLst/>
                <a:gdLst/>
                <a:ahLst/>
                <a:cxnLst/>
                <a:rect l="l" t="t" r="r" b="b"/>
                <a:pathLst>
                  <a:path w="88900" h="88900">
                    <a:moveTo>
                      <a:pt x="88900" y="88900"/>
                    </a:moveTo>
                    <a:lnTo>
                      <a:pt x="0" y="0"/>
                    </a:lnTo>
                  </a:path>
                </a:pathLst>
              </a:custGeom>
              <a:noFill/>
              <a:ln w="50800">
                <a:solidFill>
                  <a:srgbClr val="FFFFFF"/>
                </a:solidFill>
              </a:ln>
            </p:spPr>
          </p:sp>
          <p:sp>
            <p:nvSpPr>
              <p:cNvPr id="21" name="Freeform 21"/>
              <p:cNvSpPr/>
              <p:nvPr/>
            </p:nvSpPr>
            <p:spPr>
              <a:xfrm>
                <a:off x="5865209" y="2569559"/>
                <a:ext cx="178975" cy="178975"/>
              </a:xfrm>
              <a:custGeom>
                <a:avLst/>
                <a:gdLst/>
                <a:ahLst/>
                <a:cxnLst/>
                <a:rect l="l" t="t" r="r" b="b"/>
                <a:pathLst>
                  <a:path w="178975" h="178975">
                    <a:moveTo>
                      <a:pt x="178975" y="78391"/>
                    </a:moveTo>
                    <a:cubicBezTo>
                      <a:pt x="172489" y="33008"/>
                      <a:pt x="132556" y="0"/>
                      <a:pt x="86764" y="2169"/>
                    </a:cubicBezTo>
                    <a:cubicBezTo>
                      <a:pt x="40971" y="4337"/>
                      <a:pt x="4337" y="40971"/>
                      <a:pt x="2169" y="86764"/>
                    </a:cubicBezTo>
                    <a:cubicBezTo>
                      <a:pt x="0" y="132556"/>
                      <a:pt x="33008" y="172489"/>
                      <a:pt x="78391" y="178975"/>
                    </a:cubicBezTo>
                  </a:path>
                </a:pathLst>
              </a:custGeom>
              <a:noFill/>
              <a:ln w="50800">
                <a:solidFill>
                  <a:srgbClr val="FFFFFF"/>
                </a:solidFill>
              </a:ln>
            </p:spPr>
          </p:sp>
          <p:sp>
            <p:nvSpPr>
              <p:cNvPr id="22" name="Freeform 22"/>
              <p:cNvSpPr/>
              <p:nvPr/>
            </p:nvSpPr>
            <p:spPr>
              <a:xfrm>
                <a:off x="6146800" y="2660650"/>
                <a:ext cx="88900" cy="88900"/>
              </a:xfrm>
              <a:custGeom>
                <a:avLst/>
                <a:gdLst/>
                <a:ahLst/>
                <a:cxnLst/>
                <a:rect l="l" t="t" r="r" b="b"/>
                <a:pathLst>
                  <a:path w="88900" h="88900">
                    <a:moveTo>
                      <a:pt x="0" y="88900"/>
                    </a:moveTo>
                    <a:lnTo>
                      <a:pt x="88900" y="0"/>
                    </a:lnTo>
                  </a:path>
                </a:pathLst>
              </a:custGeom>
              <a:noFill/>
              <a:ln w="50800">
                <a:solidFill>
                  <a:srgbClr val="FFFFFF"/>
                </a:solidFill>
              </a:ln>
            </p:spPr>
          </p:sp>
          <p:sp>
            <p:nvSpPr>
              <p:cNvPr id="23" name="Freeform 23"/>
              <p:cNvSpPr/>
              <p:nvPr/>
            </p:nvSpPr>
            <p:spPr>
              <a:xfrm>
                <a:off x="6147816" y="2569559"/>
                <a:ext cx="178975" cy="178975"/>
              </a:xfrm>
              <a:custGeom>
                <a:avLst/>
                <a:gdLst/>
                <a:ahLst/>
                <a:cxnLst/>
                <a:rect l="l" t="t" r="r" b="b"/>
                <a:pathLst>
                  <a:path w="178975" h="178975">
                    <a:moveTo>
                      <a:pt x="100584" y="178975"/>
                    </a:moveTo>
                    <a:cubicBezTo>
                      <a:pt x="145967" y="172489"/>
                      <a:pt x="178975" y="132556"/>
                      <a:pt x="176806" y="86764"/>
                    </a:cubicBezTo>
                    <a:cubicBezTo>
                      <a:pt x="174638" y="40971"/>
                      <a:pt x="138003" y="4337"/>
                      <a:pt x="92211" y="2169"/>
                    </a:cubicBezTo>
                    <a:cubicBezTo>
                      <a:pt x="46419" y="0"/>
                      <a:pt x="6486" y="33008"/>
                      <a:pt x="0" y="78391"/>
                    </a:cubicBezTo>
                  </a:path>
                </a:pathLst>
              </a:custGeom>
              <a:noFill/>
              <a:ln w="50800">
                <a:solidFill>
                  <a:srgbClr val="FFFFFF"/>
                </a:solidFill>
              </a:ln>
            </p:spPr>
          </p:sp>
          <p:sp>
            <p:nvSpPr>
              <p:cNvPr id="24" name="Freeform 24"/>
              <p:cNvSpPr/>
              <p:nvPr/>
            </p:nvSpPr>
            <p:spPr>
              <a:xfrm>
                <a:off x="6146800" y="2851150"/>
                <a:ext cx="88900" cy="88900"/>
              </a:xfrm>
              <a:custGeom>
                <a:avLst/>
                <a:gdLst/>
                <a:ahLst/>
                <a:cxnLst/>
                <a:rect l="l" t="t" r="r" b="b"/>
                <a:pathLst>
                  <a:path w="88900" h="88900">
                    <a:moveTo>
                      <a:pt x="0" y="0"/>
                    </a:moveTo>
                    <a:lnTo>
                      <a:pt x="88900" y="88900"/>
                    </a:lnTo>
                  </a:path>
                </a:pathLst>
              </a:custGeom>
              <a:noFill/>
              <a:ln w="50800">
                <a:solidFill>
                  <a:srgbClr val="FFFFFF"/>
                </a:solidFill>
              </a:ln>
            </p:spPr>
          </p:sp>
          <p:sp>
            <p:nvSpPr>
              <p:cNvPr id="25" name="Freeform 25"/>
              <p:cNvSpPr/>
              <p:nvPr/>
            </p:nvSpPr>
            <p:spPr>
              <a:xfrm>
                <a:off x="6147816" y="2852166"/>
                <a:ext cx="178975" cy="178975"/>
              </a:xfrm>
              <a:custGeom>
                <a:avLst/>
                <a:gdLst/>
                <a:ahLst/>
                <a:cxnLst/>
                <a:rect l="l" t="t" r="r" b="b"/>
                <a:pathLst>
                  <a:path w="178975" h="178975">
                    <a:moveTo>
                      <a:pt x="0" y="100584"/>
                    </a:moveTo>
                    <a:cubicBezTo>
                      <a:pt x="6486" y="145967"/>
                      <a:pt x="46419" y="178975"/>
                      <a:pt x="92211" y="176806"/>
                    </a:cubicBezTo>
                    <a:cubicBezTo>
                      <a:pt x="138003" y="174638"/>
                      <a:pt x="174638" y="138003"/>
                      <a:pt x="176806" y="92211"/>
                    </a:cubicBezTo>
                    <a:cubicBezTo>
                      <a:pt x="178975" y="46419"/>
                      <a:pt x="145967" y="6486"/>
                      <a:pt x="100584" y="0"/>
                    </a:cubicBezTo>
                  </a:path>
                </a:pathLst>
              </a:custGeom>
              <a:noFill/>
              <a:ln w="50800">
                <a:solidFill>
                  <a:srgbClr val="FFFFFF"/>
                </a:solidFill>
              </a:ln>
            </p:spPr>
          </p:sp>
          <p:sp>
            <p:nvSpPr>
              <p:cNvPr id="26" name="Freeform 26"/>
              <p:cNvSpPr/>
              <p:nvPr/>
            </p:nvSpPr>
            <p:spPr>
              <a:xfrm>
                <a:off x="5956300" y="2851150"/>
                <a:ext cx="88900" cy="88900"/>
              </a:xfrm>
              <a:custGeom>
                <a:avLst/>
                <a:gdLst/>
                <a:ahLst/>
                <a:cxnLst/>
                <a:rect l="l" t="t" r="r" b="b"/>
                <a:pathLst>
                  <a:path w="88900" h="88900">
                    <a:moveTo>
                      <a:pt x="88900" y="0"/>
                    </a:moveTo>
                    <a:lnTo>
                      <a:pt x="0" y="88900"/>
                    </a:lnTo>
                  </a:path>
                </a:pathLst>
              </a:custGeom>
              <a:noFill/>
              <a:ln w="50800">
                <a:solidFill>
                  <a:srgbClr val="FFFFFF"/>
                </a:solidFill>
              </a:ln>
            </p:spPr>
          </p:sp>
          <p:sp>
            <p:nvSpPr>
              <p:cNvPr id="27" name="Freeform 27"/>
              <p:cNvSpPr/>
              <p:nvPr/>
            </p:nvSpPr>
            <p:spPr>
              <a:xfrm>
                <a:off x="5865209" y="2852166"/>
                <a:ext cx="178975" cy="178975"/>
              </a:xfrm>
              <a:custGeom>
                <a:avLst/>
                <a:gdLst/>
                <a:ahLst/>
                <a:cxnLst/>
                <a:rect l="l" t="t" r="r" b="b"/>
                <a:pathLst>
                  <a:path w="178975" h="178975">
                    <a:moveTo>
                      <a:pt x="78391" y="0"/>
                    </a:moveTo>
                    <a:cubicBezTo>
                      <a:pt x="33008" y="6486"/>
                      <a:pt x="0" y="46419"/>
                      <a:pt x="2169" y="92211"/>
                    </a:cubicBezTo>
                    <a:cubicBezTo>
                      <a:pt x="4337" y="138003"/>
                      <a:pt x="40971" y="174638"/>
                      <a:pt x="86764" y="176806"/>
                    </a:cubicBezTo>
                    <a:cubicBezTo>
                      <a:pt x="132556" y="178975"/>
                      <a:pt x="172489" y="145967"/>
                      <a:pt x="178975" y="100584"/>
                    </a:cubicBezTo>
                  </a:path>
                </a:pathLst>
              </a:custGeom>
              <a:noFill/>
              <a:ln w="50800">
                <a:solidFill>
                  <a:srgbClr val="FFFFFF"/>
                </a:solidFill>
              </a:ln>
            </p:spPr>
          </p:sp>
        </p:grpSp>
        <p:grpSp>
          <p:nvGrpSpPr>
            <p:cNvPr id="31" name="Group 31"/>
            <p:cNvGrpSpPr/>
            <p:nvPr/>
          </p:nvGrpSpPr>
          <p:grpSpPr>
            <a:xfrm>
              <a:off x="5512384" y="3270250"/>
              <a:ext cx="1167232" cy="444246"/>
              <a:chOff x="5512384" y="3270250"/>
              <a:chExt cx="1167232" cy="444246"/>
            </a:xfrm>
          </p:grpSpPr>
          <p:sp>
            <p:nvSpPr>
              <p:cNvPr id="29" name="TextBox 29"/>
              <p:cNvSpPr txBox="1"/>
              <p:nvPr/>
            </p:nvSpPr>
            <p:spPr>
              <a:xfrm>
                <a:off x="5721096" y="3270250"/>
                <a:ext cx="749808" cy="234696"/>
              </a:xfrm>
              <a:prstGeom prst="rect">
                <a:avLst/>
              </a:prstGeom>
              <a:noFill/>
              <a:ln>
                <a:noFill/>
              </a:ln>
            </p:spPr>
            <p:txBody>
              <a:bodyPr wrap="none" lIns="0" tIns="0" rIns="0" bIns="0" anchor="t" anchorCtr="0">
                <a:spAutoFit/>
              </a:bodyPr>
              <a:lstStyle/>
              <a:p>
                <a:pPr algn="ctr"/>
                <a:r>
                  <a:rPr lang="en" sz="1200" dirty="0">
                    <a:solidFill>
                      <a:srgbClr val="FFFFFF"/>
                    </a:solidFill>
                    <a:latin typeface="Consolas"/>
                    <a:ea typeface="Consolas"/>
                    <a:cs typeface="Consolas"/>
                  </a:rPr>
                  <a:t>Wi-Fi AP</a:t>
                </a:r>
              </a:p>
            </p:txBody>
          </p:sp>
          <p:sp>
            <p:nvSpPr>
              <p:cNvPr id="30" name="TextBox 30"/>
              <p:cNvSpPr txBox="1"/>
              <p:nvPr/>
            </p:nvSpPr>
            <p:spPr>
              <a:xfrm>
                <a:off x="5512384" y="3479800"/>
                <a:ext cx="1167232" cy="234696"/>
              </a:xfrm>
              <a:prstGeom prst="rect">
                <a:avLst/>
              </a:prstGeom>
              <a:noFill/>
              <a:ln>
                <a:noFill/>
              </a:ln>
            </p:spPr>
            <p:txBody>
              <a:bodyPr wrap="none" lIns="0" tIns="0" rIns="0" bIns="0" anchor="t" anchorCtr="0">
                <a:spAutoFit/>
              </a:bodyPr>
              <a:lstStyle/>
              <a:p>
                <a:pPr algn="ctr"/>
                <a:r>
                  <a:rPr lang="en" sz="1200" dirty="0">
                    <a:solidFill>
                      <a:srgbClr val="FFFFFF"/>
                    </a:solidFill>
                    <a:latin typeface="Consolas"/>
                    <a:ea typeface="Consolas"/>
                    <a:cs typeface="Consolas"/>
                  </a:rPr>
                  <a:t>192.168.43.42</a:t>
                </a:r>
              </a:p>
            </p:txBody>
          </p:sp>
        </p:grpSp>
      </p:grpSp>
      <p:grpSp>
        <p:nvGrpSpPr>
          <p:cNvPr id="40" name="link-app"/>
          <p:cNvGrpSpPr/>
          <p:nvPr/>
        </p:nvGrpSpPr>
        <p:grpSpPr>
          <a:xfrm>
            <a:off x="7772400" y="1447800"/>
            <a:ext cx="3810000" cy="1524000"/>
            <a:chOff x="7772400" y="1447800"/>
            <a:chExt cx="3810000" cy="1524000"/>
          </a:xfrm>
        </p:grpSpPr>
        <p:sp>
          <p:nvSpPr>
            <p:cNvPr id="33" name="Rectangle 33"/>
            <p:cNvSpPr/>
            <p:nvPr/>
          </p:nvSpPr>
          <p:spPr>
            <a:xfrm>
              <a:off x="7772400" y="1447800"/>
              <a:ext cx="3810000" cy="1524000"/>
            </a:xfrm>
            <a:prstGeom prst="roundRect">
              <a:avLst>
                <a:gd name="adj" fmla="val 8750"/>
              </a:avLst>
            </a:prstGeom>
            <a:solidFill>
              <a:srgbClr val="E9F4F3"/>
            </a:solidFill>
            <a:ln>
              <a:noFill/>
            </a:ln>
          </p:spPr>
        </p:sp>
        <p:grpSp>
          <p:nvGrpSpPr>
            <p:cNvPr id="37" name="Group 37"/>
            <p:cNvGrpSpPr/>
            <p:nvPr/>
          </p:nvGrpSpPr>
          <p:grpSpPr>
            <a:xfrm>
              <a:off x="8105775" y="1690687"/>
              <a:ext cx="209550" cy="314324"/>
              <a:chOff x="8105775" y="1690687"/>
              <a:chExt cx="209550" cy="314324"/>
            </a:xfrm>
          </p:grpSpPr>
          <p:sp>
            <p:nvSpPr>
              <p:cNvPr id="34" name="Freeform 34"/>
              <p:cNvSpPr/>
              <p:nvPr/>
            </p:nvSpPr>
            <p:spPr>
              <a:xfrm>
                <a:off x="8105775" y="1690687"/>
                <a:ext cx="209550" cy="314324"/>
              </a:xfrm>
              <a:custGeom>
                <a:avLst/>
                <a:gdLst/>
                <a:ahLst/>
                <a:cxnLst/>
                <a:rect l="l" t="t" r="r" b="b"/>
                <a:pathLst>
                  <a:path w="209550" h="314324">
                    <a:moveTo>
                      <a:pt x="0" y="34925"/>
                    </a:moveTo>
                    <a:cubicBezTo>
                      <a:pt x="0" y="15636"/>
                      <a:pt x="15636" y="0"/>
                      <a:pt x="34925" y="0"/>
                    </a:cubicBezTo>
                    <a:lnTo>
                      <a:pt x="174625" y="0"/>
                    </a:lnTo>
                    <a:cubicBezTo>
                      <a:pt x="193913" y="0"/>
                      <a:pt x="209550" y="15636"/>
                      <a:pt x="209550" y="34925"/>
                    </a:cubicBezTo>
                    <a:lnTo>
                      <a:pt x="209550" y="279399"/>
                    </a:lnTo>
                    <a:cubicBezTo>
                      <a:pt x="209550" y="298688"/>
                      <a:pt x="193913" y="314324"/>
                      <a:pt x="174625" y="314324"/>
                    </a:cubicBezTo>
                    <a:lnTo>
                      <a:pt x="34925" y="314324"/>
                    </a:lnTo>
                    <a:cubicBezTo>
                      <a:pt x="15636" y="314324"/>
                      <a:pt x="0" y="298688"/>
                      <a:pt x="0" y="279399"/>
                    </a:cubicBezTo>
                    <a:lnTo>
                      <a:pt x="0" y="34925"/>
                    </a:lnTo>
                  </a:path>
                </a:pathLst>
              </a:custGeom>
              <a:noFill/>
              <a:ln w="34925">
                <a:solidFill>
                  <a:srgbClr val="0B7A75"/>
                </a:solidFill>
              </a:ln>
            </p:spPr>
          </p:sp>
          <p:sp>
            <p:nvSpPr>
              <p:cNvPr id="35" name="Freeform 35"/>
              <p:cNvSpPr/>
              <p:nvPr/>
            </p:nvSpPr>
            <p:spPr>
              <a:xfrm>
                <a:off x="8193087" y="1708150"/>
                <a:ext cx="34925" cy="9525"/>
              </a:xfrm>
              <a:custGeom>
                <a:avLst/>
                <a:gdLst/>
                <a:ahLst/>
                <a:cxnLst/>
                <a:rect l="l" t="t" r="r" b="b"/>
                <a:pathLst>
                  <a:path w="34925" h="9525">
                    <a:moveTo>
                      <a:pt x="0" y="0"/>
                    </a:moveTo>
                    <a:lnTo>
                      <a:pt x="34925" y="0"/>
                    </a:lnTo>
                  </a:path>
                </a:pathLst>
              </a:custGeom>
              <a:noFill/>
              <a:ln w="34925">
                <a:solidFill>
                  <a:srgbClr val="0B7A75"/>
                </a:solidFill>
              </a:ln>
            </p:spPr>
          </p:sp>
          <p:sp>
            <p:nvSpPr>
              <p:cNvPr id="36" name="Freeform 36"/>
              <p:cNvSpPr/>
              <p:nvPr/>
            </p:nvSpPr>
            <p:spPr>
              <a:xfrm>
                <a:off x="8210550" y="1935162"/>
                <a:ext cx="9525" cy="9525"/>
              </a:xfrm>
              <a:custGeom>
                <a:avLst/>
                <a:gdLst/>
                <a:ahLst/>
                <a:cxnLst/>
                <a:rect l="l" t="t" r="r" b="b"/>
                <a:pathLst>
                  <a:path w="9525" h="9525">
                    <a:moveTo>
                      <a:pt x="0" y="0"/>
                    </a:moveTo>
                    <a:lnTo>
                      <a:pt x="0" y="175"/>
                    </a:lnTo>
                  </a:path>
                </a:pathLst>
              </a:custGeom>
              <a:noFill/>
              <a:ln w="34925">
                <a:solidFill>
                  <a:srgbClr val="0B7A75"/>
                </a:solidFill>
              </a:ln>
            </p:spPr>
          </p:sp>
        </p:grpSp>
        <p:sp>
          <p:nvSpPr>
            <p:cNvPr id="38" name="TextBox 38"/>
            <p:cNvSpPr txBox="1"/>
            <p:nvPr/>
          </p:nvSpPr>
          <p:spPr>
            <a:xfrm>
              <a:off x="8564118" y="1739900"/>
              <a:ext cx="2340025"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ESP-Drone phone app</a:t>
              </a:r>
            </a:p>
          </p:txBody>
        </p:sp>
        <p:sp>
          <p:nvSpPr>
            <p:cNvPr id="39" name="TextBox 39"/>
            <p:cNvSpPr txBox="1"/>
            <p:nvPr/>
          </p:nvSpPr>
          <p:spPr>
            <a:xfrm>
              <a:off x="7993380" y="2197100"/>
              <a:ext cx="2601639"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UDP to 192.168.43.42 : 2390</a:t>
              </a:r>
              <a:br>
                <a:rPr lang="en" sz="1500" dirty="0">
                  <a:solidFill>
                    <a:srgbClr val="4A5A6E"/>
                  </a:solidFill>
                  <a:latin typeface="+mn-lt"/>
                  <a:ea typeface="+mn-ea"/>
                  <a:cs typeface="+mn-cs"/>
                </a:rPr>
              </a:br>
              <a:r>
                <a:rPr lang="en" sz="1500" dirty="0">
                  <a:solidFill>
                    <a:srgbClr val="4A5A6E"/>
                  </a:solidFill>
                  <a:latin typeface="+mn-lt"/>
                  <a:ea typeface="+mn-ea"/>
                  <a:cs typeface="+mn-cs"/>
                </a:rPr>
                <a:t>Zero throttle, then raise to arm</a:t>
              </a:r>
            </a:p>
          </p:txBody>
        </p:sp>
      </p:grpSp>
      <p:grpSp>
        <p:nvGrpSpPr>
          <p:cNvPr id="54" name="link-web"/>
          <p:cNvGrpSpPr/>
          <p:nvPr/>
        </p:nvGrpSpPr>
        <p:grpSpPr>
          <a:xfrm>
            <a:off x="7772400" y="3162300"/>
            <a:ext cx="3810000" cy="1276350"/>
            <a:chOff x="7772400" y="3162300"/>
            <a:chExt cx="3810000" cy="1276350"/>
          </a:xfrm>
        </p:grpSpPr>
        <p:sp>
          <p:nvSpPr>
            <p:cNvPr id="41" name="Rectangle 41"/>
            <p:cNvSpPr/>
            <p:nvPr/>
          </p:nvSpPr>
          <p:spPr>
            <a:xfrm>
              <a:off x="7772400" y="3162300"/>
              <a:ext cx="3810000" cy="1276350"/>
            </a:xfrm>
            <a:prstGeom prst="roundRect">
              <a:avLst>
                <a:gd name="adj" fmla="val 10448"/>
              </a:avLst>
            </a:prstGeom>
            <a:solidFill>
              <a:srgbClr val="FFF3EA"/>
            </a:solidFill>
            <a:ln>
              <a:noFill/>
            </a:ln>
          </p:spPr>
        </p:sp>
        <p:grpSp>
          <p:nvGrpSpPr>
            <p:cNvPr id="51" name="Group 51"/>
            <p:cNvGrpSpPr/>
            <p:nvPr/>
          </p:nvGrpSpPr>
          <p:grpSpPr>
            <a:xfrm>
              <a:off x="8035925" y="3405090"/>
              <a:ext cx="349249" cy="314519"/>
              <a:chOff x="8035925" y="3405090"/>
              <a:chExt cx="349249" cy="314519"/>
            </a:xfrm>
          </p:grpSpPr>
          <p:sp>
            <p:nvSpPr>
              <p:cNvPr id="42" name="Freeform 42"/>
              <p:cNvSpPr/>
              <p:nvPr/>
            </p:nvSpPr>
            <p:spPr>
              <a:xfrm>
                <a:off x="8079861" y="3405090"/>
                <a:ext cx="261658" cy="69947"/>
              </a:xfrm>
              <a:custGeom>
                <a:avLst/>
                <a:gdLst/>
                <a:ahLst/>
                <a:cxnLst/>
                <a:rect l="l" t="t" r="r" b="b"/>
                <a:pathLst>
                  <a:path w="261658" h="69947">
                    <a:moveTo>
                      <a:pt x="261658" y="69947"/>
                    </a:moveTo>
                    <a:cubicBezTo>
                      <a:pt x="232439" y="26217"/>
                      <a:pt x="183283" y="0"/>
                      <a:pt x="130689" y="97"/>
                    </a:cubicBezTo>
                    <a:cubicBezTo>
                      <a:pt x="78187" y="65"/>
                      <a:pt x="29144" y="26278"/>
                      <a:pt x="0" y="69947"/>
                    </a:cubicBezTo>
                  </a:path>
                </a:pathLst>
              </a:custGeom>
              <a:noFill/>
              <a:ln w="34925">
                <a:solidFill>
                  <a:srgbClr val="C2410C"/>
                </a:solidFill>
              </a:ln>
            </p:spPr>
          </p:sp>
          <p:sp>
            <p:nvSpPr>
              <p:cNvPr id="43" name="Freeform 43"/>
              <p:cNvSpPr/>
              <p:nvPr/>
            </p:nvSpPr>
            <p:spPr>
              <a:xfrm>
                <a:off x="8169932" y="3405187"/>
                <a:ext cx="31886" cy="69850"/>
              </a:xfrm>
              <a:custGeom>
                <a:avLst/>
                <a:gdLst/>
                <a:ahLst/>
                <a:cxnLst/>
                <a:rect l="l" t="t" r="r" b="b"/>
                <a:pathLst>
                  <a:path w="31886" h="69850">
                    <a:moveTo>
                      <a:pt x="31886" y="0"/>
                    </a:moveTo>
                    <a:cubicBezTo>
                      <a:pt x="18277" y="21804"/>
                      <a:pt x="7558" y="45284"/>
                      <a:pt x="0" y="69850"/>
                    </a:cubicBezTo>
                  </a:path>
                </a:pathLst>
              </a:custGeom>
              <a:noFill/>
              <a:ln w="34925">
                <a:solidFill>
                  <a:srgbClr val="C2410C"/>
                </a:solidFill>
              </a:ln>
            </p:spPr>
          </p:sp>
          <p:sp>
            <p:nvSpPr>
              <p:cNvPr id="44" name="Freeform 44"/>
              <p:cNvSpPr/>
              <p:nvPr/>
            </p:nvSpPr>
            <p:spPr>
              <a:xfrm>
                <a:off x="8219281" y="3405187"/>
                <a:ext cx="31921" cy="69850"/>
              </a:xfrm>
              <a:custGeom>
                <a:avLst/>
                <a:gdLst/>
                <a:ahLst/>
                <a:cxnLst/>
                <a:rect l="l" t="t" r="r" b="b"/>
                <a:pathLst>
                  <a:path w="31921" h="69850">
                    <a:moveTo>
                      <a:pt x="0" y="0"/>
                    </a:moveTo>
                    <a:cubicBezTo>
                      <a:pt x="13622" y="21802"/>
                      <a:pt x="24352" y="45282"/>
                      <a:pt x="31921" y="69850"/>
                    </a:cubicBezTo>
                  </a:path>
                </a:pathLst>
              </a:custGeom>
              <a:noFill/>
              <a:ln w="34925">
                <a:solidFill>
                  <a:srgbClr val="C2410C"/>
                </a:solidFill>
              </a:ln>
            </p:spPr>
          </p:sp>
          <p:sp>
            <p:nvSpPr>
              <p:cNvPr id="45" name="Freeform 45"/>
              <p:cNvSpPr/>
              <p:nvPr/>
            </p:nvSpPr>
            <p:spPr>
              <a:xfrm>
                <a:off x="8079861" y="3649662"/>
                <a:ext cx="261658" cy="69947"/>
              </a:xfrm>
              <a:custGeom>
                <a:avLst/>
                <a:gdLst/>
                <a:ahLst/>
                <a:cxnLst/>
                <a:rect l="l" t="t" r="r" b="b"/>
                <a:pathLst>
                  <a:path w="261658" h="69947">
                    <a:moveTo>
                      <a:pt x="261658" y="0"/>
                    </a:moveTo>
                    <a:cubicBezTo>
                      <a:pt x="232439" y="43731"/>
                      <a:pt x="183283" y="69947"/>
                      <a:pt x="130689" y="69850"/>
                    </a:cubicBezTo>
                    <a:cubicBezTo>
                      <a:pt x="78187" y="69882"/>
                      <a:pt x="29144" y="43670"/>
                      <a:pt x="0" y="0"/>
                    </a:cubicBezTo>
                  </a:path>
                </a:pathLst>
              </a:custGeom>
              <a:noFill/>
              <a:ln w="34925">
                <a:solidFill>
                  <a:srgbClr val="C2410C"/>
                </a:solidFill>
              </a:ln>
            </p:spPr>
          </p:sp>
          <p:sp>
            <p:nvSpPr>
              <p:cNvPr id="46" name="Freeform 46"/>
              <p:cNvSpPr/>
              <p:nvPr/>
            </p:nvSpPr>
            <p:spPr>
              <a:xfrm>
                <a:off x="8169932" y="3649662"/>
                <a:ext cx="31886" cy="69850"/>
              </a:xfrm>
              <a:custGeom>
                <a:avLst/>
                <a:gdLst/>
                <a:ahLst/>
                <a:cxnLst/>
                <a:rect l="l" t="t" r="r" b="b"/>
                <a:pathLst>
                  <a:path w="31886" h="69850">
                    <a:moveTo>
                      <a:pt x="31886" y="69850"/>
                    </a:moveTo>
                    <a:cubicBezTo>
                      <a:pt x="18277" y="48046"/>
                      <a:pt x="7558" y="24566"/>
                      <a:pt x="0" y="0"/>
                    </a:cubicBezTo>
                  </a:path>
                </a:pathLst>
              </a:custGeom>
              <a:noFill/>
              <a:ln w="34925">
                <a:solidFill>
                  <a:srgbClr val="C2410C"/>
                </a:solidFill>
              </a:ln>
            </p:spPr>
          </p:sp>
          <p:sp>
            <p:nvSpPr>
              <p:cNvPr id="47" name="Freeform 47"/>
              <p:cNvSpPr/>
              <p:nvPr/>
            </p:nvSpPr>
            <p:spPr>
              <a:xfrm>
                <a:off x="8219281" y="3649662"/>
                <a:ext cx="31921" cy="69850"/>
              </a:xfrm>
              <a:custGeom>
                <a:avLst/>
                <a:gdLst/>
                <a:ahLst/>
                <a:cxnLst/>
                <a:rect l="l" t="t" r="r" b="b"/>
                <a:pathLst>
                  <a:path w="31921" h="69850">
                    <a:moveTo>
                      <a:pt x="0" y="69850"/>
                    </a:moveTo>
                    <a:cubicBezTo>
                      <a:pt x="13622" y="48048"/>
                      <a:pt x="24352" y="24568"/>
                      <a:pt x="31921" y="0"/>
                    </a:cubicBezTo>
                  </a:path>
                </a:pathLst>
              </a:custGeom>
              <a:noFill/>
              <a:ln w="34925">
                <a:solidFill>
                  <a:srgbClr val="C2410C"/>
                </a:solidFill>
              </a:ln>
            </p:spPr>
          </p:sp>
          <p:sp>
            <p:nvSpPr>
              <p:cNvPr id="48" name="Freeform 48"/>
              <p:cNvSpPr/>
              <p:nvPr/>
            </p:nvSpPr>
            <p:spPr>
              <a:xfrm>
                <a:off x="8035925" y="3527425"/>
                <a:ext cx="87312" cy="69850"/>
              </a:xfrm>
              <a:custGeom>
                <a:avLst/>
                <a:gdLst/>
                <a:ahLst/>
                <a:cxnLst/>
                <a:rect l="l" t="t" r="r" b="b"/>
                <a:pathLst>
                  <a:path w="87312" h="69850">
                    <a:moveTo>
                      <a:pt x="0" y="0"/>
                    </a:moveTo>
                    <a:lnTo>
                      <a:pt x="17462" y="69850"/>
                    </a:lnTo>
                    <a:lnTo>
                      <a:pt x="43656" y="0"/>
                    </a:lnTo>
                    <a:lnTo>
                      <a:pt x="69850" y="69850"/>
                    </a:lnTo>
                    <a:lnTo>
                      <a:pt x="87312" y="0"/>
                    </a:lnTo>
                  </a:path>
                </a:pathLst>
              </a:custGeom>
              <a:noFill/>
              <a:ln w="34925">
                <a:solidFill>
                  <a:srgbClr val="C2410C"/>
                </a:solidFill>
              </a:ln>
            </p:spPr>
          </p:sp>
          <p:sp>
            <p:nvSpPr>
              <p:cNvPr id="49" name="Freeform 49"/>
              <p:cNvSpPr/>
              <p:nvPr/>
            </p:nvSpPr>
            <p:spPr>
              <a:xfrm>
                <a:off x="8297862" y="3527425"/>
                <a:ext cx="87312" cy="69850"/>
              </a:xfrm>
              <a:custGeom>
                <a:avLst/>
                <a:gdLst/>
                <a:ahLst/>
                <a:cxnLst/>
                <a:rect l="l" t="t" r="r" b="b"/>
                <a:pathLst>
                  <a:path w="87312" h="69850">
                    <a:moveTo>
                      <a:pt x="0" y="0"/>
                    </a:moveTo>
                    <a:lnTo>
                      <a:pt x="17462" y="69850"/>
                    </a:lnTo>
                    <a:lnTo>
                      <a:pt x="43656" y="0"/>
                    </a:lnTo>
                    <a:lnTo>
                      <a:pt x="69850" y="69850"/>
                    </a:lnTo>
                    <a:lnTo>
                      <a:pt x="87312" y="0"/>
                    </a:lnTo>
                  </a:path>
                </a:pathLst>
              </a:custGeom>
              <a:noFill/>
              <a:ln w="34925">
                <a:solidFill>
                  <a:srgbClr val="C2410C"/>
                </a:solidFill>
              </a:ln>
            </p:spPr>
          </p:sp>
          <p:sp>
            <p:nvSpPr>
              <p:cNvPr id="50" name="Freeform 50"/>
              <p:cNvSpPr/>
              <p:nvPr/>
            </p:nvSpPr>
            <p:spPr>
              <a:xfrm>
                <a:off x="8166893" y="3527425"/>
                <a:ext cx="87312" cy="69850"/>
              </a:xfrm>
              <a:custGeom>
                <a:avLst/>
                <a:gdLst/>
                <a:ahLst/>
                <a:cxnLst/>
                <a:rect l="l" t="t" r="r" b="b"/>
                <a:pathLst>
                  <a:path w="87312" h="69850">
                    <a:moveTo>
                      <a:pt x="0" y="0"/>
                    </a:moveTo>
                    <a:lnTo>
                      <a:pt x="17462" y="69850"/>
                    </a:lnTo>
                    <a:lnTo>
                      <a:pt x="43656" y="0"/>
                    </a:lnTo>
                    <a:lnTo>
                      <a:pt x="69850" y="69850"/>
                    </a:lnTo>
                    <a:lnTo>
                      <a:pt x="87312" y="0"/>
                    </a:lnTo>
                  </a:path>
                </a:pathLst>
              </a:custGeom>
              <a:noFill/>
              <a:ln w="34925">
                <a:solidFill>
                  <a:srgbClr val="C2410C"/>
                </a:solidFill>
              </a:ln>
            </p:spPr>
          </p:sp>
        </p:grpSp>
        <p:sp>
          <p:nvSpPr>
            <p:cNvPr id="52" name="TextBox 52"/>
            <p:cNvSpPr txBox="1"/>
            <p:nvPr/>
          </p:nvSpPr>
          <p:spPr>
            <a:xfrm>
              <a:off x="8564118" y="3454400"/>
              <a:ext cx="1674387"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Web dashboard</a:t>
              </a:r>
            </a:p>
          </p:txBody>
        </p:sp>
        <p:sp>
          <p:nvSpPr>
            <p:cNvPr id="53" name="TextBox 53"/>
            <p:cNvSpPr txBox="1"/>
            <p:nvPr/>
          </p:nvSpPr>
          <p:spPr>
            <a:xfrm>
              <a:off x="7993380" y="3854450"/>
              <a:ext cx="2293010"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Live telemetry, PID tuning,</a:t>
              </a:r>
              <a:br>
                <a:rPr lang="en" sz="1500" dirty="0">
                  <a:solidFill>
                    <a:srgbClr val="4A5A6E"/>
                  </a:solidFill>
                  <a:latin typeface="+mn-lt"/>
                  <a:ea typeface="+mn-ea"/>
                  <a:cs typeface="+mn-cs"/>
                </a:rPr>
              </a:br>
              <a:r>
                <a:rPr lang="en" sz="1500" dirty="0">
                  <a:solidFill>
                    <a:srgbClr val="4A5A6E"/>
                  </a:solidFill>
                  <a:latin typeface="+mn-lt"/>
                  <a:ea typeface="+mn-ea"/>
                  <a:cs typeface="+mn-cs"/>
                </a:rPr>
                <a:t>bench tests while disarmed</a:t>
              </a:r>
            </a:p>
          </p:txBody>
        </p:sp>
      </p:grpSp>
      <p:grpSp>
        <p:nvGrpSpPr>
          <p:cNvPr id="79" name="packet"/>
          <p:cNvGrpSpPr/>
          <p:nvPr/>
        </p:nvGrpSpPr>
        <p:grpSpPr>
          <a:xfrm>
            <a:off x="601218" y="4559300"/>
            <a:ext cx="10057752" cy="1112520"/>
            <a:chOff x="601218" y="4559300"/>
            <a:chExt cx="10057752" cy="1112520"/>
          </a:xfrm>
        </p:grpSpPr>
        <p:sp>
          <p:nvSpPr>
            <p:cNvPr id="55" name="TextBox 55"/>
            <p:cNvSpPr txBox="1"/>
            <p:nvPr/>
          </p:nvSpPr>
          <p:spPr>
            <a:xfrm>
              <a:off x="601218" y="4559300"/>
              <a:ext cx="3792173"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ESP-NOW packet · 13 bytes, packed</a:t>
              </a:r>
            </a:p>
          </p:txBody>
        </p:sp>
        <p:grpSp>
          <p:nvGrpSpPr>
            <p:cNvPr id="63" name="Group 63"/>
            <p:cNvGrpSpPr/>
            <p:nvPr/>
          </p:nvGrpSpPr>
          <p:grpSpPr>
            <a:xfrm>
              <a:off x="971931" y="4927600"/>
              <a:ext cx="7247763" cy="234696"/>
              <a:chOff x="971931" y="4927600"/>
              <a:chExt cx="7247763" cy="234696"/>
            </a:xfrm>
          </p:grpSpPr>
          <p:sp>
            <p:nvSpPr>
              <p:cNvPr id="56" name="TextBox 56"/>
              <p:cNvSpPr txBox="1"/>
              <p:nvPr/>
            </p:nvSpPr>
            <p:spPr>
              <a:xfrm>
                <a:off x="971931" y="4927600"/>
                <a:ext cx="456438" cy="234696"/>
              </a:xfrm>
              <a:prstGeom prst="rect">
                <a:avLst/>
              </a:prstGeom>
              <a:noFill/>
              <a:ln>
                <a:noFill/>
              </a:ln>
            </p:spPr>
            <p:txBody>
              <a:bodyPr wrap="none" lIns="0" tIns="0" rIns="0" bIns="0" anchor="t" anchorCtr="0">
                <a:spAutoFit/>
              </a:bodyPr>
              <a:lstStyle/>
              <a:p>
                <a:pPr algn="ctr"/>
                <a:r>
                  <a:rPr lang="en" sz="1200" dirty="0">
                    <a:solidFill>
                      <a:srgbClr val="4A5A6E"/>
                    </a:solidFill>
                    <a:latin typeface="Consolas"/>
                    <a:ea typeface="Consolas"/>
                    <a:cs typeface="Consolas"/>
                  </a:rPr>
                  <a:t>magic</a:t>
                </a:r>
              </a:p>
            </p:txBody>
          </p:sp>
          <p:sp>
            <p:nvSpPr>
              <p:cNvPr id="57" name="TextBox 57"/>
              <p:cNvSpPr txBox="1"/>
              <p:nvPr/>
            </p:nvSpPr>
            <p:spPr>
              <a:xfrm>
                <a:off x="2241880" y="4927600"/>
                <a:ext cx="278740" cy="234696"/>
              </a:xfrm>
              <a:prstGeom prst="rect">
                <a:avLst/>
              </a:prstGeom>
              <a:noFill/>
              <a:ln>
                <a:noFill/>
              </a:ln>
            </p:spPr>
            <p:txBody>
              <a:bodyPr wrap="none" lIns="0" tIns="0" rIns="0" bIns="0" anchor="t" anchorCtr="0">
                <a:spAutoFit/>
              </a:bodyPr>
              <a:lstStyle/>
              <a:p>
                <a:pPr algn="ctr"/>
                <a:r>
                  <a:rPr lang="en" sz="1200" dirty="0">
                    <a:solidFill>
                      <a:srgbClr val="4A5A6E"/>
                    </a:solidFill>
                    <a:latin typeface="Consolas"/>
                    <a:ea typeface="Consolas"/>
                    <a:cs typeface="Consolas"/>
                  </a:rPr>
                  <a:t>seq</a:t>
                </a:r>
              </a:p>
            </p:txBody>
          </p:sp>
          <p:sp>
            <p:nvSpPr>
              <p:cNvPr id="58" name="TextBox 58"/>
              <p:cNvSpPr txBox="1"/>
              <p:nvPr/>
            </p:nvSpPr>
            <p:spPr>
              <a:xfrm>
                <a:off x="3200857" y="4927600"/>
                <a:ext cx="722986" cy="234696"/>
              </a:xfrm>
              <a:prstGeom prst="rect">
                <a:avLst/>
              </a:prstGeom>
              <a:noFill/>
              <a:ln>
                <a:noFill/>
              </a:ln>
            </p:spPr>
            <p:txBody>
              <a:bodyPr wrap="none" lIns="0" tIns="0" rIns="0" bIns="0" anchor="t" anchorCtr="0">
                <a:spAutoFit/>
              </a:bodyPr>
              <a:lstStyle/>
              <a:p>
                <a:pPr algn="ctr"/>
                <a:r>
                  <a:rPr lang="en" sz="1200" dirty="0">
                    <a:solidFill>
                      <a:srgbClr val="4A5A6E"/>
                    </a:solidFill>
                    <a:latin typeface="Consolas"/>
                    <a:ea typeface="Consolas"/>
                    <a:cs typeface="Consolas"/>
                  </a:rPr>
                  <a:t>throttle</a:t>
                </a:r>
              </a:p>
            </p:txBody>
          </p:sp>
          <p:sp>
            <p:nvSpPr>
              <p:cNvPr id="59" name="TextBox 59"/>
              <p:cNvSpPr txBox="1"/>
              <p:nvPr/>
            </p:nvSpPr>
            <p:spPr>
              <a:xfrm>
                <a:off x="4559656" y="4927600"/>
                <a:ext cx="367589" cy="234696"/>
              </a:xfrm>
              <a:prstGeom prst="rect">
                <a:avLst/>
              </a:prstGeom>
              <a:noFill/>
              <a:ln>
                <a:noFill/>
              </a:ln>
            </p:spPr>
            <p:txBody>
              <a:bodyPr wrap="none" lIns="0" tIns="0" rIns="0" bIns="0" anchor="t" anchorCtr="0">
                <a:spAutoFit/>
              </a:bodyPr>
              <a:lstStyle/>
              <a:p>
                <a:pPr algn="ctr"/>
                <a:r>
                  <a:rPr lang="en" sz="1200" dirty="0">
                    <a:solidFill>
                      <a:srgbClr val="4A5A6E"/>
                    </a:solidFill>
                    <a:latin typeface="Consolas"/>
                    <a:ea typeface="Consolas"/>
                    <a:cs typeface="Consolas"/>
                  </a:rPr>
                  <a:t>roll</a:t>
                </a:r>
              </a:p>
            </p:txBody>
          </p:sp>
          <p:sp>
            <p:nvSpPr>
              <p:cNvPr id="60" name="TextBox 60"/>
              <p:cNvSpPr txBox="1"/>
              <p:nvPr/>
            </p:nvSpPr>
            <p:spPr>
              <a:xfrm>
                <a:off x="5696331" y="4927600"/>
                <a:ext cx="456438" cy="234696"/>
              </a:xfrm>
              <a:prstGeom prst="rect">
                <a:avLst/>
              </a:prstGeom>
              <a:noFill/>
              <a:ln>
                <a:noFill/>
              </a:ln>
            </p:spPr>
            <p:txBody>
              <a:bodyPr wrap="none" lIns="0" tIns="0" rIns="0" bIns="0" anchor="t" anchorCtr="0">
                <a:spAutoFit/>
              </a:bodyPr>
              <a:lstStyle/>
              <a:p>
                <a:pPr algn="ctr"/>
                <a:r>
                  <a:rPr lang="en" sz="1200" dirty="0">
                    <a:solidFill>
                      <a:srgbClr val="4A5A6E"/>
                    </a:solidFill>
                    <a:latin typeface="Consolas"/>
                    <a:ea typeface="Consolas"/>
                    <a:cs typeface="Consolas"/>
                  </a:rPr>
                  <a:t>pitch</a:t>
                </a:r>
              </a:p>
            </p:txBody>
          </p:sp>
          <p:sp>
            <p:nvSpPr>
              <p:cNvPr id="61" name="TextBox 61"/>
              <p:cNvSpPr txBox="1"/>
              <p:nvPr/>
            </p:nvSpPr>
            <p:spPr>
              <a:xfrm>
                <a:off x="6966280" y="4927600"/>
                <a:ext cx="278740" cy="234696"/>
              </a:xfrm>
              <a:prstGeom prst="rect">
                <a:avLst/>
              </a:prstGeom>
              <a:noFill/>
              <a:ln>
                <a:noFill/>
              </a:ln>
            </p:spPr>
            <p:txBody>
              <a:bodyPr wrap="none" lIns="0" tIns="0" rIns="0" bIns="0" anchor="t" anchorCtr="0">
                <a:spAutoFit/>
              </a:bodyPr>
              <a:lstStyle/>
              <a:p>
                <a:pPr algn="ctr"/>
                <a:r>
                  <a:rPr lang="en" sz="1200" dirty="0">
                    <a:solidFill>
                      <a:srgbClr val="4A5A6E"/>
                    </a:solidFill>
                    <a:latin typeface="Consolas"/>
                    <a:ea typeface="Consolas"/>
                    <a:cs typeface="Consolas"/>
                  </a:rPr>
                  <a:t>yaw</a:t>
                </a:r>
              </a:p>
            </p:txBody>
          </p:sp>
          <p:sp>
            <p:nvSpPr>
              <p:cNvPr id="62" name="TextBox 62"/>
              <p:cNvSpPr txBox="1"/>
              <p:nvPr/>
            </p:nvSpPr>
            <p:spPr>
              <a:xfrm>
                <a:off x="7763256" y="4927600"/>
                <a:ext cx="456438" cy="234696"/>
              </a:xfrm>
              <a:prstGeom prst="rect">
                <a:avLst/>
              </a:prstGeom>
              <a:noFill/>
              <a:ln>
                <a:noFill/>
              </a:ln>
            </p:spPr>
            <p:txBody>
              <a:bodyPr wrap="none" lIns="0" tIns="0" rIns="0" bIns="0" anchor="t" anchorCtr="0">
                <a:spAutoFit/>
              </a:bodyPr>
              <a:lstStyle/>
              <a:p>
                <a:pPr algn="ctr"/>
                <a:r>
                  <a:rPr lang="en" sz="1200" dirty="0">
                    <a:solidFill>
                      <a:srgbClr val="4A5A6E"/>
                    </a:solidFill>
                    <a:latin typeface="Consolas"/>
                    <a:ea typeface="Consolas"/>
                    <a:cs typeface="Consolas"/>
                  </a:rPr>
                  <a:t>flags</a:t>
                </a:r>
              </a:p>
            </p:txBody>
          </p:sp>
        </p:grpSp>
        <p:grpSp>
          <p:nvGrpSpPr>
            <p:cNvPr id="77" name="Group 77"/>
            <p:cNvGrpSpPr/>
            <p:nvPr/>
          </p:nvGrpSpPr>
          <p:grpSpPr>
            <a:xfrm>
              <a:off x="609600" y="5162550"/>
              <a:ext cx="7677150" cy="381000"/>
              <a:chOff x="609600" y="5162550"/>
              <a:chExt cx="7677150" cy="381000"/>
            </a:xfrm>
          </p:grpSpPr>
          <p:sp>
            <p:nvSpPr>
              <p:cNvPr id="64" name="Rectangle 64"/>
              <p:cNvSpPr/>
              <p:nvPr/>
            </p:nvSpPr>
            <p:spPr>
              <a:xfrm>
                <a:off x="609600" y="5162550"/>
                <a:ext cx="590550" cy="381000"/>
              </a:xfrm>
              <a:prstGeom prst="rect">
                <a:avLst/>
              </a:prstGeom>
              <a:solidFill>
                <a:srgbClr val="9AA8B8"/>
              </a:solidFill>
              <a:ln w="19050">
                <a:solidFill>
                  <a:srgbClr val="FFFFFF"/>
                </a:solidFill>
              </a:ln>
            </p:spPr>
          </p:sp>
          <p:sp>
            <p:nvSpPr>
              <p:cNvPr id="65" name="Rectangle 65"/>
              <p:cNvSpPr/>
              <p:nvPr/>
            </p:nvSpPr>
            <p:spPr>
              <a:xfrm>
                <a:off x="1200150" y="5162550"/>
                <a:ext cx="590550" cy="381000"/>
              </a:xfrm>
              <a:prstGeom prst="rect">
                <a:avLst/>
              </a:prstGeom>
              <a:solidFill>
                <a:srgbClr val="9AA8B8"/>
              </a:solidFill>
              <a:ln w="19050">
                <a:solidFill>
                  <a:srgbClr val="FFFFFF"/>
                </a:solidFill>
              </a:ln>
            </p:spPr>
          </p:sp>
          <p:sp>
            <p:nvSpPr>
              <p:cNvPr id="66" name="Rectangle 66"/>
              <p:cNvSpPr/>
              <p:nvPr/>
            </p:nvSpPr>
            <p:spPr>
              <a:xfrm>
                <a:off x="1790700" y="5162550"/>
                <a:ext cx="590550" cy="381000"/>
              </a:xfrm>
              <a:prstGeom prst="rect">
                <a:avLst/>
              </a:prstGeom>
              <a:solidFill>
                <a:srgbClr val="B9C6D4"/>
              </a:solidFill>
              <a:ln w="19050">
                <a:solidFill>
                  <a:srgbClr val="FFFFFF"/>
                </a:solidFill>
              </a:ln>
            </p:spPr>
          </p:sp>
          <p:sp>
            <p:nvSpPr>
              <p:cNvPr id="67" name="Rectangle 67"/>
              <p:cNvSpPr/>
              <p:nvPr/>
            </p:nvSpPr>
            <p:spPr>
              <a:xfrm>
                <a:off x="2381250" y="5162550"/>
                <a:ext cx="590550" cy="381000"/>
              </a:xfrm>
              <a:prstGeom prst="rect">
                <a:avLst/>
              </a:prstGeom>
              <a:solidFill>
                <a:srgbClr val="B9C6D4"/>
              </a:solidFill>
              <a:ln w="19050">
                <a:solidFill>
                  <a:srgbClr val="FFFFFF"/>
                </a:solidFill>
              </a:ln>
            </p:spPr>
          </p:sp>
          <p:sp>
            <p:nvSpPr>
              <p:cNvPr id="68" name="Rectangle 68"/>
              <p:cNvSpPr/>
              <p:nvPr/>
            </p:nvSpPr>
            <p:spPr>
              <a:xfrm>
                <a:off x="2971800" y="5162550"/>
                <a:ext cx="590550" cy="381000"/>
              </a:xfrm>
              <a:prstGeom prst="rect">
                <a:avLst/>
              </a:prstGeom>
              <a:solidFill>
                <a:srgbClr val="E8590C"/>
              </a:solidFill>
              <a:ln w="19050">
                <a:solidFill>
                  <a:srgbClr val="FFFFFF"/>
                </a:solidFill>
              </a:ln>
            </p:spPr>
          </p:sp>
          <p:sp>
            <p:nvSpPr>
              <p:cNvPr id="69" name="Rectangle 69"/>
              <p:cNvSpPr/>
              <p:nvPr/>
            </p:nvSpPr>
            <p:spPr>
              <a:xfrm>
                <a:off x="3562350" y="5162550"/>
                <a:ext cx="590550" cy="381000"/>
              </a:xfrm>
              <a:prstGeom prst="rect">
                <a:avLst/>
              </a:prstGeom>
              <a:solidFill>
                <a:srgbClr val="E8590C"/>
              </a:solidFill>
              <a:ln w="19050">
                <a:solidFill>
                  <a:srgbClr val="FFFFFF"/>
                </a:solidFill>
              </a:ln>
            </p:spPr>
          </p:sp>
          <p:sp>
            <p:nvSpPr>
              <p:cNvPr id="70" name="Rectangle 70"/>
              <p:cNvSpPr/>
              <p:nvPr/>
            </p:nvSpPr>
            <p:spPr>
              <a:xfrm>
                <a:off x="4152900" y="5162550"/>
                <a:ext cx="590550" cy="381000"/>
              </a:xfrm>
              <a:prstGeom prst="rect">
                <a:avLst/>
              </a:prstGeom>
              <a:solidFill>
                <a:srgbClr val="0E2A47"/>
              </a:solidFill>
              <a:ln w="19050">
                <a:solidFill>
                  <a:srgbClr val="FFFFFF"/>
                </a:solidFill>
              </a:ln>
            </p:spPr>
          </p:sp>
          <p:sp>
            <p:nvSpPr>
              <p:cNvPr id="71" name="Rectangle 71"/>
              <p:cNvSpPr/>
              <p:nvPr/>
            </p:nvSpPr>
            <p:spPr>
              <a:xfrm>
                <a:off x="4743450" y="5162550"/>
                <a:ext cx="590550" cy="381000"/>
              </a:xfrm>
              <a:prstGeom prst="rect">
                <a:avLst/>
              </a:prstGeom>
              <a:solidFill>
                <a:srgbClr val="0E2A47"/>
              </a:solidFill>
              <a:ln w="19050">
                <a:solidFill>
                  <a:srgbClr val="FFFFFF"/>
                </a:solidFill>
              </a:ln>
            </p:spPr>
          </p:sp>
          <p:sp>
            <p:nvSpPr>
              <p:cNvPr id="72" name="Rectangle 72"/>
              <p:cNvSpPr/>
              <p:nvPr/>
            </p:nvSpPr>
            <p:spPr>
              <a:xfrm>
                <a:off x="5334000" y="5162550"/>
                <a:ext cx="590550" cy="381000"/>
              </a:xfrm>
              <a:prstGeom prst="rect">
                <a:avLst/>
              </a:prstGeom>
              <a:solidFill>
                <a:srgbClr val="1F4A73"/>
              </a:solidFill>
              <a:ln w="19050">
                <a:solidFill>
                  <a:srgbClr val="FFFFFF"/>
                </a:solidFill>
              </a:ln>
            </p:spPr>
          </p:sp>
          <p:sp>
            <p:nvSpPr>
              <p:cNvPr id="73" name="Rectangle 73"/>
              <p:cNvSpPr/>
              <p:nvPr/>
            </p:nvSpPr>
            <p:spPr>
              <a:xfrm>
                <a:off x="5924550" y="5162550"/>
                <a:ext cx="590550" cy="381000"/>
              </a:xfrm>
              <a:prstGeom prst="rect">
                <a:avLst/>
              </a:prstGeom>
              <a:solidFill>
                <a:srgbClr val="1F4A73"/>
              </a:solidFill>
              <a:ln w="19050">
                <a:solidFill>
                  <a:srgbClr val="FFFFFF"/>
                </a:solidFill>
              </a:ln>
            </p:spPr>
          </p:sp>
          <p:sp>
            <p:nvSpPr>
              <p:cNvPr id="74" name="Rectangle 74"/>
              <p:cNvSpPr/>
              <p:nvPr/>
            </p:nvSpPr>
            <p:spPr>
              <a:xfrm>
                <a:off x="6515100" y="5162550"/>
                <a:ext cx="590550" cy="381000"/>
              </a:xfrm>
              <a:prstGeom prst="rect">
                <a:avLst/>
              </a:prstGeom>
              <a:solidFill>
                <a:srgbClr val="0E2A47"/>
              </a:solidFill>
              <a:ln w="19050">
                <a:solidFill>
                  <a:srgbClr val="FFFFFF"/>
                </a:solidFill>
              </a:ln>
            </p:spPr>
          </p:sp>
          <p:sp>
            <p:nvSpPr>
              <p:cNvPr id="75" name="Rectangle 75"/>
              <p:cNvSpPr/>
              <p:nvPr/>
            </p:nvSpPr>
            <p:spPr>
              <a:xfrm>
                <a:off x="7105650" y="5162550"/>
                <a:ext cx="590550" cy="381000"/>
              </a:xfrm>
              <a:prstGeom prst="rect">
                <a:avLst/>
              </a:prstGeom>
              <a:solidFill>
                <a:srgbClr val="0E2A47"/>
              </a:solidFill>
              <a:ln w="19050">
                <a:solidFill>
                  <a:srgbClr val="FFFFFF"/>
                </a:solidFill>
              </a:ln>
            </p:spPr>
          </p:sp>
          <p:sp>
            <p:nvSpPr>
              <p:cNvPr id="76" name="Rectangle 76"/>
              <p:cNvSpPr/>
              <p:nvPr/>
            </p:nvSpPr>
            <p:spPr>
              <a:xfrm>
                <a:off x="7696200" y="5162550"/>
                <a:ext cx="590550" cy="381000"/>
              </a:xfrm>
              <a:prstGeom prst="rect">
                <a:avLst/>
              </a:prstGeom>
              <a:solidFill>
                <a:srgbClr val="0B7A75"/>
              </a:solidFill>
              <a:ln w="19050">
                <a:solidFill>
                  <a:srgbClr val="FFFFFF"/>
                </a:solidFill>
              </a:ln>
            </p:spPr>
          </p:sp>
        </p:grpSp>
        <p:sp>
          <p:nvSpPr>
            <p:cNvPr id="78" name="TextBox 78"/>
            <p:cNvSpPr txBox="1"/>
            <p:nvPr/>
          </p:nvSpPr>
          <p:spPr>
            <a:xfrm>
              <a:off x="8679180" y="4845050"/>
              <a:ext cx="1979790" cy="8267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throttle 0 – 1000</a:t>
              </a:r>
              <a:br>
                <a:rPr lang="en" sz="1500" dirty="0">
                  <a:solidFill>
                    <a:srgbClr val="4A5A6E"/>
                  </a:solidFill>
                  <a:latin typeface="+mn-lt"/>
                  <a:ea typeface="+mn-ea"/>
                  <a:cs typeface="+mn-cs"/>
                </a:rPr>
              </a:br>
              <a:r>
                <a:rPr lang="en" sz="1500" dirty="0">
                  <a:solidFill>
                    <a:srgbClr val="4A5A6E"/>
                  </a:solidFill>
                  <a:latin typeface="+mn-lt"/>
                  <a:ea typeface="+mn-ea"/>
                  <a:cs typeface="+mn-cs"/>
                </a:rPr>
                <a:t>sticks −500 … +500</a:t>
              </a:r>
              <a:br>
                <a:rPr lang="en" sz="1500" dirty="0">
                  <a:solidFill>
                    <a:srgbClr val="4A5A6E"/>
                  </a:solidFill>
                  <a:latin typeface="+mn-lt"/>
                  <a:ea typeface="+mn-ea"/>
                  <a:cs typeface="+mn-cs"/>
                </a:rPr>
              </a:br>
              <a:r>
                <a:rPr lang="en" sz="1500" dirty="0">
                  <a:solidFill>
                    <a:srgbClr val="4A5A6E"/>
                  </a:solidFill>
                  <a:latin typeface="+mn-lt"/>
                  <a:ea typeface="+mn-ea"/>
                  <a:cs typeface="+mn-cs"/>
                </a:rPr>
                <a:t>flags bit 0 = arm switch</a:t>
              </a:r>
            </a:p>
          </p:txBody>
        </p:sp>
      </p:grpSp>
      <p:grpSp>
        <p:nvGrpSpPr>
          <p:cNvPr id="86" name="failsafe"/>
          <p:cNvGrpSpPr/>
          <p:nvPr/>
        </p:nvGrpSpPr>
        <p:grpSpPr>
          <a:xfrm>
            <a:off x="609600" y="5791200"/>
            <a:ext cx="10972800" cy="457200"/>
            <a:chOff x="609600" y="5791200"/>
            <a:chExt cx="10972800" cy="457200"/>
          </a:xfrm>
        </p:grpSpPr>
        <p:sp>
          <p:nvSpPr>
            <p:cNvPr id="80" name="Rectangle 80"/>
            <p:cNvSpPr/>
            <p:nvPr/>
          </p:nvSpPr>
          <p:spPr>
            <a:xfrm>
              <a:off x="609600" y="5791200"/>
              <a:ext cx="10972800" cy="457200"/>
            </a:xfrm>
            <a:prstGeom prst="roundRect">
              <a:avLst>
                <a:gd name="adj" fmla="val 16667"/>
              </a:avLst>
            </a:prstGeom>
            <a:solidFill>
              <a:srgbClr val="FDECEC"/>
            </a:solidFill>
            <a:ln>
              <a:noFill/>
            </a:ln>
          </p:spPr>
        </p:sp>
        <p:grpSp>
          <p:nvGrpSpPr>
            <p:cNvPr id="84" name="Group 84"/>
            <p:cNvGrpSpPr/>
            <p:nvPr/>
          </p:nvGrpSpPr>
          <p:grpSpPr>
            <a:xfrm>
              <a:off x="824419" y="5901281"/>
              <a:ext cx="256151" cy="220068"/>
              <a:chOff x="824419" y="5901281"/>
              <a:chExt cx="256151" cy="220068"/>
            </a:xfrm>
          </p:grpSpPr>
          <p:sp>
            <p:nvSpPr>
              <p:cNvPr id="81" name="Freeform 81"/>
              <p:cNvSpPr/>
              <p:nvPr/>
            </p:nvSpPr>
            <p:spPr>
              <a:xfrm>
                <a:off x="952500" y="5981700"/>
                <a:ext cx="9525" cy="50800"/>
              </a:xfrm>
              <a:custGeom>
                <a:avLst/>
                <a:gdLst/>
                <a:ahLst/>
                <a:cxnLst/>
                <a:rect l="l" t="t" r="r" b="b"/>
                <a:pathLst>
                  <a:path w="9525" h="50800">
                    <a:moveTo>
                      <a:pt x="0" y="0"/>
                    </a:moveTo>
                    <a:lnTo>
                      <a:pt x="0" y="50800"/>
                    </a:lnTo>
                  </a:path>
                </a:pathLst>
              </a:custGeom>
              <a:noFill/>
              <a:ln w="25400">
                <a:solidFill>
                  <a:srgbClr val="C81E1E"/>
                </a:solidFill>
              </a:ln>
            </p:spPr>
          </p:sp>
          <p:sp>
            <p:nvSpPr>
              <p:cNvPr id="82" name="Freeform 82"/>
              <p:cNvSpPr/>
              <p:nvPr/>
            </p:nvSpPr>
            <p:spPr>
              <a:xfrm>
                <a:off x="824419" y="5901281"/>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rgbClr val="C81E1E"/>
                </a:solidFill>
              </a:ln>
            </p:spPr>
          </p:sp>
          <p:sp>
            <p:nvSpPr>
              <p:cNvPr id="83" name="Freeform 83"/>
              <p:cNvSpPr/>
              <p:nvPr/>
            </p:nvSpPr>
            <p:spPr>
              <a:xfrm>
                <a:off x="952500" y="6070599"/>
                <a:ext cx="9525" cy="9525"/>
              </a:xfrm>
              <a:custGeom>
                <a:avLst/>
                <a:gdLst/>
                <a:ahLst/>
                <a:cxnLst/>
                <a:rect l="l" t="t" r="r" b="b"/>
                <a:pathLst>
                  <a:path w="9525" h="9525">
                    <a:moveTo>
                      <a:pt x="0" y="0"/>
                    </a:moveTo>
                    <a:lnTo>
                      <a:pt x="127" y="0"/>
                    </a:lnTo>
                  </a:path>
                </a:pathLst>
              </a:custGeom>
              <a:noFill/>
              <a:ln w="25400">
                <a:solidFill>
                  <a:srgbClr val="C81E1E"/>
                </a:solidFill>
              </a:ln>
            </p:spPr>
          </p:sp>
        </p:grpSp>
        <p:sp>
          <p:nvSpPr>
            <p:cNvPr id="85" name="TextBox 85"/>
            <p:cNvSpPr txBox="1"/>
            <p:nvPr/>
          </p:nvSpPr>
          <p:spPr>
            <a:xfrm>
              <a:off x="1210818" y="5892800"/>
              <a:ext cx="5968391" cy="322707"/>
            </a:xfrm>
            <a:prstGeom prst="rect">
              <a:avLst/>
            </a:prstGeom>
            <a:noFill/>
            <a:ln>
              <a:noFill/>
            </a:ln>
          </p:spPr>
          <p:txBody>
            <a:bodyPr wrap="none" lIns="0" tIns="0" rIns="0" bIns="0" anchor="t" anchorCtr="0">
              <a:spAutoFit/>
            </a:bodyPr>
            <a:lstStyle/>
            <a:p>
              <a:pPr algn="l"/>
              <a:r>
                <a:rPr lang="en" sz="1650" b="1" dirty="0">
                  <a:solidFill>
                    <a:srgbClr val="C81E1E"/>
                  </a:solidFill>
                  <a:latin typeface="+mn-lt"/>
                  <a:ea typeface="+mn-ea"/>
                  <a:cs typeface="+mn-cs"/>
                </a:rPr>
                <a:t>Failsafe:</a:t>
              </a:r>
              <a:r>
                <a:rPr lang="en" sz="1650" dirty="0">
                  <a:solidFill>
                    <a:srgbClr val="0E1B2C"/>
                  </a:solidFill>
                  <a:latin typeface="+mn-lt"/>
                  <a:ea typeface="+mn-ea"/>
                  <a:cs typeface="+mn-cs"/>
                </a:rPr>
                <a:t> no packet for 500 ms while armed → motors disarm.</a:t>
              </a:r>
            </a:p>
          </p:txBody>
        </p:sp>
      </p:grpSp>
      <p:grpSp>
        <p:nvGrpSpPr>
          <p:cNvPr id="89" name="footer"/>
          <p:cNvGrpSpPr/>
          <p:nvPr/>
        </p:nvGrpSpPr>
        <p:grpSpPr>
          <a:xfrm>
            <a:off x="603504" y="6457950"/>
            <a:ext cx="10984992" cy="247396"/>
            <a:chOff x="603504" y="6457950"/>
            <a:chExt cx="10984992" cy="247396"/>
          </a:xfrm>
        </p:grpSpPr>
        <p:sp>
          <p:nvSpPr>
            <p:cNvPr id="87" name="TextBox 87"/>
            <p:cNvSpPr txBox="1"/>
            <p:nvPr/>
          </p:nvSpPr>
          <p:spPr>
            <a:xfrm>
              <a:off x="603504" y="6457950"/>
              <a:ext cx="5670535"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Packet struct is duplicated in Drone/src/radio.h and Transmitter/Transmitter.ino</a:t>
              </a:r>
            </a:p>
          </p:txBody>
        </p:sp>
        <p:sp>
          <p:nvSpPr>
            <p:cNvPr id="88" name="TextBox 88"/>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12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600" fill="hold"/>
                                        <p:tgtEl>
                                          <p:spTgt spid="32"/>
                                        </p:tgtEl>
                                        <p:attrNameLst>
                                          <p:attrName>ppt_w</p:attrName>
                                        </p:attrNameLst>
                                      </p:cBhvr>
                                      <p:tavLst>
                                        <p:tav tm="0">
                                          <p:val>
                                            <p:fltVal val="0"/>
                                          </p:val>
                                        </p:tav>
                                        <p:tav tm="100000">
                                          <p:val>
                                            <p:strVal val="#ppt_w"/>
                                          </p:val>
                                        </p:tav>
                                      </p:tavLst>
                                    </p:anim>
                                    <p:anim calcmode="lin" valueType="num">
                                      <p:cBhvr>
                                        <p:cTn id="8" dur="600" fill="hold"/>
                                        <p:tgtEl>
                                          <p:spTgt spid="32"/>
                                        </p:tgtEl>
                                        <p:attrNameLst>
                                          <p:attrName>ppt_h</p:attrName>
                                        </p:attrNameLst>
                                      </p:cBhvr>
                                      <p:tavLst>
                                        <p:tav tm="0">
                                          <p:val>
                                            <p:fltVal val="0"/>
                                          </p:val>
                                        </p:tav>
                                        <p:tav tm="100000">
                                          <p:val>
                                            <p:strVal val="#ppt_h"/>
                                          </p:val>
                                        </p:tav>
                                      </p:tavLst>
                                    </p:anim>
                                    <p:animEffect transition="in" filter="fade">
                                      <p:cBhvr>
                                        <p:cTn id="9" dur="600"/>
                                        <p:tgtEl>
                                          <p:spTgt spid="32"/>
                                        </p:tgtEl>
                                      </p:cBhvr>
                                    </p:animEffect>
                                  </p:childTnLst>
                                </p:cTn>
                              </p:par>
                            </p:childTnLst>
                          </p:cTn>
                        </p:par>
                        <p:par>
                          <p:cTn id="10" fill="hold">
                            <p:stCondLst>
                              <p:cond delay="600"/>
                            </p:stCondLst>
                            <p:childTnLst>
                              <p:par>
                                <p:cTn id="11" presetID="2" presetClass="entr" presetSubtype="2" fill="hold" nodeType="afterEffect">
                                  <p:stCondLst>
                                    <p:cond delay="10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1+#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par>
                          <p:cTn id="15" fill="hold">
                            <p:stCondLst>
                              <p:cond delay="1200"/>
                            </p:stCondLst>
                            <p:childTnLst>
                              <p:par>
                                <p:cTn id="16" presetID="2" presetClass="entr" presetSubtype="8" fill="hold" nodeType="afterEffect">
                                  <p:stCondLst>
                                    <p:cond delay="100"/>
                                  </p:stCondLst>
                                  <p:childTnLst>
                                    <p:set>
                                      <p:cBhvr>
                                        <p:cTn id="17" dur="1" fill="hold">
                                          <p:stCondLst>
                                            <p:cond delay="0"/>
                                          </p:stCondLst>
                                        </p:cTn>
                                        <p:tgtEl>
                                          <p:spTgt spid="40"/>
                                        </p:tgtEl>
                                        <p:attrNameLst>
                                          <p:attrName>style.visibility</p:attrName>
                                        </p:attrNameLst>
                                      </p:cBhvr>
                                      <p:to>
                                        <p:strVal val="visible"/>
                                      </p:to>
                                    </p:set>
                                    <p:anim calcmode="lin" valueType="num">
                                      <p:cBhvr additive="base">
                                        <p:cTn id="18" dur="500" fill="hold"/>
                                        <p:tgtEl>
                                          <p:spTgt spid="40"/>
                                        </p:tgtEl>
                                        <p:attrNameLst>
                                          <p:attrName>ppt_x</p:attrName>
                                        </p:attrNameLst>
                                      </p:cBhvr>
                                      <p:tavLst>
                                        <p:tav tm="0">
                                          <p:val>
                                            <p:strVal val="0-#ppt_w/2"/>
                                          </p:val>
                                        </p:tav>
                                        <p:tav tm="100000">
                                          <p:val>
                                            <p:strVal val="#ppt_x"/>
                                          </p:val>
                                        </p:tav>
                                      </p:tavLst>
                                    </p:anim>
                                    <p:anim calcmode="lin" valueType="num">
                                      <p:cBhvr additive="base">
                                        <p:cTn id="19" dur="500" fill="hold"/>
                                        <p:tgtEl>
                                          <p:spTgt spid="40"/>
                                        </p:tgtEl>
                                        <p:attrNameLst>
                                          <p:attrName>ppt_y</p:attrName>
                                        </p:attrNameLst>
                                      </p:cBhvr>
                                      <p:tavLst>
                                        <p:tav tm="0">
                                          <p:val>
                                            <p:strVal val="#ppt_y"/>
                                          </p:val>
                                        </p:tav>
                                        <p:tav tm="100000">
                                          <p:val>
                                            <p:strVal val="#ppt_y"/>
                                          </p:val>
                                        </p:tav>
                                      </p:tavLst>
                                    </p:anim>
                                  </p:childTnLst>
                                </p:cTn>
                              </p:par>
                            </p:childTnLst>
                          </p:cTn>
                        </p:par>
                        <p:par>
                          <p:cTn id="20" fill="hold">
                            <p:stCondLst>
                              <p:cond delay="1800"/>
                            </p:stCondLst>
                            <p:childTnLst>
                              <p:par>
                                <p:cTn id="21" presetID="2" presetClass="entr" presetSubtype="8" fill="hold" nodeType="afterEffect">
                                  <p:stCondLst>
                                    <p:cond delay="100"/>
                                  </p:stCondLst>
                                  <p:childTnLst>
                                    <p:set>
                                      <p:cBhvr>
                                        <p:cTn id="22" dur="1" fill="hold">
                                          <p:stCondLst>
                                            <p:cond delay="0"/>
                                          </p:stCondLst>
                                        </p:cTn>
                                        <p:tgtEl>
                                          <p:spTgt spid="54"/>
                                        </p:tgtEl>
                                        <p:attrNameLst>
                                          <p:attrName>style.visibility</p:attrName>
                                        </p:attrNameLst>
                                      </p:cBhvr>
                                      <p:to>
                                        <p:strVal val="visible"/>
                                      </p:to>
                                    </p:set>
                                    <p:anim calcmode="lin" valueType="num">
                                      <p:cBhvr additive="base">
                                        <p:cTn id="23" dur="500" fill="hold"/>
                                        <p:tgtEl>
                                          <p:spTgt spid="54"/>
                                        </p:tgtEl>
                                        <p:attrNameLst>
                                          <p:attrName>ppt_x</p:attrName>
                                        </p:attrNameLst>
                                      </p:cBhvr>
                                      <p:tavLst>
                                        <p:tav tm="0">
                                          <p:val>
                                            <p:strVal val="0-#ppt_w/2"/>
                                          </p:val>
                                        </p:tav>
                                        <p:tav tm="100000">
                                          <p:val>
                                            <p:strVal val="#ppt_x"/>
                                          </p:val>
                                        </p:tav>
                                      </p:tavLst>
                                    </p:anim>
                                    <p:anim calcmode="lin" valueType="num">
                                      <p:cBhvr additive="base">
                                        <p:cTn id="24" dur="500" fill="hold"/>
                                        <p:tgtEl>
                                          <p:spTgt spid="54"/>
                                        </p:tgtEl>
                                        <p:attrNameLst>
                                          <p:attrName>ppt_y</p:attrName>
                                        </p:attrNameLst>
                                      </p:cBhvr>
                                      <p:tavLst>
                                        <p:tav tm="0">
                                          <p:val>
                                            <p:strVal val="#ppt_y"/>
                                          </p:val>
                                        </p:tav>
                                        <p:tav tm="100000">
                                          <p:val>
                                            <p:strVal val="#ppt_y"/>
                                          </p:val>
                                        </p:tav>
                                      </p:tavLst>
                                    </p:anim>
                                  </p:childTnLst>
                                </p:cTn>
                              </p:par>
                            </p:childTnLst>
                          </p:cTn>
                        </p:par>
                        <p:par>
                          <p:cTn id="25" fill="hold">
                            <p:stCondLst>
                              <p:cond delay="2400"/>
                            </p:stCondLst>
                            <p:childTnLst>
                              <p:par>
                                <p:cTn id="26" presetID="22" presetClass="entr" presetSubtype="2" fill="hold" nodeType="afterEffect">
                                  <p:stCondLst>
                                    <p:cond delay="100"/>
                                  </p:stCondLst>
                                  <p:childTnLst>
                                    <p:set>
                                      <p:cBhvr>
                                        <p:cTn id="27" dur="1" fill="hold">
                                          <p:stCondLst>
                                            <p:cond delay="0"/>
                                          </p:stCondLst>
                                        </p:cTn>
                                        <p:tgtEl>
                                          <p:spTgt spid="79"/>
                                        </p:tgtEl>
                                        <p:attrNameLst>
                                          <p:attrName>style.visibility</p:attrName>
                                        </p:attrNameLst>
                                      </p:cBhvr>
                                      <p:to>
                                        <p:strVal val="visible"/>
                                      </p:to>
                                    </p:set>
                                    <p:animEffect transition="in" filter="wipe(right)">
                                      <p:cBhvr>
                                        <p:cTn id="28" dur="700"/>
                                        <p:tgtEl>
                                          <p:spTgt spid="79"/>
                                        </p:tgtEl>
                                      </p:cBhvr>
                                    </p:animEffect>
                                  </p:childTnLst>
                                </p:cTn>
                              </p:par>
                            </p:childTnLst>
                          </p:cTn>
                        </p:par>
                        <p:par>
                          <p:cTn id="29" fill="hold">
                            <p:stCondLst>
                              <p:cond delay="3200"/>
                            </p:stCondLst>
                            <p:childTnLst>
                              <p:par>
                                <p:cTn id="30" presetID="10" presetClass="entr" presetSubtype="0" fill="hold" nodeType="afterEffect">
                                  <p:stCondLst>
                                    <p:cond delay="100"/>
                                  </p:stCondLst>
                                  <p:childTnLst>
                                    <p:set>
                                      <p:cBhvr>
                                        <p:cTn id="31" dur="1" fill="hold">
                                          <p:stCondLst>
                                            <p:cond delay="0"/>
                                          </p:stCondLst>
                                        </p:cTn>
                                        <p:tgtEl>
                                          <p:spTgt spid="86"/>
                                        </p:tgtEl>
                                        <p:attrNameLst>
                                          <p:attrName>style.visibility</p:attrName>
                                        </p:attrNameLst>
                                      </p:cBhvr>
                                      <p:to>
                                        <p:strVal val="visible"/>
                                      </p:to>
                                    </p:set>
                                    <p:animEffect transition="in" filter="fade">
                                      <p:cBhvr>
                                        <p:cTn id="32"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ne-decor"/>
          <p:cNvSpPr/>
          <p:nvPr/>
        </p:nvSpPr>
        <p:spPr>
          <a:xfrm>
            <a:off x="0" y="0"/>
            <a:ext cx="4762500" cy="6858000"/>
          </a:xfrm>
          <a:prstGeom prst="rect">
            <a:avLst/>
          </a:prstGeom>
          <a:solidFill>
            <a:srgbClr val="0E2A47"/>
          </a:solidFill>
          <a:ln>
            <a:noFill/>
          </a:ln>
        </p:spPr>
      </p:sp>
      <p:grpSp>
        <p:nvGrpSpPr>
          <p:cNvPr id="15" name="section-mark"/>
          <p:cNvGrpSpPr/>
          <p:nvPr/>
        </p:nvGrpSpPr>
        <p:grpSpPr>
          <a:xfrm>
            <a:off x="514350" y="1263650"/>
            <a:ext cx="3409950" cy="5041900"/>
            <a:chOff x="514350" y="1263650"/>
            <a:chExt cx="3409950" cy="5041900"/>
          </a:xfrm>
        </p:grpSpPr>
        <p:sp>
          <p:nvSpPr>
            <p:cNvPr id="3" name="TextBox 3"/>
            <p:cNvSpPr txBox="1"/>
            <p:nvPr/>
          </p:nvSpPr>
          <p:spPr>
            <a:xfrm>
              <a:off x="602742" y="1263650"/>
              <a:ext cx="1769669" cy="264033"/>
            </a:xfrm>
            <a:prstGeom prst="rect">
              <a:avLst/>
            </a:prstGeom>
            <a:noFill/>
            <a:ln>
              <a:noFill/>
            </a:ln>
          </p:spPr>
          <p:txBody>
            <a:bodyPr wrap="none" lIns="0" tIns="0" rIns="0" bIns="0" anchor="t" anchorCtr="0">
              <a:spAutoFit/>
            </a:bodyPr>
            <a:lstStyle/>
            <a:p>
              <a:pPr algn="l"/>
              <a:r>
                <a:rPr lang="en" sz="1350" spc="150" dirty="0">
                  <a:solidFill>
                    <a:srgbClr val="F7A072"/>
                  </a:solidFill>
                  <a:latin typeface="Consolas"/>
                  <a:ea typeface="Consolas"/>
                  <a:cs typeface="Consolas"/>
                </a:rPr>
                <a:t>PHASE 04 OF 05</a:t>
              </a:r>
            </a:p>
          </p:txBody>
        </p:sp>
        <p:sp>
          <p:nvSpPr>
            <p:cNvPr id="4" name="TextBox 4"/>
            <p:cNvSpPr txBox="1"/>
            <p:nvPr/>
          </p:nvSpPr>
          <p:spPr>
            <a:xfrm>
              <a:off x="514350" y="1524000"/>
              <a:ext cx="1710662" cy="2076450"/>
            </a:xfrm>
            <a:prstGeom prst="rect">
              <a:avLst/>
            </a:prstGeom>
            <a:noFill/>
            <a:ln>
              <a:noFill/>
            </a:ln>
          </p:spPr>
          <p:txBody>
            <a:bodyPr wrap="none" lIns="0" tIns="0" rIns="0" bIns="0" anchor="t" anchorCtr="0">
              <a:spAutoFit/>
            </a:bodyPr>
            <a:lstStyle/>
            <a:p>
              <a:pPr algn="l"/>
              <a:r>
                <a:rPr lang="en" sz="10800" b="1" dirty="0">
                  <a:solidFill>
                    <a:srgbClr val="FFFFFF"/>
                  </a:solidFill>
                  <a:latin typeface="+mn-lt"/>
                  <a:ea typeface="+mn-ea"/>
                  <a:cs typeface="+mn-cs"/>
                </a:rPr>
                <a:t>04</a:t>
              </a:r>
            </a:p>
          </p:txBody>
        </p:sp>
        <p:grpSp>
          <p:nvGrpSpPr>
            <p:cNvPr id="13" name="Group 13"/>
            <p:cNvGrpSpPr/>
            <p:nvPr/>
          </p:nvGrpSpPr>
          <p:grpSpPr>
            <a:xfrm>
              <a:off x="838200" y="3219450"/>
              <a:ext cx="3086100" cy="3086100"/>
              <a:chOff x="838200" y="3219450"/>
              <a:chExt cx="3086100" cy="3086100"/>
            </a:xfrm>
          </p:grpSpPr>
          <p:sp>
            <p:nvSpPr>
              <p:cNvPr id="5" name="Line 5"/>
              <p:cNvSpPr/>
              <p:nvPr/>
            </p:nvSpPr>
            <p:spPr>
              <a:xfrm>
                <a:off x="1428750" y="3810000"/>
                <a:ext cx="952500" cy="952500"/>
              </a:xfrm>
              <a:custGeom>
                <a:avLst/>
                <a:gdLst/>
                <a:ahLst/>
                <a:cxnLst/>
                <a:rect l="l" t="t" r="r" b="b"/>
                <a:pathLst>
                  <a:path w="952500" h="952500">
                    <a:moveTo>
                      <a:pt x="952500" y="952500"/>
                    </a:moveTo>
                    <a:lnTo>
                      <a:pt x="0" y="0"/>
                    </a:lnTo>
                  </a:path>
                </a:pathLst>
              </a:custGeom>
              <a:noFill/>
              <a:ln w="95250">
                <a:solidFill>
                  <a:srgbClr val="FFFFFF">
                    <a:alpha val="22000"/>
                  </a:srgbClr>
                </a:solidFill>
              </a:ln>
            </p:spPr>
          </p:sp>
          <p:sp>
            <p:nvSpPr>
              <p:cNvPr id="6" name="Line 6"/>
              <p:cNvSpPr/>
              <p:nvPr/>
            </p:nvSpPr>
            <p:spPr>
              <a:xfrm>
                <a:off x="2381250" y="3810000"/>
                <a:ext cx="952500" cy="952500"/>
              </a:xfrm>
              <a:custGeom>
                <a:avLst/>
                <a:gdLst/>
                <a:ahLst/>
                <a:cxnLst/>
                <a:rect l="l" t="t" r="r" b="b"/>
                <a:pathLst>
                  <a:path w="952500" h="952500">
                    <a:moveTo>
                      <a:pt x="0" y="952500"/>
                    </a:moveTo>
                    <a:lnTo>
                      <a:pt x="952500" y="0"/>
                    </a:lnTo>
                  </a:path>
                </a:pathLst>
              </a:custGeom>
              <a:noFill/>
              <a:ln w="95250">
                <a:solidFill>
                  <a:srgbClr val="FFFFFF">
                    <a:alpha val="22000"/>
                  </a:srgbClr>
                </a:solidFill>
              </a:ln>
            </p:spPr>
          </p:sp>
          <p:sp>
            <p:nvSpPr>
              <p:cNvPr id="7" name="Line 7"/>
              <p:cNvSpPr/>
              <p:nvPr/>
            </p:nvSpPr>
            <p:spPr>
              <a:xfrm>
                <a:off x="2381250" y="4762500"/>
                <a:ext cx="952500" cy="952500"/>
              </a:xfrm>
              <a:custGeom>
                <a:avLst/>
                <a:gdLst/>
                <a:ahLst/>
                <a:cxnLst/>
                <a:rect l="l" t="t" r="r" b="b"/>
                <a:pathLst>
                  <a:path w="952500" h="952500">
                    <a:moveTo>
                      <a:pt x="0" y="0"/>
                    </a:moveTo>
                    <a:lnTo>
                      <a:pt x="952500" y="952500"/>
                    </a:lnTo>
                  </a:path>
                </a:pathLst>
              </a:custGeom>
              <a:noFill/>
              <a:ln w="95250">
                <a:solidFill>
                  <a:srgbClr val="FFFFFF">
                    <a:alpha val="22000"/>
                  </a:srgbClr>
                </a:solidFill>
              </a:ln>
            </p:spPr>
          </p:sp>
          <p:sp>
            <p:nvSpPr>
              <p:cNvPr id="8" name="Line 8"/>
              <p:cNvSpPr/>
              <p:nvPr/>
            </p:nvSpPr>
            <p:spPr>
              <a:xfrm>
                <a:off x="1428750" y="4762500"/>
                <a:ext cx="952500" cy="952500"/>
              </a:xfrm>
              <a:custGeom>
                <a:avLst/>
                <a:gdLst/>
                <a:ahLst/>
                <a:cxnLst/>
                <a:rect l="l" t="t" r="r" b="b"/>
                <a:pathLst>
                  <a:path w="952500" h="952500">
                    <a:moveTo>
                      <a:pt x="952500" y="0"/>
                    </a:moveTo>
                    <a:lnTo>
                      <a:pt x="0" y="952500"/>
                    </a:lnTo>
                  </a:path>
                </a:pathLst>
              </a:custGeom>
              <a:noFill/>
              <a:ln w="95250">
                <a:solidFill>
                  <a:srgbClr val="FFFFFF">
                    <a:alpha val="22000"/>
                  </a:srgbClr>
                </a:solidFill>
              </a:ln>
            </p:spPr>
          </p:sp>
          <p:sp>
            <p:nvSpPr>
              <p:cNvPr id="9" name="Ellipse 9"/>
              <p:cNvSpPr/>
              <p:nvPr/>
            </p:nvSpPr>
            <p:spPr>
              <a:xfrm>
                <a:off x="838200" y="3219450"/>
                <a:ext cx="1181100" cy="1181100"/>
              </a:xfrm>
              <a:prstGeom prst="ellipse">
                <a:avLst/>
              </a:prstGeom>
              <a:noFill/>
              <a:ln w="19050">
                <a:solidFill>
                  <a:srgbClr val="FFFFFF">
                    <a:alpha val="22000"/>
                  </a:srgbClr>
                </a:solidFill>
              </a:ln>
            </p:spPr>
          </p:sp>
          <p:sp>
            <p:nvSpPr>
              <p:cNvPr id="10" name="Ellipse 10"/>
              <p:cNvSpPr/>
              <p:nvPr/>
            </p:nvSpPr>
            <p:spPr>
              <a:xfrm>
                <a:off x="2743200" y="3219450"/>
                <a:ext cx="1181100" cy="1181100"/>
              </a:xfrm>
              <a:prstGeom prst="ellipse">
                <a:avLst/>
              </a:prstGeom>
              <a:noFill/>
              <a:ln w="19050">
                <a:solidFill>
                  <a:srgbClr val="FFFFFF">
                    <a:alpha val="22000"/>
                  </a:srgbClr>
                </a:solidFill>
              </a:ln>
            </p:spPr>
          </p:sp>
          <p:sp>
            <p:nvSpPr>
              <p:cNvPr id="11" name="Ellipse 11"/>
              <p:cNvSpPr/>
              <p:nvPr/>
            </p:nvSpPr>
            <p:spPr>
              <a:xfrm>
                <a:off x="2743200" y="5124450"/>
                <a:ext cx="1181100" cy="1181100"/>
              </a:xfrm>
              <a:prstGeom prst="ellipse">
                <a:avLst/>
              </a:prstGeom>
              <a:noFill/>
              <a:ln w="19050">
                <a:solidFill>
                  <a:srgbClr val="FFFFFF">
                    <a:alpha val="22000"/>
                  </a:srgbClr>
                </a:solidFill>
              </a:ln>
            </p:spPr>
          </p:sp>
          <p:sp>
            <p:nvSpPr>
              <p:cNvPr id="12" name="Ellipse 12"/>
              <p:cNvSpPr/>
              <p:nvPr/>
            </p:nvSpPr>
            <p:spPr>
              <a:xfrm>
                <a:off x="838200" y="5124450"/>
                <a:ext cx="1181100" cy="1181100"/>
              </a:xfrm>
              <a:prstGeom prst="ellipse">
                <a:avLst/>
              </a:prstGeom>
              <a:noFill/>
              <a:ln w="19050">
                <a:solidFill>
                  <a:srgbClr val="FFFFFF">
                    <a:alpha val="22000"/>
                  </a:srgbClr>
                </a:solidFill>
              </a:ln>
            </p:spPr>
          </p:sp>
        </p:grpSp>
        <p:sp>
          <p:nvSpPr>
            <p:cNvPr id="14" name="Rectangle 14"/>
            <p:cNvSpPr/>
            <p:nvPr/>
          </p:nvSpPr>
          <p:spPr>
            <a:xfrm>
              <a:off x="2038350" y="4362450"/>
              <a:ext cx="685800" cy="800100"/>
            </a:xfrm>
            <a:prstGeom prst="roundRect">
              <a:avLst>
                <a:gd name="adj" fmla="val 13889"/>
              </a:avLst>
            </a:prstGeom>
            <a:solidFill>
              <a:srgbClr val="E8590C"/>
            </a:solidFill>
            <a:ln>
              <a:noFill/>
            </a:ln>
          </p:spPr>
        </p:sp>
      </p:grpSp>
      <p:grpSp>
        <p:nvGrpSpPr>
          <p:cNvPr id="18" name="section-title"/>
          <p:cNvGrpSpPr/>
          <p:nvPr/>
        </p:nvGrpSpPr>
        <p:grpSpPr>
          <a:xfrm>
            <a:off x="5317236" y="1841500"/>
            <a:ext cx="3780053" cy="1956181"/>
            <a:chOff x="5317236" y="1841500"/>
            <a:chExt cx="3780053" cy="1956181"/>
          </a:xfrm>
        </p:grpSpPr>
        <p:sp>
          <p:nvSpPr>
            <p:cNvPr id="16" name="TextBox 16"/>
            <p:cNvSpPr txBox="1"/>
            <p:nvPr/>
          </p:nvSpPr>
          <p:spPr>
            <a:xfrm>
              <a:off x="5317236" y="1841500"/>
              <a:ext cx="3243373" cy="1178814"/>
            </a:xfrm>
            <a:prstGeom prst="rect">
              <a:avLst/>
            </a:prstGeom>
            <a:noFill/>
            <a:ln>
              <a:noFill/>
            </a:ln>
          </p:spPr>
          <p:txBody>
            <a:bodyPr wrap="none" lIns="0" tIns="0" rIns="0" bIns="0" anchor="t" anchorCtr="0">
              <a:spAutoFit/>
            </a:bodyPr>
            <a:lstStyle/>
            <a:p>
              <a:pPr algn="l">
                <a:lnSpc>
                  <a:spcPts val="4200"/>
                </a:lnSpc>
              </a:pPr>
              <a:r>
                <a:rPr lang="en" sz="3300" b="1" dirty="0">
                  <a:solidFill>
                    <a:srgbClr val="0E1B2C"/>
                  </a:solidFill>
                  <a:latin typeface="+mn-lt"/>
                  <a:ea typeface="+mn-ea"/>
                  <a:cs typeface="+mn-cs"/>
                </a:rPr>
                <a:t>Scaling up: the</a:t>
              </a:r>
              <a:br>
                <a:rPr lang="en" sz="3300" b="1" dirty="0">
                  <a:solidFill>
                    <a:srgbClr val="0E1B2C"/>
                  </a:solidFill>
                  <a:latin typeface="+mn-lt"/>
                  <a:ea typeface="+mn-ea"/>
                  <a:cs typeface="+mn-cs"/>
                </a:rPr>
              </a:br>
              <a:r>
                <a:rPr lang="en" sz="3300" b="1" dirty="0">
                  <a:solidFill>
                    <a:srgbClr val="0E1B2C"/>
                  </a:solidFill>
                  <a:latin typeface="+mn-lt"/>
                  <a:ea typeface="+mn-ea"/>
                  <a:cs typeface="+mn-cs"/>
                </a:rPr>
                <a:t>5-inch FPV racer</a:t>
              </a:r>
            </a:p>
          </p:txBody>
        </p:sp>
        <p:sp>
          <p:nvSpPr>
            <p:cNvPr id="17" name="TextBox 17"/>
            <p:cNvSpPr txBox="1"/>
            <p:nvPr/>
          </p:nvSpPr>
          <p:spPr>
            <a:xfrm>
              <a:off x="5324094" y="3054350"/>
              <a:ext cx="3773195" cy="743331"/>
            </a:xfrm>
            <a:prstGeom prst="rect">
              <a:avLst/>
            </a:prstGeom>
            <a:noFill/>
            <a:ln>
              <a:noFill/>
            </a:ln>
          </p:spPr>
          <p:txBody>
            <a:bodyPr wrap="none" lIns="0" tIns="0" rIns="0" bIns="0" anchor="t" anchorCtr="0">
              <a:spAutoFit/>
            </a:bodyPr>
            <a:lstStyle/>
            <a:p>
              <a:pPr algn="l">
                <a:lnSpc>
                  <a:spcPts val="2850"/>
                </a:lnSpc>
              </a:pPr>
              <a:r>
                <a:rPr lang="en" sz="1950" dirty="0">
                  <a:solidFill>
                    <a:srgbClr val="4A5A6E"/>
                  </a:solidFill>
                  <a:latin typeface="+mn-lt"/>
                  <a:ea typeface="+mn-ea"/>
                  <a:cs typeface="+mn-cs"/>
                </a:rPr>
                <a:t>Same physics. Everything else gets</a:t>
              </a:r>
              <a:br>
                <a:rPr lang="en" sz="1950" dirty="0">
                  <a:solidFill>
                    <a:srgbClr val="4A5A6E"/>
                  </a:solidFill>
                  <a:latin typeface="+mn-lt"/>
                  <a:ea typeface="+mn-ea"/>
                  <a:cs typeface="+mn-cs"/>
                </a:rPr>
              </a:br>
              <a:r>
                <a:rPr lang="en" sz="1950" dirty="0">
                  <a:solidFill>
                    <a:srgbClr val="4A5A6E"/>
                  </a:solidFill>
                  <a:latin typeface="+mn-lt"/>
                  <a:ea typeface="+mn-ea"/>
                  <a:cs typeface="+mn-cs"/>
                </a:rPr>
                <a:t>bigger, faster and digital.</a:t>
              </a:r>
            </a:p>
          </p:txBody>
        </p:sp>
      </p:grpSp>
      <p:grpSp>
        <p:nvGrpSpPr>
          <p:cNvPr id="26" name="change-motors"/>
          <p:cNvGrpSpPr/>
          <p:nvPr/>
        </p:nvGrpSpPr>
        <p:grpSpPr>
          <a:xfrm>
            <a:off x="5381625" y="4197350"/>
            <a:ext cx="4440885" cy="381381"/>
            <a:chOff x="5381625" y="4197350"/>
            <a:chExt cx="4440885" cy="381381"/>
          </a:xfrm>
        </p:grpSpPr>
        <p:grpSp>
          <p:nvGrpSpPr>
            <p:cNvPr id="24" name="Group 24"/>
            <p:cNvGrpSpPr/>
            <p:nvPr/>
          </p:nvGrpSpPr>
          <p:grpSpPr>
            <a:xfrm>
              <a:off x="5381625" y="4232275"/>
              <a:ext cx="285750" cy="222251"/>
              <a:chOff x="5381625" y="4232275"/>
              <a:chExt cx="285750" cy="222251"/>
            </a:xfrm>
          </p:grpSpPr>
          <p:sp>
            <p:nvSpPr>
              <p:cNvPr id="19" name="Freeform 19"/>
              <p:cNvSpPr/>
              <p:nvPr/>
            </p:nvSpPr>
            <p:spPr>
              <a:xfrm>
                <a:off x="5381625" y="4311650"/>
                <a:ext cx="9525" cy="95250"/>
              </a:xfrm>
              <a:custGeom>
                <a:avLst/>
                <a:gdLst/>
                <a:ahLst/>
                <a:cxnLst/>
                <a:rect l="l" t="t" r="r" b="b"/>
                <a:pathLst>
                  <a:path w="9525" h="95250">
                    <a:moveTo>
                      <a:pt x="0" y="0"/>
                    </a:moveTo>
                    <a:lnTo>
                      <a:pt x="0" y="95250"/>
                    </a:lnTo>
                  </a:path>
                </a:pathLst>
              </a:custGeom>
              <a:noFill/>
              <a:ln w="31750">
                <a:solidFill>
                  <a:srgbClr val="E8590C"/>
                </a:solidFill>
              </a:ln>
            </p:spPr>
          </p:sp>
          <p:sp>
            <p:nvSpPr>
              <p:cNvPr id="20" name="Freeform 20"/>
              <p:cNvSpPr/>
              <p:nvPr/>
            </p:nvSpPr>
            <p:spPr>
              <a:xfrm>
                <a:off x="5524500" y="4232275"/>
                <a:ext cx="9525" cy="47625"/>
              </a:xfrm>
              <a:custGeom>
                <a:avLst/>
                <a:gdLst/>
                <a:ahLst/>
                <a:cxnLst/>
                <a:rect l="l" t="t" r="r" b="b"/>
                <a:pathLst>
                  <a:path w="9525" h="47625">
                    <a:moveTo>
                      <a:pt x="0" y="0"/>
                    </a:moveTo>
                    <a:lnTo>
                      <a:pt x="0" y="47625"/>
                    </a:lnTo>
                  </a:path>
                </a:pathLst>
              </a:custGeom>
              <a:noFill/>
              <a:ln w="31750">
                <a:solidFill>
                  <a:srgbClr val="E8590C"/>
                </a:solidFill>
              </a:ln>
            </p:spPr>
          </p:sp>
          <p:sp>
            <p:nvSpPr>
              <p:cNvPr id="21" name="Freeform 21"/>
              <p:cNvSpPr/>
              <p:nvPr/>
            </p:nvSpPr>
            <p:spPr>
              <a:xfrm>
                <a:off x="5492750" y="4232275"/>
                <a:ext cx="63500" cy="9525"/>
              </a:xfrm>
              <a:custGeom>
                <a:avLst/>
                <a:gdLst/>
                <a:ahLst/>
                <a:cxnLst/>
                <a:rect l="l" t="t" r="r" b="b"/>
                <a:pathLst>
                  <a:path w="63500" h="9525">
                    <a:moveTo>
                      <a:pt x="0" y="0"/>
                    </a:moveTo>
                    <a:lnTo>
                      <a:pt x="63500" y="0"/>
                    </a:lnTo>
                  </a:path>
                </a:pathLst>
              </a:custGeom>
              <a:noFill/>
              <a:ln w="31750">
                <a:solidFill>
                  <a:srgbClr val="E8590C"/>
                </a:solidFill>
              </a:ln>
            </p:spPr>
          </p:sp>
          <p:sp>
            <p:nvSpPr>
              <p:cNvPr id="22" name="Freeform 22"/>
              <p:cNvSpPr/>
              <p:nvPr/>
            </p:nvSpPr>
            <p:spPr>
              <a:xfrm>
                <a:off x="5381625" y="4359275"/>
                <a:ext cx="31750" cy="9525"/>
              </a:xfrm>
              <a:custGeom>
                <a:avLst/>
                <a:gdLst/>
                <a:ahLst/>
                <a:cxnLst/>
                <a:rect l="l" t="t" r="r" b="b"/>
                <a:pathLst>
                  <a:path w="31750" h="9525">
                    <a:moveTo>
                      <a:pt x="31750" y="0"/>
                    </a:moveTo>
                    <a:lnTo>
                      <a:pt x="0" y="0"/>
                    </a:lnTo>
                  </a:path>
                </a:pathLst>
              </a:custGeom>
              <a:noFill/>
              <a:ln w="31750">
                <a:solidFill>
                  <a:srgbClr val="E8590C"/>
                </a:solidFill>
              </a:ln>
            </p:spPr>
          </p:sp>
          <p:sp>
            <p:nvSpPr>
              <p:cNvPr id="23" name="Freeform 23"/>
              <p:cNvSpPr/>
              <p:nvPr/>
            </p:nvSpPr>
            <p:spPr>
              <a:xfrm>
                <a:off x="5429250" y="4279900"/>
                <a:ext cx="238125" cy="174626"/>
              </a:xfrm>
              <a:custGeom>
                <a:avLst/>
                <a:gdLst/>
                <a:ahLst/>
                <a:cxnLst/>
                <a:rect l="l" t="t" r="r" b="b"/>
                <a:pathLst>
                  <a:path w="238125" h="174626">
                    <a:moveTo>
                      <a:pt x="0" y="31750"/>
                    </a:moveTo>
                    <a:lnTo>
                      <a:pt x="31750" y="31750"/>
                    </a:lnTo>
                    <a:lnTo>
                      <a:pt x="63500" y="0"/>
                    </a:lnTo>
                    <a:lnTo>
                      <a:pt x="117189" y="0"/>
                    </a:lnTo>
                    <a:cubicBezTo>
                      <a:pt x="123201" y="3"/>
                      <a:pt x="128695" y="3402"/>
                      <a:pt x="131382" y="8779"/>
                    </a:cubicBezTo>
                    <a:lnTo>
                      <a:pt x="154369" y="54721"/>
                    </a:lnTo>
                    <a:cubicBezTo>
                      <a:pt x="157056" y="60099"/>
                      <a:pt x="162550" y="63497"/>
                      <a:pt x="168561" y="63500"/>
                    </a:cubicBezTo>
                    <a:lnTo>
                      <a:pt x="190500" y="63500"/>
                    </a:lnTo>
                    <a:lnTo>
                      <a:pt x="190500" y="31750"/>
                    </a:lnTo>
                    <a:lnTo>
                      <a:pt x="222250" y="31750"/>
                    </a:lnTo>
                    <a:cubicBezTo>
                      <a:pt x="231018" y="31750"/>
                      <a:pt x="238125" y="38858"/>
                      <a:pt x="238125" y="47625"/>
                    </a:cubicBezTo>
                    <a:lnTo>
                      <a:pt x="238125" y="142875"/>
                    </a:lnTo>
                    <a:cubicBezTo>
                      <a:pt x="238125" y="151643"/>
                      <a:pt x="231018" y="158750"/>
                      <a:pt x="222250" y="158750"/>
                    </a:cubicBezTo>
                    <a:lnTo>
                      <a:pt x="190500" y="158750"/>
                    </a:lnTo>
                    <a:lnTo>
                      <a:pt x="190500" y="127000"/>
                    </a:lnTo>
                    <a:lnTo>
                      <a:pt x="142875" y="127000"/>
                    </a:lnTo>
                    <a:lnTo>
                      <a:pt x="142875" y="158750"/>
                    </a:lnTo>
                    <a:cubicBezTo>
                      <a:pt x="142875" y="167518"/>
                      <a:pt x="135768" y="174625"/>
                      <a:pt x="127000" y="174625"/>
                    </a:cubicBezTo>
                    <a:lnTo>
                      <a:pt x="71993" y="174625"/>
                    </a:lnTo>
                    <a:cubicBezTo>
                      <a:pt x="66687" y="174626"/>
                      <a:pt x="61730" y="171975"/>
                      <a:pt x="58785" y="167561"/>
                    </a:cubicBezTo>
                    <a:lnTo>
                      <a:pt x="31750" y="127000"/>
                    </a:lnTo>
                    <a:lnTo>
                      <a:pt x="0" y="127000"/>
                    </a:lnTo>
                    <a:lnTo>
                      <a:pt x="0" y="31750"/>
                    </a:lnTo>
                  </a:path>
                </a:pathLst>
              </a:custGeom>
              <a:noFill/>
              <a:ln w="31750">
                <a:solidFill>
                  <a:srgbClr val="E8590C"/>
                </a:solidFill>
              </a:ln>
            </p:spPr>
          </p:sp>
        </p:grpSp>
        <p:sp>
          <p:nvSpPr>
            <p:cNvPr id="25" name="TextBox 25"/>
            <p:cNvSpPr txBox="1"/>
            <p:nvPr/>
          </p:nvSpPr>
          <p:spPr>
            <a:xfrm>
              <a:off x="5895594" y="4197350"/>
              <a:ext cx="3926916"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Brushless motors replace brushed</a:t>
              </a:r>
            </a:p>
          </p:txBody>
        </p:sp>
      </p:grpSp>
      <p:grpSp>
        <p:nvGrpSpPr>
          <p:cNvPr id="29" name="change-esc"/>
          <p:cNvGrpSpPr/>
          <p:nvPr/>
        </p:nvGrpSpPr>
        <p:grpSpPr>
          <a:xfrm>
            <a:off x="5381625" y="4864100"/>
            <a:ext cx="6112170" cy="381381"/>
            <a:chOff x="5381625" y="4864100"/>
            <a:chExt cx="6112170" cy="381381"/>
          </a:xfrm>
        </p:grpSpPr>
        <p:sp>
          <p:nvSpPr>
            <p:cNvPr id="27" name="Freeform 27"/>
            <p:cNvSpPr/>
            <p:nvPr/>
          </p:nvSpPr>
          <p:spPr>
            <a:xfrm>
              <a:off x="5381625" y="4883150"/>
              <a:ext cx="285751" cy="254001"/>
            </a:xfrm>
            <a:custGeom>
              <a:avLst/>
              <a:gdLst/>
              <a:ahLst/>
              <a:cxnLst/>
              <a:rect l="l" t="t" r="r" b="b"/>
              <a:pathLst>
                <a:path w="285751" h="254001">
                  <a:moveTo>
                    <a:pt x="0" y="127000"/>
                  </a:moveTo>
                  <a:lnTo>
                    <a:pt x="79375" y="127000"/>
                  </a:lnTo>
                  <a:lnTo>
                    <a:pt x="79375" y="254001"/>
                  </a:lnTo>
                  <a:lnTo>
                    <a:pt x="142875" y="254001"/>
                  </a:lnTo>
                  <a:lnTo>
                    <a:pt x="142875" y="0"/>
                  </a:lnTo>
                  <a:lnTo>
                    <a:pt x="206375" y="0"/>
                  </a:lnTo>
                  <a:lnTo>
                    <a:pt x="206375" y="127000"/>
                  </a:lnTo>
                  <a:lnTo>
                    <a:pt x="285751" y="127000"/>
                  </a:lnTo>
                </a:path>
              </a:pathLst>
            </a:custGeom>
            <a:noFill/>
            <a:ln w="31750">
              <a:solidFill>
                <a:srgbClr val="E8590C"/>
              </a:solidFill>
            </a:ln>
          </p:spPr>
        </p:sp>
        <p:sp>
          <p:nvSpPr>
            <p:cNvPr id="28" name="TextBox 28"/>
            <p:cNvSpPr txBox="1"/>
            <p:nvPr/>
          </p:nvSpPr>
          <p:spPr>
            <a:xfrm>
              <a:off x="5895594" y="4864100"/>
              <a:ext cx="5598201"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An ESC with digital DShot replaces the MOSFET</a:t>
              </a:r>
            </a:p>
          </p:txBody>
        </p:sp>
      </p:grpSp>
      <p:grpSp>
        <p:nvGrpSpPr>
          <p:cNvPr id="35" name="change-power"/>
          <p:cNvGrpSpPr/>
          <p:nvPr/>
        </p:nvGrpSpPr>
        <p:grpSpPr>
          <a:xfrm>
            <a:off x="5397500" y="5530850"/>
            <a:ext cx="4131276" cy="381381"/>
            <a:chOff x="5397500" y="5530850"/>
            <a:chExt cx="4131276" cy="381381"/>
          </a:xfrm>
        </p:grpSpPr>
        <p:grpSp>
          <p:nvGrpSpPr>
            <p:cNvPr id="33" name="Group 33"/>
            <p:cNvGrpSpPr/>
            <p:nvPr/>
          </p:nvGrpSpPr>
          <p:grpSpPr>
            <a:xfrm>
              <a:off x="5397500" y="5597525"/>
              <a:ext cx="254000" cy="158750"/>
              <a:chOff x="5397500" y="5597525"/>
              <a:chExt cx="254000" cy="158750"/>
            </a:xfrm>
          </p:grpSpPr>
          <p:sp>
            <p:nvSpPr>
              <p:cNvPr id="30" name="Freeform 30"/>
              <p:cNvSpPr/>
              <p:nvPr/>
            </p:nvSpPr>
            <p:spPr>
              <a:xfrm>
                <a:off x="5572125" y="5597525"/>
                <a:ext cx="79375" cy="158750"/>
              </a:xfrm>
              <a:custGeom>
                <a:avLst/>
                <a:gdLst/>
                <a:ahLst/>
                <a:cxnLst/>
                <a:rect l="l" t="t" r="r" b="b"/>
                <a:pathLst>
                  <a:path w="79375" h="158750">
                    <a:moveTo>
                      <a:pt x="15875" y="0"/>
                    </a:moveTo>
                    <a:lnTo>
                      <a:pt x="31750" y="0"/>
                    </a:lnTo>
                    <a:cubicBezTo>
                      <a:pt x="49285" y="0"/>
                      <a:pt x="63500" y="14215"/>
                      <a:pt x="63500" y="31750"/>
                    </a:cubicBezTo>
                    <a:lnTo>
                      <a:pt x="63500" y="39688"/>
                    </a:lnTo>
                    <a:cubicBezTo>
                      <a:pt x="63500" y="44071"/>
                      <a:pt x="67054" y="47625"/>
                      <a:pt x="71438" y="47625"/>
                    </a:cubicBezTo>
                    <a:cubicBezTo>
                      <a:pt x="75821" y="47625"/>
                      <a:pt x="79375" y="51179"/>
                      <a:pt x="79375" y="55563"/>
                    </a:cubicBezTo>
                    <a:lnTo>
                      <a:pt x="79375" y="103188"/>
                    </a:lnTo>
                    <a:cubicBezTo>
                      <a:pt x="79375" y="107571"/>
                      <a:pt x="75821" y="111125"/>
                      <a:pt x="71438" y="111125"/>
                    </a:cubicBezTo>
                    <a:cubicBezTo>
                      <a:pt x="67054" y="111125"/>
                      <a:pt x="63500" y="114679"/>
                      <a:pt x="63500" y="119063"/>
                    </a:cubicBezTo>
                    <a:lnTo>
                      <a:pt x="63500" y="127000"/>
                    </a:lnTo>
                    <a:cubicBezTo>
                      <a:pt x="63500" y="144535"/>
                      <a:pt x="49285" y="158750"/>
                      <a:pt x="31750" y="158750"/>
                    </a:cubicBezTo>
                    <a:lnTo>
                      <a:pt x="0" y="158750"/>
                    </a:lnTo>
                  </a:path>
                </a:pathLst>
              </a:custGeom>
              <a:noFill/>
              <a:ln w="31750">
                <a:solidFill>
                  <a:srgbClr val="E8590C"/>
                </a:solidFill>
              </a:ln>
            </p:spPr>
          </p:sp>
          <p:sp>
            <p:nvSpPr>
              <p:cNvPr id="31" name="Freeform 31"/>
              <p:cNvSpPr/>
              <p:nvPr/>
            </p:nvSpPr>
            <p:spPr>
              <a:xfrm>
                <a:off x="5397500" y="5597525"/>
                <a:ext cx="63500" cy="158750"/>
              </a:xfrm>
              <a:custGeom>
                <a:avLst/>
                <a:gdLst/>
                <a:ahLst/>
                <a:cxnLst/>
                <a:rect l="l" t="t" r="r" b="b"/>
                <a:pathLst>
                  <a:path w="63500" h="158750">
                    <a:moveTo>
                      <a:pt x="63500" y="0"/>
                    </a:moveTo>
                    <a:lnTo>
                      <a:pt x="31750" y="0"/>
                    </a:lnTo>
                    <a:cubicBezTo>
                      <a:pt x="14215" y="0"/>
                      <a:pt x="0" y="14215"/>
                      <a:pt x="0" y="31750"/>
                    </a:cubicBezTo>
                    <a:lnTo>
                      <a:pt x="0" y="127000"/>
                    </a:lnTo>
                    <a:cubicBezTo>
                      <a:pt x="0" y="144535"/>
                      <a:pt x="14215" y="158750"/>
                      <a:pt x="31750" y="158750"/>
                    </a:cubicBezTo>
                    <a:lnTo>
                      <a:pt x="47625" y="158750"/>
                    </a:lnTo>
                  </a:path>
                </a:pathLst>
              </a:custGeom>
              <a:noFill/>
              <a:ln w="31750">
                <a:solidFill>
                  <a:srgbClr val="E8590C"/>
                </a:solidFill>
              </a:ln>
            </p:spPr>
          </p:sp>
          <p:sp>
            <p:nvSpPr>
              <p:cNvPr id="32" name="Freeform 32"/>
              <p:cNvSpPr/>
              <p:nvPr/>
            </p:nvSpPr>
            <p:spPr>
              <a:xfrm>
                <a:off x="5492750" y="5613400"/>
                <a:ext cx="47625" cy="127000"/>
              </a:xfrm>
              <a:custGeom>
                <a:avLst/>
                <a:gdLst/>
                <a:ahLst/>
                <a:cxnLst/>
                <a:rect l="l" t="t" r="r" b="b"/>
                <a:pathLst>
                  <a:path w="47625" h="127000">
                    <a:moveTo>
                      <a:pt x="31750" y="0"/>
                    </a:moveTo>
                    <a:lnTo>
                      <a:pt x="0" y="63500"/>
                    </a:lnTo>
                    <a:lnTo>
                      <a:pt x="47625" y="63500"/>
                    </a:lnTo>
                    <a:lnTo>
                      <a:pt x="15875" y="127000"/>
                    </a:lnTo>
                  </a:path>
                </a:pathLst>
              </a:custGeom>
              <a:noFill/>
              <a:ln w="31750">
                <a:solidFill>
                  <a:srgbClr val="E8590C"/>
                </a:solidFill>
              </a:ln>
            </p:spPr>
          </p:sp>
        </p:grpSp>
        <p:sp>
          <p:nvSpPr>
            <p:cNvPr id="34" name="TextBox 34"/>
            <p:cNvSpPr txBox="1"/>
            <p:nvPr/>
          </p:nvSpPr>
          <p:spPr>
            <a:xfrm>
              <a:off x="5895594" y="5530850"/>
              <a:ext cx="3633182"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6S LiPo: 22.2 V instead of 3.7 V</a:t>
              </a:r>
            </a:p>
          </p:txBody>
        </p:sp>
      </p:grpSp>
      <p:sp>
        <p:nvSpPr>
          <p:cNvPr id="36" name="TextBox 36"/>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13 / 21</a:t>
            </a:r>
          </a:p>
        </p:txBody>
      </p:sp>
    </p:spTree>
  </p:cSld>
  <p:clrMapOvr>
    <a:masterClrMapping/>
  </p:clrMapOvr>
  <mc:AlternateContent xmlns:mc="http://schemas.openxmlformats.org/markup-compatibility/2006" xmlns:p14="http://schemas.microsoft.com/office/powerpoint/2010/main">
    <mc:Choice Requires="p14">
      <p:transition spd="med" p14:dur="6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par>
                          <p:cTn id="8" fill="hold">
                            <p:stCondLst>
                              <p:cond delay="600"/>
                            </p:stCondLst>
                            <p:childTnLst>
                              <p:par>
                                <p:cTn id="9" presetID="37" presetClass="entr" presetSubtype="0" fill="hold" nodeType="afterEffect">
                                  <p:stCondLst>
                                    <p:cond delay="1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600"/>
                                        <p:tgtEl>
                                          <p:spTgt spid="18"/>
                                        </p:tgtEl>
                                      </p:cBhvr>
                                    </p:animEffect>
                                    <p:anim calcmode="lin" valueType="num">
                                      <p:cBhvr>
                                        <p:cTn id="12" dur="600" fill="hold"/>
                                        <p:tgtEl>
                                          <p:spTgt spid="18"/>
                                        </p:tgtEl>
                                        <p:attrNameLst>
                                          <p:attrName>ppt_x</p:attrName>
                                        </p:attrNameLst>
                                      </p:cBhvr>
                                      <p:tavLst>
                                        <p:tav tm="0">
                                          <p:val>
                                            <p:strVal val="#ppt_x"/>
                                          </p:val>
                                        </p:tav>
                                        <p:tav tm="100000">
                                          <p:val>
                                            <p:strVal val="#ppt_x"/>
                                          </p:val>
                                        </p:tav>
                                      </p:tavLst>
                                    </p:anim>
                                    <p:anim calcmode="lin" valueType="num">
                                      <p:cBhvr>
                                        <p:cTn id="13" dur="540" decel="100000" fill="hold"/>
                                        <p:tgtEl>
                                          <p:spTgt spid="18"/>
                                        </p:tgtEl>
                                        <p:attrNameLst>
                                          <p:attrName>ppt_y</p:attrName>
                                        </p:attrNameLst>
                                      </p:cBhvr>
                                      <p:tavLst>
                                        <p:tav tm="0">
                                          <p:val>
                                            <p:strVal val="#ppt_y+1"/>
                                          </p:val>
                                        </p:tav>
                                        <p:tav tm="100000">
                                          <p:val>
                                            <p:strVal val="#ppt_y-.03"/>
                                          </p:val>
                                        </p:tav>
                                      </p:tavLst>
                                    </p:anim>
                                    <p:anim calcmode="lin" valueType="num">
                                      <p:cBhvr>
                                        <p:cTn id="14"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childTnLst>
                          </p:cTn>
                        </p:par>
                        <p:par>
                          <p:cTn id="15" fill="hold">
                            <p:stCondLst>
                              <p:cond delay="1300"/>
                            </p:stCondLst>
                            <p:childTnLst>
                              <p:par>
                                <p:cTn id="16" presetID="2" presetClass="entr" presetSubtype="8" fill="hold" nodeType="afterEffect">
                                  <p:stCondLst>
                                    <p:cond delay="10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450" fill="hold"/>
                                        <p:tgtEl>
                                          <p:spTgt spid="26"/>
                                        </p:tgtEl>
                                        <p:attrNameLst>
                                          <p:attrName>ppt_x</p:attrName>
                                        </p:attrNameLst>
                                      </p:cBhvr>
                                      <p:tavLst>
                                        <p:tav tm="0">
                                          <p:val>
                                            <p:strVal val="0-#ppt_w/2"/>
                                          </p:val>
                                        </p:tav>
                                        <p:tav tm="100000">
                                          <p:val>
                                            <p:strVal val="#ppt_x"/>
                                          </p:val>
                                        </p:tav>
                                      </p:tavLst>
                                    </p:anim>
                                    <p:anim calcmode="lin" valueType="num">
                                      <p:cBhvr additive="base">
                                        <p:cTn id="19" dur="450" fill="hold"/>
                                        <p:tgtEl>
                                          <p:spTgt spid="26"/>
                                        </p:tgtEl>
                                        <p:attrNameLst>
                                          <p:attrName>ppt_y</p:attrName>
                                        </p:attrNameLst>
                                      </p:cBhvr>
                                      <p:tavLst>
                                        <p:tav tm="0">
                                          <p:val>
                                            <p:strVal val="#ppt_y"/>
                                          </p:val>
                                        </p:tav>
                                        <p:tav tm="100000">
                                          <p:val>
                                            <p:strVal val="#ppt_y"/>
                                          </p:val>
                                        </p:tav>
                                      </p:tavLst>
                                    </p:anim>
                                  </p:childTnLst>
                                </p:cTn>
                              </p:par>
                            </p:childTnLst>
                          </p:cTn>
                        </p:par>
                        <p:par>
                          <p:cTn id="20" fill="hold">
                            <p:stCondLst>
                              <p:cond delay="1850"/>
                            </p:stCondLst>
                            <p:childTnLst>
                              <p:par>
                                <p:cTn id="21" presetID="2" presetClass="entr" presetSubtype="8" fill="hold" nodeType="afterEffect">
                                  <p:stCondLst>
                                    <p:cond delay="100"/>
                                  </p:stCondLst>
                                  <p:childTnLst>
                                    <p:set>
                                      <p:cBhvr>
                                        <p:cTn id="22" dur="1" fill="hold">
                                          <p:stCondLst>
                                            <p:cond delay="0"/>
                                          </p:stCondLst>
                                        </p:cTn>
                                        <p:tgtEl>
                                          <p:spTgt spid="29"/>
                                        </p:tgtEl>
                                        <p:attrNameLst>
                                          <p:attrName>style.visibility</p:attrName>
                                        </p:attrNameLst>
                                      </p:cBhvr>
                                      <p:to>
                                        <p:strVal val="visible"/>
                                      </p:to>
                                    </p:set>
                                    <p:anim calcmode="lin" valueType="num">
                                      <p:cBhvr additive="base">
                                        <p:cTn id="23" dur="450" fill="hold"/>
                                        <p:tgtEl>
                                          <p:spTgt spid="29"/>
                                        </p:tgtEl>
                                        <p:attrNameLst>
                                          <p:attrName>ppt_x</p:attrName>
                                        </p:attrNameLst>
                                      </p:cBhvr>
                                      <p:tavLst>
                                        <p:tav tm="0">
                                          <p:val>
                                            <p:strVal val="0-#ppt_w/2"/>
                                          </p:val>
                                        </p:tav>
                                        <p:tav tm="100000">
                                          <p:val>
                                            <p:strVal val="#ppt_x"/>
                                          </p:val>
                                        </p:tav>
                                      </p:tavLst>
                                    </p:anim>
                                    <p:anim calcmode="lin" valueType="num">
                                      <p:cBhvr additive="base">
                                        <p:cTn id="24" dur="450" fill="hold"/>
                                        <p:tgtEl>
                                          <p:spTgt spid="29"/>
                                        </p:tgtEl>
                                        <p:attrNameLst>
                                          <p:attrName>ppt_y</p:attrName>
                                        </p:attrNameLst>
                                      </p:cBhvr>
                                      <p:tavLst>
                                        <p:tav tm="0">
                                          <p:val>
                                            <p:strVal val="#ppt_y"/>
                                          </p:val>
                                        </p:tav>
                                        <p:tav tm="100000">
                                          <p:val>
                                            <p:strVal val="#ppt_y"/>
                                          </p:val>
                                        </p:tav>
                                      </p:tavLst>
                                    </p:anim>
                                  </p:childTnLst>
                                </p:cTn>
                              </p:par>
                            </p:childTnLst>
                          </p:cTn>
                        </p:par>
                        <p:par>
                          <p:cTn id="25" fill="hold">
                            <p:stCondLst>
                              <p:cond delay="2400"/>
                            </p:stCondLst>
                            <p:childTnLst>
                              <p:par>
                                <p:cTn id="26" presetID="2" presetClass="entr" presetSubtype="8" fill="hold" nodeType="afterEffect">
                                  <p:stCondLst>
                                    <p:cond delay="100"/>
                                  </p:stCondLst>
                                  <p:childTnLst>
                                    <p:set>
                                      <p:cBhvr>
                                        <p:cTn id="27" dur="1" fill="hold">
                                          <p:stCondLst>
                                            <p:cond delay="0"/>
                                          </p:stCondLst>
                                        </p:cTn>
                                        <p:tgtEl>
                                          <p:spTgt spid="35"/>
                                        </p:tgtEl>
                                        <p:attrNameLst>
                                          <p:attrName>style.visibility</p:attrName>
                                        </p:attrNameLst>
                                      </p:cBhvr>
                                      <p:to>
                                        <p:strVal val="visible"/>
                                      </p:to>
                                    </p:set>
                                    <p:anim calcmode="lin" valueType="num">
                                      <p:cBhvr additive="base">
                                        <p:cTn id="28" dur="450" fill="hold"/>
                                        <p:tgtEl>
                                          <p:spTgt spid="35"/>
                                        </p:tgtEl>
                                        <p:attrNameLst>
                                          <p:attrName>ppt_x</p:attrName>
                                        </p:attrNameLst>
                                      </p:cBhvr>
                                      <p:tavLst>
                                        <p:tav tm="0">
                                          <p:val>
                                            <p:strVal val="0-#ppt_w/2"/>
                                          </p:val>
                                        </p:tav>
                                        <p:tav tm="100000">
                                          <p:val>
                                            <p:strVal val="#ppt_x"/>
                                          </p:val>
                                        </p:tav>
                                      </p:tavLst>
                                    </p:anim>
                                    <p:anim calcmode="lin" valueType="num">
                                      <p:cBhvr additive="base">
                                        <p:cTn id="29" dur="45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7304244" cy="880364"/>
            <a:chOff x="592836" y="539750"/>
            <a:chExt cx="7304244" cy="880364"/>
          </a:xfrm>
        </p:grpSpPr>
        <p:sp>
          <p:nvSpPr>
            <p:cNvPr id="2" name="TextBox 2"/>
            <p:cNvSpPr txBox="1"/>
            <p:nvPr/>
          </p:nvSpPr>
          <p:spPr>
            <a:xfrm>
              <a:off x="602742" y="539750"/>
              <a:ext cx="1769669"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14 / FPV STACK</a:t>
              </a:r>
            </a:p>
          </p:txBody>
        </p:sp>
        <p:sp>
          <p:nvSpPr>
            <p:cNvPr id="3" name="TextBox 3"/>
            <p:cNvSpPr txBox="1"/>
            <p:nvPr/>
          </p:nvSpPr>
          <p:spPr>
            <a:xfrm>
              <a:off x="592836" y="774700"/>
              <a:ext cx="7304244"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Inside a 5-inch racer, layer by layer</a:t>
              </a:r>
            </a:p>
          </p:txBody>
        </p:sp>
      </p:grpSp>
      <p:grpSp>
        <p:nvGrpSpPr>
          <p:cNvPr id="28" name="stack-drawing"/>
          <p:cNvGrpSpPr/>
          <p:nvPr/>
        </p:nvGrpSpPr>
        <p:grpSpPr>
          <a:xfrm>
            <a:off x="603504" y="1676400"/>
            <a:ext cx="5111496" cy="4038346"/>
            <a:chOff x="603504" y="1676400"/>
            <a:chExt cx="5111496" cy="4038346"/>
          </a:xfrm>
        </p:grpSpPr>
        <p:grpSp>
          <p:nvGrpSpPr>
            <p:cNvPr id="7" name="Group 7"/>
            <p:cNvGrpSpPr/>
            <p:nvPr/>
          </p:nvGrpSpPr>
          <p:grpSpPr>
            <a:xfrm>
              <a:off x="1809750" y="1809750"/>
              <a:ext cx="2628900" cy="3181350"/>
              <a:chOff x="1809750" y="1809750"/>
              <a:chExt cx="2628900" cy="3181350"/>
            </a:xfrm>
          </p:grpSpPr>
          <p:sp>
            <p:nvSpPr>
              <p:cNvPr id="5" name="Line 5"/>
              <p:cNvSpPr/>
              <p:nvPr/>
            </p:nvSpPr>
            <p:spPr>
              <a:xfrm>
                <a:off x="1809750" y="1809750"/>
                <a:ext cx="228600" cy="3181350"/>
              </a:xfrm>
              <a:custGeom>
                <a:avLst/>
                <a:gdLst/>
                <a:ahLst/>
                <a:cxnLst/>
                <a:rect l="l" t="t" r="r" b="b"/>
                <a:pathLst>
                  <a:path w="228600" h="3181350">
                    <a:moveTo>
                      <a:pt x="228600" y="0"/>
                    </a:moveTo>
                    <a:lnTo>
                      <a:pt x="0" y="3181350"/>
                    </a:lnTo>
                  </a:path>
                </a:pathLst>
              </a:custGeom>
              <a:noFill/>
              <a:ln w="19050">
                <a:solidFill>
                  <a:srgbClr val="9AA8B8"/>
                </a:solidFill>
                <a:prstDash val="dash"/>
              </a:ln>
            </p:spPr>
          </p:sp>
          <p:sp>
            <p:nvSpPr>
              <p:cNvPr id="6" name="Line 6"/>
              <p:cNvSpPr/>
              <p:nvPr/>
            </p:nvSpPr>
            <p:spPr>
              <a:xfrm>
                <a:off x="4210050" y="1809750"/>
                <a:ext cx="228600" cy="3181350"/>
              </a:xfrm>
              <a:custGeom>
                <a:avLst/>
                <a:gdLst/>
                <a:ahLst/>
                <a:cxnLst/>
                <a:rect l="l" t="t" r="r" b="b"/>
                <a:pathLst>
                  <a:path w="228600" h="3181350">
                    <a:moveTo>
                      <a:pt x="228600" y="0"/>
                    </a:moveTo>
                    <a:lnTo>
                      <a:pt x="0" y="3181350"/>
                    </a:lnTo>
                  </a:path>
                </a:pathLst>
              </a:custGeom>
              <a:noFill/>
              <a:ln w="19050">
                <a:solidFill>
                  <a:srgbClr val="9AA8B8"/>
                </a:solidFill>
                <a:prstDash val="dash"/>
              </a:ln>
            </p:spPr>
          </p:sp>
        </p:grpSp>
        <p:sp>
          <p:nvSpPr>
            <p:cNvPr id="8" name="Freeform 8"/>
            <p:cNvSpPr/>
            <p:nvPr/>
          </p:nvSpPr>
          <p:spPr>
            <a:xfrm>
              <a:off x="762000" y="4705350"/>
              <a:ext cx="4953000" cy="571500"/>
            </a:xfrm>
            <a:prstGeom prst="parallelogram">
              <a:avLst>
                <a:gd name="adj" fmla="val 90000"/>
              </a:avLst>
            </a:prstGeom>
            <a:solidFill>
              <a:srgbClr val="2E3640"/>
            </a:solidFill>
            <a:ln>
              <a:noFill/>
            </a:ln>
          </p:spPr>
        </p:sp>
        <p:grpSp>
          <p:nvGrpSpPr>
            <p:cNvPr id="13" name="Group 13"/>
            <p:cNvGrpSpPr/>
            <p:nvPr/>
          </p:nvGrpSpPr>
          <p:grpSpPr>
            <a:xfrm>
              <a:off x="933450" y="4533900"/>
              <a:ext cx="4686300" cy="323850"/>
              <a:chOff x="933450" y="4533900"/>
              <a:chExt cx="4686300" cy="323850"/>
            </a:xfrm>
          </p:grpSpPr>
          <p:sp>
            <p:nvSpPr>
              <p:cNvPr id="9" name="Ellipse 9"/>
              <p:cNvSpPr/>
              <p:nvPr/>
            </p:nvSpPr>
            <p:spPr>
              <a:xfrm>
                <a:off x="933450" y="4667250"/>
                <a:ext cx="571500" cy="190500"/>
              </a:xfrm>
              <a:prstGeom prst="ellipse">
                <a:avLst/>
              </a:prstGeom>
              <a:solidFill>
                <a:srgbClr val="5B6573"/>
              </a:solidFill>
              <a:ln>
                <a:noFill/>
              </a:ln>
            </p:spPr>
          </p:sp>
          <p:sp>
            <p:nvSpPr>
              <p:cNvPr id="10" name="Ellipse 10"/>
              <p:cNvSpPr/>
              <p:nvPr/>
            </p:nvSpPr>
            <p:spPr>
              <a:xfrm>
                <a:off x="5048250" y="4667250"/>
                <a:ext cx="571500" cy="190500"/>
              </a:xfrm>
              <a:prstGeom prst="ellipse">
                <a:avLst/>
              </a:prstGeom>
              <a:solidFill>
                <a:srgbClr val="5B6573"/>
              </a:solidFill>
              <a:ln>
                <a:noFill/>
              </a:ln>
            </p:spPr>
          </p:sp>
          <p:sp>
            <p:nvSpPr>
              <p:cNvPr id="11" name="Rectangle 11"/>
              <p:cNvSpPr/>
              <p:nvPr/>
            </p:nvSpPr>
            <p:spPr>
              <a:xfrm>
                <a:off x="933450" y="4533900"/>
                <a:ext cx="571500" cy="228600"/>
              </a:xfrm>
              <a:prstGeom prst="rect">
                <a:avLst/>
              </a:prstGeom>
              <a:solidFill>
                <a:srgbClr val="5B6573"/>
              </a:solidFill>
              <a:ln>
                <a:noFill/>
              </a:ln>
            </p:spPr>
          </p:sp>
          <p:sp>
            <p:nvSpPr>
              <p:cNvPr id="12" name="Rectangle 12"/>
              <p:cNvSpPr/>
              <p:nvPr/>
            </p:nvSpPr>
            <p:spPr>
              <a:xfrm>
                <a:off x="5048250" y="4533900"/>
                <a:ext cx="571500" cy="228600"/>
              </a:xfrm>
              <a:prstGeom prst="rect">
                <a:avLst/>
              </a:prstGeom>
              <a:solidFill>
                <a:srgbClr val="5B6573"/>
              </a:solidFill>
              <a:ln>
                <a:noFill/>
              </a:ln>
            </p:spPr>
          </p:sp>
        </p:grpSp>
        <p:grpSp>
          <p:nvGrpSpPr>
            <p:cNvPr id="16" name="Group 16"/>
            <p:cNvGrpSpPr/>
            <p:nvPr/>
          </p:nvGrpSpPr>
          <p:grpSpPr>
            <a:xfrm>
              <a:off x="933450" y="4438650"/>
              <a:ext cx="4686300" cy="190500"/>
              <a:chOff x="933450" y="4438650"/>
              <a:chExt cx="4686300" cy="190500"/>
            </a:xfrm>
          </p:grpSpPr>
          <p:sp>
            <p:nvSpPr>
              <p:cNvPr id="14" name="Ellipse 14"/>
              <p:cNvSpPr/>
              <p:nvPr/>
            </p:nvSpPr>
            <p:spPr>
              <a:xfrm>
                <a:off x="933450" y="4438650"/>
                <a:ext cx="571500" cy="190500"/>
              </a:xfrm>
              <a:prstGeom prst="ellipse">
                <a:avLst/>
              </a:prstGeom>
              <a:solidFill>
                <a:srgbClr val="8C96A3"/>
              </a:solidFill>
              <a:ln>
                <a:noFill/>
              </a:ln>
            </p:spPr>
          </p:sp>
          <p:sp>
            <p:nvSpPr>
              <p:cNvPr id="15" name="Ellipse 15"/>
              <p:cNvSpPr/>
              <p:nvPr/>
            </p:nvSpPr>
            <p:spPr>
              <a:xfrm>
                <a:off x="5048250" y="4438650"/>
                <a:ext cx="571500" cy="190500"/>
              </a:xfrm>
              <a:prstGeom prst="ellipse">
                <a:avLst/>
              </a:prstGeom>
              <a:solidFill>
                <a:srgbClr val="8C96A3"/>
              </a:solidFill>
              <a:ln>
                <a:noFill/>
              </a:ln>
            </p:spPr>
          </p:sp>
        </p:grpSp>
        <p:sp>
          <p:nvSpPr>
            <p:cNvPr id="17" name="Freeform 17"/>
            <p:cNvSpPr/>
            <p:nvPr/>
          </p:nvSpPr>
          <p:spPr>
            <a:xfrm>
              <a:off x="1428750" y="3905250"/>
              <a:ext cx="3619500" cy="514350"/>
            </a:xfrm>
            <a:prstGeom prst="parallelogram">
              <a:avLst>
                <a:gd name="adj" fmla="val 90000"/>
              </a:avLst>
            </a:prstGeom>
            <a:solidFill>
              <a:srgbClr val="1F4A73"/>
            </a:solidFill>
            <a:ln>
              <a:noFill/>
            </a:ln>
          </p:spPr>
        </p:sp>
        <p:sp>
          <p:nvSpPr>
            <p:cNvPr id="18" name="Freeform 18"/>
            <p:cNvSpPr/>
            <p:nvPr/>
          </p:nvSpPr>
          <p:spPr>
            <a:xfrm>
              <a:off x="1428750" y="3162300"/>
              <a:ext cx="3619500" cy="514350"/>
            </a:xfrm>
            <a:prstGeom prst="parallelogram">
              <a:avLst>
                <a:gd name="adj" fmla="val 90000"/>
              </a:avLst>
            </a:prstGeom>
            <a:solidFill>
              <a:srgbClr val="0E2A47"/>
            </a:solidFill>
            <a:ln>
              <a:noFill/>
            </a:ln>
          </p:spPr>
        </p:sp>
        <p:sp>
          <p:nvSpPr>
            <p:cNvPr id="19" name="Freeform 19"/>
            <p:cNvSpPr/>
            <p:nvPr/>
          </p:nvSpPr>
          <p:spPr>
            <a:xfrm>
              <a:off x="1428750" y="2419350"/>
              <a:ext cx="3619500" cy="514350"/>
            </a:xfrm>
            <a:prstGeom prst="parallelogram">
              <a:avLst>
                <a:gd name="adj" fmla="val 90000"/>
              </a:avLst>
            </a:prstGeom>
            <a:solidFill>
              <a:srgbClr val="0B7A75"/>
            </a:solidFill>
            <a:ln>
              <a:noFill/>
            </a:ln>
          </p:spPr>
        </p:sp>
        <p:sp>
          <p:nvSpPr>
            <p:cNvPr id="20" name="Freeform 20"/>
            <p:cNvSpPr/>
            <p:nvPr/>
          </p:nvSpPr>
          <p:spPr>
            <a:xfrm>
              <a:off x="1428750" y="1676400"/>
              <a:ext cx="3619500" cy="514350"/>
            </a:xfrm>
            <a:prstGeom prst="parallelogram">
              <a:avLst>
                <a:gd name="adj" fmla="val 90000"/>
              </a:avLst>
            </a:prstGeom>
            <a:solidFill>
              <a:srgbClr val="E8590C"/>
            </a:solidFill>
            <a:ln>
              <a:noFill/>
            </a:ln>
          </p:spPr>
        </p:sp>
        <p:grpSp>
          <p:nvGrpSpPr>
            <p:cNvPr id="26" name="Group 26"/>
            <p:cNvGrpSpPr/>
            <p:nvPr/>
          </p:nvGrpSpPr>
          <p:grpSpPr>
            <a:xfrm>
              <a:off x="2109142" y="1809750"/>
              <a:ext cx="2258717" cy="3350895"/>
              <a:chOff x="2109142" y="1809750"/>
              <a:chExt cx="2258717" cy="3350895"/>
            </a:xfrm>
          </p:grpSpPr>
          <p:sp>
            <p:nvSpPr>
              <p:cNvPr id="21" name="TextBox 21"/>
              <p:cNvSpPr txBox="1"/>
              <p:nvPr/>
            </p:nvSpPr>
            <p:spPr>
              <a:xfrm>
                <a:off x="2872537" y="1809750"/>
                <a:ext cx="731926" cy="293370"/>
              </a:xfrm>
              <a:prstGeom prst="rect">
                <a:avLst/>
              </a:prstGeom>
              <a:noFill/>
              <a:ln>
                <a:noFill/>
              </a:ln>
            </p:spPr>
            <p:txBody>
              <a:bodyPr wrap="none" lIns="0" tIns="0" rIns="0" bIns="0" anchor="t" anchorCtr="0">
                <a:spAutoFit/>
              </a:bodyPr>
              <a:lstStyle/>
              <a:p>
                <a:pPr algn="ctr"/>
                <a:r>
                  <a:rPr lang="en" sz="1500" b="1" dirty="0">
                    <a:solidFill>
                      <a:srgbClr val="FFFFFF"/>
                    </a:solidFill>
                    <a:latin typeface="+mn-lt"/>
                    <a:ea typeface="+mn-ea"/>
                    <a:cs typeface="+mn-cs"/>
                  </a:rPr>
                  <a:t>6S LiPo</a:t>
                </a:r>
              </a:p>
            </p:txBody>
          </p:sp>
          <p:sp>
            <p:nvSpPr>
              <p:cNvPr id="22" name="TextBox 22"/>
              <p:cNvSpPr txBox="1"/>
              <p:nvPr/>
            </p:nvSpPr>
            <p:spPr>
              <a:xfrm>
                <a:off x="2826196" y="2552700"/>
                <a:ext cx="824608" cy="293370"/>
              </a:xfrm>
              <a:prstGeom prst="rect">
                <a:avLst/>
              </a:prstGeom>
              <a:noFill/>
              <a:ln>
                <a:noFill/>
              </a:ln>
            </p:spPr>
            <p:txBody>
              <a:bodyPr wrap="none" lIns="0" tIns="0" rIns="0" bIns="0" anchor="t" anchorCtr="0">
                <a:spAutoFit/>
              </a:bodyPr>
              <a:lstStyle/>
              <a:p>
                <a:pPr algn="ctr"/>
                <a:r>
                  <a:rPr lang="en" sz="1500" b="1" dirty="0">
                    <a:solidFill>
                      <a:srgbClr val="FFFFFF"/>
                    </a:solidFill>
                    <a:latin typeface="+mn-lt"/>
                    <a:ea typeface="+mn-ea"/>
                    <a:cs typeface="+mn-cs"/>
                  </a:rPr>
                  <a:t>Receiver</a:t>
                </a:r>
              </a:p>
            </p:txBody>
          </p:sp>
          <p:sp>
            <p:nvSpPr>
              <p:cNvPr id="23" name="TextBox 23"/>
              <p:cNvSpPr txBox="1"/>
              <p:nvPr/>
            </p:nvSpPr>
            <p:spPr>
              <a:xfrm>
                <a:off x="2463182" y="3295650"/>
                <a:ext cx="1550636" cy="293370"/>
              </a:xfrm>
              <a:prstGeom prst="rect">
                <a:avLst/>
              </a:prstGeom>
              <a:noFill/>
              <a:ln>
                <a:noFill/>
              </a:ln>
            </p:spPr>
            <p:txBody>
              <a:bodyPr wrap="none" lIns="0" tIns="0" rIns="0" bIns="0" anchor="t" anchorCtr="0">
                <a:spAutoFit/>
              </a:bodyPr>
              <a:lstStyle/>
              <a:p>
                <a:pPr algn="ctr"/>
                <a:r>
                  <a:rPr lang="en" sz="1500" b="1" dirty="0">
                    <a:solidFill>
                      <a:srgbClr val="FFFFFF"/>
                    </a:solidFill>
                    <a:latin typeface="+mn-lt"/>
                    <a:ea typeface="+mn-ea"/>
                    <a:cs typeface="+mn-cs"/>
                  </a:rPr>
                  <a:t>Flight controller</a:t>
                </a:r>
              </a:p>
            </p:txBody>
          </p:sp>
          <p:sp>
            <p:nvSpPr>
              <p:cNvPr id="24" name="TextBox 24"/>
              <p:cNvSpPr txBox="1"/>
              <p:nvPr/>
            </p:nvSpPr>
            <p:spPr>
              <a:xfrm>
                <a:off x="2725530" y="4038600"/>
                <a:ext cx="1025941" cy="293370"/>
              </a:xfrm>
              <a:prstGeom prst="rect">
                <a:avLst/>
              </a:prstGeom>
              <a:noFill/>
              <a:ln>
                <a:noFill/>
              </a:ln>
            </p:spPr>
            <p:txBody>
              <a:bodyPr wrap="none" lIns="0" tIns="0" rIns="0" bIns="0" anchor="t" anchorCtr="0">
                <a:spAutoFit/>
              </a:bodyPr>
              <a:lstStyle/>
              <a:p>
                <a:pPr algn="ctr"/>
                <a:r>
                  <a:rPr lang="en" sz="1500" b="1" dirty="0">
                    <a:solidFill>
                      <a:srgbClr val="FFFFFF"/>
                    </a:solidFill>
                    <a:latin typeface="+mn-lt"/>
                    <a:ea typeface="+mn-ea"/>
                    <a:cs typeface="+mn-cs"/>
                  </a:rPr>
                  <a:t>4-in-1 ESC</a:t>
                </a:r>
              </a:p>
            </p:txBody>
          </p:sp>
          <p:sp>
            <p:nvSpPr>
              <p:cNvPr id="25" name="TextBox 25"/>
              <p:cNvSpPr txBox="1"/>
              <p:nvPr/>
            </p:nvSpPr>
            <p:spPr>
              <a:xfrm>
                <a:off x="2109142" y="4867275"/>
                <a:ext cx="2258717" cy="293370"/>
              </a:xfrm>
              <a:prstGeom prst="rect">
                <a:avLst/>
              </a:prstGeom>
              <a:noFill/>
              <a:ln>
                <a:noFill/>
              </a:ln>
            </p:spPr>
            <p:txBody>
              <a:bodyPr wrap="none" lIns="0" tIns="0" rIns="0" bIns="0" anchor="t" anchorCtr="0">
                <a:spAutoFit/>
              </a:bodyPr>
              <a:lstStyle/>
              <a:p>
                <a:pPr algn="ctr"/>
                <a:r>
                  <a:rPr lang="en" sz="1500" b="1" dirty="0">
                    <a:solidFill>
                      <a:srgbClr val="FFFFFF"/>
                    </a:solidFill>
                    <a:latin typeface="+mn-lt"/>
                    <a:ea typeface="+mn-ea"/>
                    <a:cs typeface="+mn-cs"/>
                  </a:rPr>
                  <a:t>Carbon frame + motors</a:t>
                </a:r>
              </a:p>
            </p:txBody>
          </p:sp>
        </p:grpSp>
        <p:sp>
          <p:nvSpPr>
            <p:cNvPr id="27" name="TextBox 27"/>
            <p:cNvSpPr txBox="1"/>
            <p:nvPr/>
          </p:nvSpPr>
          <p:spPr>
            <a:xfrm>
              <a:off x="603504" y="5480050"/>
              <a:ext cx="2499970" cy="234696"/>
            </a:xfrm>
            <a:prstGeom prst="rect">
              <a:avLst/>
            </a:prstGeom>
            <a:noFill/>
            <a:ln>
              <a:noFill/>
            </a:ln>
          </p:spPr>
          <p:txBody>
            <a:bodyPr wrap="none" lIns="0" tIns="0" rIns="0" bIns="0" anchor="t" anchorCtr="0">
              <a:spAutoFit/>
            </a:bodyPr>
            <a:lstStyle/>
            <a:p>
              <a:pPr algn="l"/>
              <a:r>
                <a:rPr lang="en" sz="1200" dirty="0">
                  <a:solidFill>
                    <a:srgbClr val="6B7A8C"/>
                  </a:solidFill>
                  <a:latin typeface="Consolas"/>
                  <a:ea typeface="Consolas"/>
                  <a:cs typeface="Consolas"/>
                </a:rPr>
                <a:t>exploded view · not to scale</a:t>
              </a:r>
            </a:p>
          </p:txBody>
        </p:sp>
      </p:grpSp>
      <p:grpSp>
        <p:nvGrpSpPr>
          <p:cNvPr id="53" name="callouts"/>
          <p:cNvGrpSpPr/>
          <p:nvPr/>
        </p:nvGrpSpPr>
        <p:grpSpPr>
          <a:xfrm>
            <a:off x="5086350" y="1663700"/>
            <a:ext cx="5554607" cy="3630295"/>
            <a:chOff x="5086350" y="1663700"/>
            <a:chExt cx="5554607" cy="3630295"/>
          </a:xfrm>
        </p:grpSpPr>
        <p:grpSp>
          <p:nvGrpSpPr>
            <p:cNvPr id="34" name="Group 34"/>
            <p:cNvGrpSpPr/>
            <p:nvPr/>
          </p:nvGrpSpPr>
          <p:grpSpPr>
            <a:xfrm>
              <a:off x="5086350" y="1933575"/>
              <a:ext cx="1123950" cy="3067050"/>
              <a:chOff x="5086350" y="1933575"/>
              <a:chExt cx="1123950" cy="3067050"/>
            </a:xfrm>
          </p:grpSpPr>
          <p:sp>
            <p:nvSpPr>
              <p:cNvPr id="29" name="Line 29"/>
              <p:cNvSpPr/>
              <p:nvPr/>
            </p:nvSpPr>
            <p:spPr>
              <a:xfrm>
                <a:off x="5086350" y="1933575"/>
                <a:ext cx="1123950" cy="9525"/>
              </a:xfrm>
              <a:custGeom>
                <a:avLst/>
                <a:gdLst/>
                <a:ahLst/>
                <a:cxnLst/>
                <a:rect l="l" t="t" r="r" b="b"/>
                <a:pathLst>
                  <a:path w="1123950" h="9525">
                    <a:moveTo>
                      <a:pt x="0" y="0"/>
                    </a:moveTo>
                    <a:lnTo>
                      <a:pt x="1123950" y="0"/>
                    </a:lnTo>
                  </a:path>
                </a:pathLst>
              </a:custGeom>
              <a:noFill/>
              <a:ln w="14288">
                <a:solidFill>
                  <a:srgbClr val="0E2A47"/>
                </a:solidFill>
              </a:ln>
            </p:spPr>
          </p:sp>
          <p:sp>
            <p:nvSpPr>
              <p:cNvPr id="30" name="Line 30"/>
              <p:cNvSpPr/>
              <p:nvPr/>
            </p:nvSpPr>
            <p:spPr>
              <a:xfrm>
                <a:off x="5086350" y="2676525"/>
                <a:ext cx="1123950" cy="9525"/>
              </a:xfrm>
              <a:custGeom>
                <a:avLst/>
                <a:gdLst/>
                <a:ahLst/>
                <a:cxnLst/>
                <a:rect l="l" t="t" r="r" b="b"/>
                <a:pathLst>
                  <a:path w="1123950" h="9525">
                    <a:moveTo>
                      <a:pt x="0" y="0"/>
                    </a:moveTo>
                    <a:lnTo>
                      <a:pt x="1123950" y="0"/>
                    </a:lnTo>
                  </a:path>
                </a:pathLst>
              </a:custGeom>
              <a:noFill/>
              <a:ln w="14288">
                <a:solidFill>
                  <a:srgbClr val="0E2A47"/>
                </a:solidFill>
              </a:ln>
            </p:spPr>
          </p:sp>
          <p:sp>
            <p:nvSpPr>
              <p:cNvPr id="31" name="Line 31"/>
              <p:cNvSpPr/>
              <p:nvPr/>
            </p:nvSpPr>
            <p:spPr>
              <a:xfrm>
                <a:off x="5086350" y="3419475"/>
                <a:ext cx="1123950" cy="9525"/>
              </a:xfrm>
              <a:custGeom>
                <a:avLst/>
                <a:gdLst/>
                <a:ahLst/>
                <a:cxnLst/>
                <a:rect l="l" t="t" r="r" b="b"/>
                <a:pathLst>
                  <a:path w="1123950" h="9525">
                    <a:moveTo>
                      <a:pt x="0" y="0"/>
                    </a:moveTo>
                    <a:lnTo>
                      <a:pt x="1123950" y="0"/>
                    </a:lnTo>
                  </a:path>
                </a:pathLst>
              </a:custGeom>
              <a:noFill/>
              <a:ln w="14288">
                <a:solidFill>
                  <a:srgbClr val="0E2A47"/>
                </a:solidFill>
              </a:ln>
            </p:spPr>
          </p:sp>
          <p:sp>
            <p:nvSpPr>
              <p:cNvPr id="32" name="Line 32"/>
              <p:cNvSpPr/>
              <p:nvPr/>
            </p:nvSpPr>
            <p:spPr>
              <a:xfrm>
                <a:off x="5086350" y="4162425"/>
                <a:ext cx="1123950" cy="9525"/>
              </a:xfrm>
              <a:custGeom>
                <a:avLst/>
                <a:gdLst/>
                <a:ahLst/>
                <a:cxnLst/>
                <a:rect l="l" t="t" r="r" b="b"/>
                <a:pathLst>
                  <a:path w="1123950" h="9525">
                    <a:moveTo>
                      <a:pt x="0" y="0"/>
                    </a:moveTo>
                    <a:lnTo>
                      <a:pt x="1123950" y="0"/>
                    </a:lnTo>
                  </a:path>
                </a:pathLst>
              </a:custGeom>
              <a:noFill/>
              <a:ln w="14288">
                <a:solidFill>
                  <a:srgbClr val="0E2A47"/>
                </a:solidFill>
              </a:ln>
            </p:spPr>
          </p:sp>
          <p:sp>
            <p:nvSpPr>
              <p:cNvPr id="33" name="Line 33"/>
              <p:cNvSpPr/>
              <p:nvPr/>
            </p:nvSpPr>
            <p:spPr>
              <a:xfrm>
                <a:off x="5753100" y="4991100"/>
                <a:ext cx="457200" cy="9525"/>
              </a:xfrm>
              <a:custGeom>
                <a:avLst/>
                <a:gdLst/>
                <a:ahLst/>
                <a:cxnLst/>
                <a:rect l="l" t="t" r="r" b="b"/>
                <a:pathLst>
                  <a:path w="457200" h="9525">
                    <a:moveTo>
                      <a:pt x="0" y="0"/>
                    </a:moveTo>
                    <a:lnTo>
                      <a:pt x="457200" y="0"/>
                    </a:lnTo>
                  </a:path>
                </a:pathLst>
              </a:custGeom>
              <a:noFill/>
              <a:ln w="14288">
                <a:solidFill>
                  <a:srgbClr val="0E2A47"/>
                </a:solidFill>
              </a:ln>
            </p:spPr>
          </p:sp>
        </p:grpSp>
        <p:grpSp>
          <p:nvGrpSpPr>
            <p:cNvPr id="40" name="Group 40"/>
            <p:cNvGrpSpPr/>
            <p:nvPr/>
          </p:nvGrpSpPr>
          <p:grpSpPr>
            <a:xfrm>
              <a:off x="6172200" y="1895475"/>
              <a:ext cx="76200" cy="3133725"/>
              <a:chOff x="6172200" y="1895475"/>
              <a:chExt cx="76200" cy="3133725"/>
            </a:xfrm>
          </p:grpSpPr>
          <p:sp>
            <p:nvSpPr>
              <p:cNvPr id="35" name="Ellipse 35"/>
              <p:cNvSpPr/>
              <p:nvPr/>
            </p:nvSpPr>
            <p:spPr>
              <a:xfrm>
                <a:off x="6172200" y="1895475"/>
                <a:ext cx="76200" cy="76200"/>
              </a:xfrm>
              <a:prstGeom prst="ellipse">
                <a:avLst/>
              </a:prstGeom>
              <a:solidFill>
                <a:srgbClr val="0E2A47"/>
              </a:solidFill>
              <a:ln>
                <a:noFill/>
              </a:ln>
            </p:spPr>
          </p:sp>
          <p:sp>
            <p:nvSpPr>
              <p:cNvPr id="36" name="Ellipse 36"/>
              <p:cNvSpPr/>
              <p:nvPr/>
            </p:nvSpPr>
            <p:spPr>
              <a:xfrm>
                <a:off x="6172200" y="2638425"/>
                <a:ext cx="76200" cy="76200"/>
              </a:xfrm>
              <a:prstGeom prst="ellipse">
                <a:avLst/>
              </a:prstGeom>
              <a:solidFill>
                <a:srgbClr val="0E2A47"/>
              </a:solidFill>
              <a:ln>
                <a:noFill/>
              </a:ln>
            </p:spPr>
          </p:sp>
          <p:sp>
            <p:nvSpPr>
              <p:cNvPr id="37" name="Ellipse 37"/>
              <p:cNvSpPr/>
              <p:nvPr/>
            </p:nvSpPr>
            <p:spPr>
              <a:xfrm>
                <a:off x="6172200" y="3381375"/>
                <a:ext cx="76200" cy="76200"/>
              </a:xfrm>
              <a:prstGeom prst="ellipse">
                <a:avLst/>
              </a:prstGeom>
              <a:solidFill>
                <a:srgbClr val="0E2A47"/>
              </a:solidFill>
              <a:ln>
                <a:noFill/>
              </a:ln>
            </p:spPr>
          </p:sp>
          <p:sp>
            <p:nvSpPr>
              <p:cNvPr id="38" name="Ellipse 38"/>
              <p:cNvSpPr/>
              <p:nvPr/>
            </p:nvSpPr>
            <p:spPr>
              <a:xfrm>
                <a:off x="6172200" y="4124325"/>
                <a:ext cx="76200" cy="76200"/>
              </a:xfrm>
              <a:prstGeom prst="ellipse">
                <a:avLst/>
              </a:prstGeom>
              <a:solidFill>
                <a:srgbClr val="0E2A47"/>
              </a:solidFill>
              <a:ln>
                <a:noFill/>
              </a:ln>
            </p:spPr>
          </p:sp>
          <p:sp>
            <p:nvSpPr>
              <p:cNvPr id="39" name="Ellipse 39"/>
              <p:cNvSpPr/>
              <p:nvPr/>
            </p:nvSpPr>
            <p:spPr>
              <a:xfrm>
                <a:off x="6172200" y="4953000"/>
                <a:ext cx="76200" cy="76200"/>
              </a:xfrm>
              <a:prstGeom prst="ellipse">
                <a:avLst/>
              </a:prstGeom>
              <a:solidFill>
                <a:srgbClr val="0E2A47"/>
              </a:solidFill>
              <a:ln>
                <a:noFill/>
              </a:ln>
            </p:spPr>
          </p:sp>
        </p:grpSp>
        <p:grpSp>
          <p:nvGrpSpPr>
            <p:cNvPr id="46" name="Group 46"/>
            <p:cNvGrpSpPr/>
            <p:nvPr/>
          </p:nvGrpSpPr>
          <p:grpSpPr>
            <a:xfrm>
              <a:off x="6354318" y="1663700"/>
              <a:ext cx="2097021" cy="3380232"/>
              <a:chOff x="6354318" y="1663700"/>
              <a:chExt cx="2097021" cy="3380232"/>
            </a:xfrm>
          </p:grpSpPr>
          <p:sp>
            <p:nvSpPr>
              <p:cNvPr id="41" name="TextBox 41"/>
              <p:cNvSpPr txBox="1"/>
              <p:nvPr/>
            </p:nvSpPr>
            <p:spPr>
              <a:xfrm>
                <a:off x="6354318" y="1663700"/>
                <a:ext cx="1621155"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6S LiPo battery</a:t>
                </a:r>
              </a:p>
            </p:txBody>
          </p:sp>
          <p:sp>
            <p:nvSpPr>
              <p:cNvPr id="42" name="TextBox 42"/>
              <p:cNvSpPr txBox="1"/>
              <p:nvPr/>
            </p:nvSpPr>
            <p:spPr>
              <a:xfrm>
                <a:off x="6354318" y="2406650"/>
                <a:ext cx="2097021"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ExpressLRS receiver</a:t>
                </a:r>
              </a:p>
            </p:txBody>
          </p:sp>
          <p:sp>
            <p:nvSpPr>
              <p:cNvPr id="43" name="TextBox 43"/>
              <p:cNvSpPr txBox="1"/>
              <p:nvPr/>
            </p:nvSpPr>
            <p:spPr>
              <a:xfrm>
                <a:off x="6354318" y="3149600"/>
                <a:ext cx="1705699"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Flight controller</a:t>
                </a:r>
              </a:p>
            </p:txBody>
          </p:sp>
          <p:sp>
            <p:nvSpPr>
              <p:cNvPr id="44" name="TextBox 44"/>
              <p:cNvSpPr txBox="1"/>
              <p:nvPr/>
            </p:nvSpPr>
            <p:spPr>
              <a:xfrm>
                <a:off x="6354318" y="3892550"/>
                <a:ext cx="1128535"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4-in-1 ESC</a:t>
                </a:r>
              </a:p>
            </p:txBody>
          </p:sp>
          <p:sp>
            <p:nvSpPr>
              <p:cNvPr id="45" name="TextBox 45"/>
              <p:cNvSpPr txBox="1"/>
              <p:nvPr/>
            </p:nvSpPr>
            <p:spPr>
              <a:xfrm>
                <a:off x="6354318" y="4721225"/>
                <a:ext cx="1699654"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Frame + motors</a:t>
                </a:r>
              </a:p>
            </p:txBody>
          </p:sp>
        </p:grpSp>
        <p:grpSp>
          <p:nvGrpSpPr>
            <p:cNvPr id="52" name="Group 52"/>
            <p:cNvGrpSpPr/>
            <p:nvPr/>
          </p:nvGrpSpPr>
          <p:grpSpPr>
            <a:xfrm>
              <a:off x="6355080" y="1943100"/>
              <a:ext cx="4285877" cy="3350895"/>
              <a:chOff x="6355080" y="1943100"/>
              <a:chExt cx="4285877" cy="3350895"/>
            </a:xfrm>
          </p:grpSpPr>
          <p:sp>
            <p:nvSpPr>
              <p:cNvPr id="47" name="TextBox 47"/>
              <p:cNvSpPr txBox="1"/>
              <p:nvPr/>
            </p:nvSpPr>
            <p:spPr>
              <a:xfrm>
                <a:off x="6355080" y="1943100"/>
                <a:ext cx="3138966"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22.2 V nominal, ~1300 mAh, 120 C</a:t>
                </a:r>
              </a:p>
            </p:txBody>
          </p:sp>
          <p:sp>
            <p:nvSpPr>
              <p:cNvPr id="48" name="TextBox 48"/>
              <p:cNvSpPr txBox="1"/>
              <p:nvPr/>
            </p:nvSpPr>
            <p:spPr>
              <a:xfrm>
                <a:off x="6355080" y="2686050"/>
                <a:ext cx="3883239"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2.4 GHz, up to 1000 packets/s (short range)</a:t>
                </a:r>
              </a:p>
            </p:txBody>
          </p:sp>
          <p:sp>
            <p:nvSpPr>
              <p:cNvPr id="49" name="TextBox 49"/>
              <p:cNvSpPr txBox="1"/>
              <p:nvPr/>
            </p:nvSpPr>
            <p:spPr>
              <a:xfrm>
                <a:off x="6355080" y="3429000"/>
                <a:ext cx="3805797"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STM32 F7/H7, Betaflight, ICM-42688 gyro</a:t>
                </a:r>
              </a:p>
            </p:txBody>
          </p:sp>
          <p:sp>
            <p:nvSpPr>
              <p:cNvPr id="50" name="TextBox 50"/>
              <p:cNvSpPr txBox="1"/>
              <p:nvPr/>
            </p:nvSpPr>
            <p:spPr>
              <a:xfrm>
                <a:off x="6355080" y="4171950"/>
                <a:ext cx="4285877"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45–60 A per motor, DShot600 + RPM telemetry</a:t>
                </a:r>
              </a:p>
            </p:txBody>
          </p:sp>
          <p:sp>
            <p:nvSpPr>
              <p:cNvPr id="51" name="TextBox 51"/>
              <p:cNvSpPr txBox="1"/>
              <p:nvPr/>
            </p:nvSpPr>
            <p:spPr>
              <a:xfrm>
                <a:off x="6355080" y="5000625"/>
                <a:ext cx="4047315"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5-inch carbon, 2207 motors at 1750–1960 KV</a:t>
                </a:r>
              </a:p>
            </p:txBody>
          </p:sp>
        </p:grpSp>
      </p:grpSp>
      <p:grpSp>
        <p:nvGrpSpPr>
          <p:cNvPr id="56" name="footer"/>
          <p:cNvGrpSpPr/>
          <p:nvPr/>
        </p:nvGrpSpPr>
        <p:grpSpPr>
          <a:xfrm>
            <a:off x="603504" y="6457950"/>
            <a:ext cx="10984992" cy="247396"/>
            <a:chOff x="603504" y="6457950"/>
            <a:chExt cx="10984992" cy="247396"/>
          </a:xfrm>
        </p:grpSpPr>
        <p:sp>
          <p:nvSpPr>
            <p:cNvPr id="54" name="TextBox 54"/>
            <p:cNvSpPr txBox="1"/>
            <p:nvPr/>
          </p:nvSpPr>
          <p:spPr>
            <a:xfrm>
              <a:off x="603504" y="6457950"/>
              <a:ext cx="4662367"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Typical build · Betaflight runs an 8 kHz gyro + PID loop on F7/H7</a:t>
              </a:r>
            </a:p>
          </p:txBody>
        </p:sp>
        <p:sp>
          <p:nvSpPr>
            <p:cNvPr id="55" name="TextBox 55"/>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14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1000"/>
                                        <p:tgtEl>
                                          <p:spTgt spid="28"/>
                                        </p:tgtEl>
                                      </p:cBhvr>
                                    </p:animEffect>
                                  </p:childTnLst>
                                </p:cTn>
                              </p:par>
                            </p:childTnLst>
                          </p:cTn>
                        </p:par>
                        <p:par>
                          <p:cTn id="8" fill="hold">
                            <p:stCondLst>
                              <p:cond delay="1000"/>
                            </p:stCondLst>
                            <p:childTnLst>
                              <p:par>
                                <p:cTn id="9" presetID="22" presetClass="entr" presetSubtype="2" fill="hold" nodeType="afterEffect">
                                  <p:stCondLst>
                                    <p:cond delay="100"/>
                                  </p:stCondLst>
                                  <p:childTnLst>
                                    <p:set>
                                      <p:cBhvr>
                                        <p:cTn id="10" dur="1" fill="hold">
                                          <p:stCondLst>
                                            <p:cond delay="0"/>
                                          </p:stCondLst>
                                        </p:cTn>
                                        <p:tgtEl>
                                          <p:spTgt spid="53"/>
                                        </p:tgtEl>
                                        <p:attrNameLst>
                                          <p:attrName>style.visibility</p:attrName>
                                        </p:attrNameLst>
                                      </p:cBhvr>
                                      <p:to>
                                        <p:strVal val="visible"/>
                                      </p:to>
                                    </p:set>
                                    <p:animEffect transition="in" filter="wipe(right)">
                                      <p:cBhvr>
                                        <p:cTn id="11" dur="8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8773200" cy="880364"/>
            <a:chOff x="592836" y="539750"/>
            <a:chExt cx="8773200" cy="880364"/>
          </a:xfrm>
        </p:grpSpPr>
        <p:sp>
          <p:nvSpPr>
            <p:cNvPr id="2" name="TextBox 2"/>
            <p:cNvSpPr txBox="1"/>
            <p:nvPr/>
          </p:nvSpPr>
          <p:spPr>
            <a:xfrm>
              <a:off x="602742" y="539750"/>
              <a:ext cx="1388821"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15 / MOTORS</a:t>
              </a:r>
            </a:p>
          </p:txBody>
        </p:sp>
        <p:sp>
          <p:nvSpPr>
            <p:cNvPr id="3" name="TextBox 3"/>
            <p:cNvSpPr txBox="1"/>
            <p:nvPr/>
          </p:nvSpPr>
          <p:spPr>
            <a:xfrm>
              <a:off x="592836" y="774700"/>
              <a:ext cx="8773200"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Brushed vs brushless, and what KV means</a:t>
              </a:r>
            </a:p>
          </p:txBody>
        </p:sp>
      </p:grpSp>
      <p:grpSp>
        <p:nvGrpSpPr>
          <p:cNvPr id="11" name="card-brushed"/>
          <p:cNvGrpSpPr/>
          <p:nvPr/>
        </p:nvGrpSpPr>
        <p:grpSpPr>
          <a:xfrm>
            <a:off x="609600" y="1485900"/>
            <a:ext cx="5334000" cy="2209800"/>
            <a:chOff x="609600" y="1485900"/>
            <a:chExt cx="5334000" cy="2209800"/>
          </a:xfrm>
        </p:grpSpPr>
        <p:sp>
          <p:nvSpPr>
            <p:cNvPr id="5" name="Rectangle 5"/>
            <p:cNvSpPr/>
            <p:nvPr/>
          </p:nvSpPr>
          <p:spPr>
            <a:xfrm>
              <a:off x="609600" y="1485900"/>
              <a:ext cx="5334000" cy="2209800"/>
            </a:xfrm>
            <a:prstGeom prst="roundRect">
              <a:avLst>
                <a:gd name="adj" fmla="val 6034"/>
              </a:avLst>
            </a:prstGeom>
            <a:solidFill>
              <a:srgbClr val="FFF3EA"/>
            </a:solidFill>
            <a:ln>
              <a:noFill/>
            </a:ln>
          </p:spPr>
        </p:sp>
        <p:sp>
          <p:nvSpPr>
            <p:cNvPr id="6" name="TextBox 6"/>
            <p:cNvSpPr txBox="1"/>
            <p:nvPr/>
          </p:nvSpPr>
          <p:spPr>
            <a:xfrm>
              <a:off x="866394" y="1663700"/>
              <a:ext cx="2271045"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Brushed </a:t>
              </a:r>
              <a:r>
                <a:rPr lang="en" sz="1950" dirty="0">
                  <a:solidFill>
                    <a:srgbClr val="C2410C"/>
                  </a:solidFill>
                  <a:latin typeface="+mn-lt"/>
                  <a:ea typeface="+mn-ea"/>
                  <a:cs typeface="+mn-cs"/>
                </a:rPr>
                <a:t>· our 8520</a:t>
              </a:r>
            </a:p>
          </p:txBody>
        </p:sp>
        <p:grpSp>
          <p:nvGrpSpPr>
            <p:cNvPr id="10" name="Group 10"/>
            <p:cNvGrpSpPr/>
            <p:nvPr/>
          </p:nvGrpSpPr>
          <p:grpSpPr>
            <a:xfrm>
              <a:off x="867918" y="2178050"/>
              <a:ext cx="4523968" cy="1160907"/>
              <a:chOff x="867918" y="2178050"/>
              <a:chExt cx="4523968" cy="1160907"/>
            </a:xfrm>
          </p:grpSpPr>
          <p:sp>
            <p:nvSpPr>
              <p:cNvPr id="7" name="TextBox 7"/>
              <p:cNvSpPr txBox="1"/>
              <p:nvPr/>
            </p:nvSpPr>
            <p:spPr>
              <a:xfrm>
                <a:off x="867918" y="2178050"/>
                <a:ext cx="4506810"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Brushes rub a commutator, so they wear out</a:t>
                </a:r>
              </a:p>
            </p:txBody>
          </p:sp>
          <p:sp>
            <p:nvSpPr>
              <p:cNvPr id="8" name="TextBox 8"/>
              <p:cNvSpPr txBox="1"/>
              <p:nvPr/>
            </p:nvSpPr>
            <p:spPr>
              <a:xfrm>
                <a:off x="867918" y="2597150"/>
                <a:ext cx="4523968"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Plain DC: our MOSFET switches it on and off</a:t>
                </a:r>
              </a:p>
            </p:txBody>
          </p:sp>
          <p:sp>
            <p:nvSpPr>
              <p:cNvPr id="9" name="TextBox 9"/>
              <p:cNvSpPr txBox="1"/>
              <p:nvPr/>
            </p:nvSpPr>
            <p:spPr>
              <a:xfrm>
                <a:off x="867918" y="3016250"/>
                <a:ext cx="4021393"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Cheap; fine for quads under about 60 g</a:t>
                </a:r>
              </a:p>
            </p:txBody>
          </p:sp>
        </p:grpSp>
      </p:grpSp>
      <p:grpSp>
        <p:nvGrpSpPr>
          <p:cNvPr id="18" name="card-brushless"/>
          <p:cNvGrpSpPr/>
          <p:nvPr/>
        </p:nvGrpSpPr>
        <p:grpSpPr>
          <a:xfrm>
            <a:off x="6248400" y="1485900"/>
            <a:ext cx="5334000" cy="2209800"/>
            <a:chOff x="6248400" y="1485900"/>
            <a:chExt cx="5334000" cy="2209800"/>
          </a:xfrm>
        </p:grpSpPr>
        <p:sp>
          <p:nvSpPr>
            <p:cNvPr id="12" name="Rectangle 12"/>
            <p:cNvSpPr/>
            <p:nvPr/>
          </p:nvSpPr>
          <p:spPr>
            <a:xfrm>
              <a:off x="6248400" y="1485900"/>
              <a:ext cx="5334000" cy="2209800"/>
            </a:xfrm>
            <a:prstGeom prst="roundRect">
              <a:avLst>
                <a:gd name="adj" fmla="val 6034"/>
              </a:avLst>
            </a:prstGeom>
            <a:solidFill>
              <a:srgbClr val="E9F4F3"/>
            </a:solidFill>
            <a:ln>
              <a:noFill/>
            </a:ln>
          </p:spPr>
        </p:sp>
        <p:sp>
          <p:nvSpPr>
            <p:cNvPr id="13" name="TextBox 13"/>
            <p:cNvSpPr txBox="1"/>
            <p:nvPr/>
          </p:nvSpPr>
          <p:spPr>
            <a:xfrm>
              <a:off x="6505194" y="1663700"/>
              <a:ext cx="3379914"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Brushless </a:t>
              </a:r>
              <a:r>
                <a:rPr lang="en" sz="1950" dirty="0">
                  <a:solidFill>
                    <a:srgbClr val="0B7A75"/>
                  </a:solidFill>
                  <a:latin typeface="+mn-lt"/>
                  <a:ea typeface="+mn-ea"/>
                  <a:cs typeface="+mn-cs"/>
                </a:rPr>
                <a:t>· 2207 racer motor</a:t>
              </a:r>
            </a:p>
          </p:txBody>
        </p:sp>
        <p:grpSp>
          <p:nvGrpSpPr>
            <p:cNvPr id="17" name="Group 17"/>
            <p:cNvGrpSpPr/>
            <p:nvPr/>
          </p:nvGrpSpPr>
          <p:grpSpPr>
            <a:xfrm>
              <a:off x="6506718" y="2178050"/>
              <a:ext cx="3963419" cy="1160907"/>
              <a:chOff x="6506718" y="2178050"/>
              <a:chExt cx="3963419" cy="1160907"/>
            </a:xfrm>
          </p:grpSpPr>
          <p:sp>
            <p:nvSpPr>
              <p:cNvPr id="14" name="TextBox 14"/>
              <p:cNvSpPr txBox="1"/>
              <p:nvPr/>
            </p:nvSpPr>
            <p:spPr>
              <a:xfrm>
                <a:off x="6506718" y="2178050"/>
                <a:ext cx="3963419"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No brushes: the ESC switches 3 phases</a:t>
                </a:r>
              </a:p>
            </p:txBody>
          </p:sp>
          <p:sp>
            <p:nvSpPr>
              <p:cNvPr id="15" name="TextBox 15"/>
              <p:cNvSpPr txBox="1"/>
              <p:nvPr/>
            </p:nvSpPr>
            <p:spPr>
              <a:xfrm>
                <a:off x="6506718" y="2597150"/>
                <a:ext cx="3138411"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12 coils, 14 magnets (12N14P)</a:t>
                </a:r>
              </a:p>
            </p:txBody>
          </p:sp>
          <p:sp>
            <p:nvSpPr>
              <p:cNvPr id="16" name="TextBox 16"/>
              <p:cNvSpPr txBox="1"/>
              <p:nvPr/>
            </p:nvSpPr>
            <p:spPr>
              <a:xfrm>
                <a:off x="6506718" y="3016250"/>
                <a:ext cx="3756453"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Bearings are the only part that wears</a:t>
                </a:r>
              </a:p>
            </p:txBody>
          </p:sp>
        </p:grpSp>
      </p:grpSp>
      <p:grpSp>
        <p:nvGrpSpPr>
          <p:cNvPr id="42" name="stator-drawing"/>
          <p:cNvGrpSpPr/>
          <p:nvPr/>
        </p:nvGrpSpPr>
        <p:grpSpPr>
          <a:xfrm>
            <a:off x="601218" y="4025900"/>
            <a:ext cx="5011156" cy="2279396"/>
            <a:chOff x="601218" y="4025900"/>
            <a:chExt cx="5011156" cy="2279396"/>
          </a:xfrm>
        </p:grpSpPr>
        <p:sp>
          <p:nvSpPr>
            <p:cNvPr id="19" name="TextBox 19"/>
            <p:cNvSpPr txBox="1"/>
            <p:nvPr/>
          </p:nvSpPr>
          <p:spPr>
            <a:xfrm>
              <a:off x="601218" y="4025900"/>
              <a:ext cx="2716769"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Reading the name “2207”</a:t>
              </a:r>
            </a:p>
          </p:txBody>
        </p:sp>
        <p:grpSp>
          <p:nvGrpSpPr>
            <p:cNvPr id="26" name="Group 26"/>
            <p:cNvGrpSpPr/>
            <p:nvPr/>
          </p:nvGrpSpPr>
          <p:grpSpPr>
            <a:xfrm>
              <a:off x="1428750" y="4591050"/>
              <a:ext cx="3333750" cy="1381125"/>
              <a:chOff x="1428750" y="4591050"/>
              <a:chExt cx="3333750" cy="1381125"/>
            </a:xfrm>
          </p:grpSpPr>
          <p:sp>
            <p:nvSpPr>
              <p:cNvPr id="20" name="Line 20"/>
              <p:cNvSpPr/>
              <p:nvPr/>
            </p:nvSpPr>
            <p:spPr>
              <a:xfrm>
                <a:off x="1428750" y="4591050"/>
                <a:ext cx="9525" cy="361950"/>
              </a:xfrm>
              <a:custGeom>
                <a:avLst/>
                <a:gdLst/>
                <a:ahLst/>
                <a:cxnLst/>
                <a:rect l="l" t="t" r="r" b="b"/>
                <a:pathLst>
                  <a:path w="9525" h="361950">
                    <a:moveTo>
                      <a:pt x="0" y="0"/>
                    </a:moveTo>
                    <a:lnTo>
                      <a:pt x="0" y="361950"/>
                    </a:lnTo>
                  </a:path>
                </a:pathLst>
              </a:custGeom>
              <a:noFill/>
              <a:ln w="14288">
                <a:solidFill>
                  <a:srgbClr val="C2410C"/>
                </a:solidFill>
              </a:ln>
            </p:spPr>
          </p:sp>
          <p:sp>
            <p:nvSpPr>
              <p:cNvPr id="21" name="Line 21"/>
              <p:cNvSpPr/>
              <p:nvPr/>
            </p:nvSpPr>
            <p:spPr>
              <a:xfrm>
                <a:off x="4362450" y="4591050"/>
                <a:ext cx="9525" cy="361950"/>
              </a:xfrm>
              <a:custGeom>
                <a:avLst/>
                <a:gdLst/>
                <a:ahLst/>
                <a:cxnLst/>
                <a:rect l="l" t="t" r="r" b="b"/>
                <a:pathLst>
                  <a:path w="9525" h="361950">
                    <a:moveTo>
                      <a:pt x="0" y="0"/>
                    </a:moveTo>
                    <a:lnTo>
                      <a:pt x="0" y="361950"/>
                    </a:lnTo>
                  </a:path>
                </a:pathLst>
              </a:custGeom>
              <a:noFill/>
              <a:ln w="14288">
                <a:solidFill>
                  <a:srgbClr val="C2410C"/>
                </a:solidFill>
              </a:ln>
            </p:spPr>
          </p:sp>
          <p:sp>
            <p:nvSpPr>
              <p:cNvPr id="22" name="Line 22"/>
              <p:cNvSpPr/>
              <p:nvPr/>
            </p:nvSpPr>
            <p:spPr>
              <a:xfrm>
                <a:off x="1428750" y="4667250"/>
                <a:ext cx="2933700" cy="1"/>
              </a:xfrm>
              <a:prstGeom prst="line">
                <a:avLst/>
              </a:prstGeom>
              <a:noFill/>
              <a:ln w="14288">
                <a:solidFill>
                  <a:srgbClr val="C2410C"/>
                </a:solidFill>
                <a:headEnd type="triangle" w="lg" len="lg"/>
                <a:tailEnd type="triangle" w="lg" len="lg"/>
              </a:ln>
            </p:spPr>
          </p:sp>
          <p:sp>
            <p:nvSpPr>
              <p:cNvPr id="23" name="Line 23"/>
              <p:cNvSpPr/>
              <p:nvPr/>
            </p:nvSpPr>
            <p:spPr>
              <a:xfrm>
                <a:off x="4362450" y="5029200"/>
                <a:ext cx="400050" cy="9525"/>
              </a:xfrm>
              <a:custGeom>
                <a:avLst/>
                <a:gdLst/>
                <a:ahLst/>
                <a:cxnLst/>
                <a:rect l="l" t="t" r="r" b="b"/>
                <a:pathLst>
                  <a:path w="400050" h="9525">
                    <a:moveTo>
                      <a:pt x="0" y="0"/>
                    </a:moveTo>
                    <a:lnTo>
                      <a:pt x="400050" y="0"/>
                    </a:lnTo>
                  </a:path>
                </a:pathLst>
              </a:custGeom>
              <a:noFill/>
              <a:ln w="14288">
                <a:solidFill>
                  <a:srgbClr val="C2410C"/>
                </a:solidFill>
              </a:ln>
            </p:spPr>
          </p:sp>
          <p:sp>
            <p:nvSpPr>
              <p:cNvPr id="24" name="Line 24"/>
              <p:cNvSpPr/>
              <p:nvPr/>
            </p:nvSpPr>
            <p:spPr>
              <a:xfrm>
                <a:off x="4362450" y="5962650"/>
                <a:ext cx="400050" cy="9525"/>
              </a:xfrm>
              <a:custGeom>
                <a:avLst/>
                <a:gdLst/>
                <a:ahLst/>
                <a:cxnLst/>
                <a:rect l="l" t="t" r="r" b="b"/>
                <a:pathLst>
                  <a:path w="400050" h="9525">
                    <a:moveTo>
                      <a:pt x="0" y="0"/>
                    </a:moveTo>
                    <a:lnTo>
                      <a:pt x="400050" y="0"/>
                    </a:lnTo>
                  </a:path>
                </a:pathLst>
              </a:custGeom>
              <a:noFill/>
              <a:ln w="14288">
                <a:solidFill>
                  <a:srgbClr val="C2410C"/>
                </a:solidFill>
              </a:ln>
            </p:spPr>
          </p:sp>
          <p:sp>
            <p:nvSpPr>
              <p:cNvPr id="25" name="Line 25"/>
              <p:cNvSpPr/>
              <p:nvPr/>
            </p:nvSpPr>
            <p:spPr>
              <a:xfrm>
                <a:off x="4667250" y="5029200"/>
                <a:ext cx="1" cy="933450"/>
              </a:xfrm>
              <a:prstGeom prst="line">
                <a:avLst/>
              </a:prstGeom>
              <a:noFill/>
              <a:ln w="14288">
                <a:solidFill>
                  <a:srgbClr val="C2410C"/>
                </a:solidFill>
                <a:headEnd type="triangle" w="lg" len="lg"/>
                <a:tailEnd type="triangle" w="lg" len="lg"/>
              </a:ln>
            </p:spPr>
          </p:sp>
        </p:grpSp>
        <p:sp>
          <p:nvSpPr>
            <p:cNvPr id="27" name="Rectangle 27"/>
            <p:cNvSpPr/>
            <p:nvPr/>
          </p:nvSpPr>
          <p:spPr>
            <a:xfrm>
              <a:off x="1428750" y="5029200"/>
              <a:ext cx="2933700" cy="933450"/>
            </a:xfrm>
            <a:prstGeom prst="roundRect">
              <a:avLst>
                <a:gd name="adj" fmla="val 4082"/>
              </a:avLst>
            </a:prstGeom>
            <a:solidFill>
              <a:srgbClr val="F3F6F9"/>
            </a:solidFill>
            <a:ln w="23812">
              <a:solidFill>
                <a:srgbClr val="0E2A47"/>
              </a:solidFill>
            </a:ln>
          </p:spPr>
        </p:sp>
        <p:grpSp>
          <p:nvGrpSpPr>
            <p:cNvPr id="38" name="Group 38"/>
            <p:cNvGrpSpPr/>
            <p:nvPr/>
          </p:nvGrpSpPr>
          <p:grpSpPr>
            <a:xfrm>
              <a:off x="1695450" y="5029200"/>
              <a:ext cx="2409825" cy="933450"/>
              <a:chOff x="1695450" y="5029200"/>
              <a:chExt cx="2409825" cy="933450"/>
            </a:xfrm>
          </p:grpSpPr>
          <p:sp>
            <p:nvSpPr>
              <p:cNvPr id="28" name="Line 28"/>
              <p:cNvSpPr/>
              <p:nvPr/>
            </p:nvSpPr>
            <p:spPr>
              <a:xfrm>
                <a:off x="16954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29" name="Line 29"/>
              <p:cNvSpPr/>
              <p:nvPr/>
            </p:nvSpPr>
            <p:spPr>
              <a:xfrm>
                <a:off x="19621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30" name="Line 30"/>
              <p:cNvSpPr/>
              <p:nvPr/>
            </p:nvSpPr>
            <p:spPr>
              <a:xfrm>
                <a:off x="22288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31" name="Line 31"/>
              <p:cNvSpPr/>
              <p:nvPr/>
            </p:nvSpPr>
            <p:spPr>
              <a:xfrm>
                <a:off x="24955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32" name="Line 32"/>
              <p:cNvSpPr/>
              <p:nvPr/>
            </p:nvSpPr>
            <p:spPr>
              <a:xfrm>
                <a:off x="27622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33" name="Line 33"/>
              <p:cNvSpPr/>
              <p:nvPr/>
            </p:nvSpPr>
            <p:spPr>
              <a:xfrm>
                <a:off x="30289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34" name="Line 34"/>
              <p:cNvSpPr/>
              <p:nvPr/>
            </p:nvSpPr>
            <p:spPr>
              <a:xfrm>
                <a:off x="32956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35" name="Line 35"/>
              <p:cNvSpPr/>
              <p:nvPr/>
            </p:nvSpPr>
            <p:spPr>
              <a:xfrm>
                <a:off x="35623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36" name="Line 36"/>
              <p:cNvSpPr/>
              <p:nvPr/>
            </p:nvSpPr>
            <p:spPr>
              <a:xfrm>
                <a:off x="3829050" y="5029200"/>
                <a:ext cx="9525" cy="933450"/>
              </a:xfrm>
              <a:custGeom>
                <a:avLst/>
                <a:gdLst/>
                <a:ahLst/>
                <a:cxnLst/>
                <a:rect l="l" t="t" r="r" b="b"/>
                <a:pathLst>
                  <a:path w="9525" h="933450">
                    <a:moveTo>
                      <a:pt x="0" y="0"/>
                    </a:moveTo>
                    <a:lnTo>
                      <a:pt x="0" y="933450"/>
                    </a:lnTo>
                  </a:path>
                </a:pathLst>
              </a:custGeom>
              <a:noFill/>
              <a:ln w="14288">
                <a:solidFill>
                  <a:srgbClr val="0E2A47"/>
                </a:solidFill>
              </a:ln>
            </p:spPr>
          </p:sp>
          <p:sp>
            <p:nvSpPr>
              <p:cNvPr id="37" name="Line 37"/>
              <p:cNvSpPr/>
              <p:nvPr/>
            </p:nvSpPr>
            <p:spPr>
              <a:xfrm>
                <a:off x="4095750" y="5029200"/>
                <a:ext cx="9525" cy="933450"/>
              </a:xfrm>
              <a:custGeom>
                <a:avLst/>
                <a:gdLst/>
                <a:ahLst/>
                <a:cxnLst/>
                <a:rect l="l" t="t" r="r" b="b"/>
                <a:pathLst>
                  <a:path w="9525" h="933450">
                    <a:moveTo>
                      <a:pt x="0" y="0"/>
                    </a:moveTo>
                    <a:lnTo>
                      <a:pt x="0" y="933450"/>
                    </a:lnTo>
                  </a:path>
                </a:pathLst>
              </a:custGeom>
              <a:noFill/>
              <a:ln w="14288">
                <a:solidFill>
                  <a:srgbClr val="0E2A47"/>
                </a:solidFill>
              </a:ln>
            </p:spPr>
          </p:sp>
        </p:grpSp>
        <p:sp>
          <p:nvSpPr>
            <p:cNvPr id="39" name="TextBox 39"/>
            <p:cNvSpPr txBox="1"/>
            <p:nvPr/>
          </p:nvSpPr>
          <p:spPr>
            <a:xfrm>
              <a:off x="1721834" y="4375150"/>
              <a:ext cx="2347532" cy="293370"/>
            </a:xfrm>
            <a:prstGeom prst="rect">
              <a:avLst/>
            </a:prstGeom>
            <a:noFill/>
            <a:ln>
              <a:noFill/>
            </a:ln>
          </p:spPr>
          <p:txBody>
            <a:bodyPr wrap="none" lIns="0" tIns="0" rIns="0" bIns="0" anchor="t" anchorCtr="0">
              <a:spAutoFit/>
            </a:bodyPr>
            <a:lstStyle/>
            <a:p>
              <a:pPr algn="ctr"/>
              <a:r>
                <a:rPr lang="en" sz="1500" b="1" dirty="0">
                  <a:solidFill>
                    <a:srgbClr val="C2410C"/>
                  </a:solidFill>
                  <a:latin typeface="Consolas"/>
                  <a:ea typeface="Consolas"/>
                  <a:cs typeface="Consolas"/>
                </a:rPr>
                <a:t>22</a:t>
              </a:r>
              <a:r>
                <a:rPr lang="en" sz="1500" dirty="0">
                  <a:solidFill>
                    <a:srgbClr val="C2410C"/>
                  </a:solidFill>
                  <a:latin typeface="Consolas"/>
                  <a:ea typeface="Consolas"/>
                  <a:cs typeface="Consolas"/>
                </a:rPr>
                <a:t> mm stator diameter</a:t>
              </a:r>
            </a:p>
          </p:txBody>
        </p:sp>
        <p:sp>
          <p:nvSpPr>
            <p:cNvPr id="40" name="TextBox 40"/>
            <p:cNvSpPr txBox="1"/>
            <p:nvPr/>
          </p:nvSpPr>
          <p:spPr>
            <a:xfrm>
              <a:off x="4831080" y="5384800"/>
              <a:ext cx="570548" cy="293370"/>
            </a:xfrm>
            <a:prstGeom prst="rect">
              <a:avLst/>
            </a:prstGeom>
            <a:noFill/>
            <a:ln>
              <a:noFill/>
            </a:ln>
          </p:spPr>
          <p:txBody>
            <a:bodyPr wrap="none" lIns="0" tIns="0" rIns="0" bIns="0" anchor="t" anchorCtr="0">
              <a:spAutoFit/>
            </a:bodyPr>
            <a:lstStyle/>
            <a:p>
              <a:pPr algn="l"/>
              <a:r>
                <a:rPr lang="en" sz="1500" b="1" dirty="0">
                  <a:solidFill>
                    <a:srgbClr val="C2410C"/>
                  </a:solidFill>
                  <a:latin typeface="Consolas"/>
                  <a:ea typeface="Consolas"/>
                  <a:cs typeface="Consolas"/>
                </a:rPr>
                <a:t>07</a:t>
              </a:r>
              <a:r>
                <a:rPr lang="en" sz="1500" dirty="0">
                  <a:solidFill>
                    <a:srgbClr val="C2410C"/>
                  </a:solidFill>
                  <a:latin typeface="Consolas"/>
                  <a:ea typeface="Consolas"/>
                  <a:cs typeface="Consolas"/>
                </a:rPr>
                <a:t> mm</a:t>
              </a:r>
            </a:p>
          </p:txBody>
        </p:sp>
        <p:sp>
          <p:nvSpPr>
            <p:cNvPr id="41" name="TextBox 41"/>
            <p:cNvSpPr txBox="1"/>
            <p:nvPr/>
          </p:nvSpPr>
          <p:spPr>
            <a:xfrm>
              <a:off x="603504" y="6070600"/>
              <a:ext cx="5008870" cy="234696"/>
            </a:xfrm>
            <a:prstGeom prst="rect">
              <a:avLst/>
            </a:prstGeom>
            <a:noFill/>
            <a:ln>
              <a:noFill/>
            </a:ln>
          </p:spPr>
          <p:txBody>
            <a:bodyPr wrap="none" lIns="0" tIns="0" rIns="0" bIns="0" anchor="t" anchorCtr="0">
              <a:spAutoFit/>
            </a:bodyPr>
            <a:lstStyle/>
            <a:p>
              <a:pPr algn="l"/>
              <a:r>
                <a:rPr lang="en" sz="1200" dirty="0">
                  <a:solidFill>
                    <a:srgbClr val="6B7A8C"/>
                  </a:solidFill>
                  <a:latin typeface="Consolas"/>
                  <a:ea typeface="Consolas"/>
                  <a:cs typeface="Consolas"/>
                </a:rPr>
                <a:t>stator, side view · wider = torque, taller = top-end RPM</a:t>
              </a:r>
            </a:p>
          </p:txBody>
        </p:sp>
      </p:grpSp>
      <p:grpSp>
        <p:nvGrpSpPr>
          <p:cNvPr id="48" name="kv-math"/>
          <p:cNvGrpSpPr/>
          <p:nvPr/>
        </p:nvGrpSpPr>
        <p:grpSpPr>
          <a:xfrm>
            <a:off x="6248400" y="3962400"/>
            <a:ext cx="5334000" cy="2286000"/>
            <a:chOff x="6248400" y="3962400"/>
            <a:chExt cx="5334000" cy="2286000"/>
          </a:xfrm>
        </p:grpSpPr>
        <p:sp>
          <p:nvSpPr>
            <p:cNvPr id="43" name="Rectangle 43"/>
            <p:cNvSpPr/>
            <p:nvPr/>
          </p:nvSpPr>
          <p:spPr>
            <a:xfrm>
              <a:off x="6248400" y="3962400"/>
              <a:ext cx="5334000" cy="2286000"/>
            </a:xfrm>
            <a:prstGeom prst="roundRect">
              <a:avLst>
                <a:gd name="adj" fmla="val 5833"/>
              </a:avLst>
            </a:prstGeom>
            <a:solidFill>
              <a:srgbClr val="0E2A47"/>
            </a:solidFill>
            <a:ln>
              <a:noFill/>
            </a:ln>
          </p:spPr>
        </p:sp>
        <p:sp>
          <p:nvSpPr>
            <p:cNvPr id="44" name="TextBox 44"/>
            <p:cNvSpPr txBox="1"/>
            <p:nvPr/>
          </p:nvSpPr>
          <p:spPr>
            <a:xfrm>
              <a:off x="6506718" y="4159250"/>
              <a:ext cx="3431271" cy="322707"/>
            </a:xfrm>
            <a:prstGeom prst="rect">
              <a:avLst/>
            </a:prstGeom>
            <a:noFill/>
            <a:ln>
              <a:noFill/>
            </a:ln>
          </p:spPr>
          <p:txBody>
            <a:bodyPr wrap="none" lIns="0" tIns="0" rIns="0" bIns="0" anchor="t" anchorCtr="0">
              <a:spAutoFit/>
            </a:bodyPr>
            <a:lstStyle/>
            <a:p>
              <a:pPr algn="l"/>
              <a:r>
                <a:rPr lang="en" sz="1650" b="1" dirty="0">
                  <a:solidFill>
                    <a:srgbClr val="FFFFFF"/>
                  </a:solidFill>
                  <a:latin typeface="+mn-lt"/>
                  <a:ea typeface="+mn-ea"/>
                  <a:cs typeface="+mn-cs"/>
                </a:rPr>
                <a:t>KV = RPM per volt, with no load</a:t>
              </a:r>
            </a:p>
          </p:txBody>
        </p:sp>
        <p:sp>
          <p:nvSpPr>
            <p:cNvPr id="45" name="TextBox 45"/>
            <p:cNvSpPr txBox="1"/>
            <p:nvPr/>
          </p:nvSpPr>
          <p:spPr>
            <a:xfrm>
              <a:off x="6506718" y="4616450"/>
              <a:ext cx="2727503" cy="322707"/>
            </a:xfrm>
            <a:prstGeom prst="rect">
              <a:avLst/>
            </a:prstGeom>
            <a:noFill/>
            <a:ln>
              <a:noFill/>
            </a:ln>
          </p:spPr>
          <p:txBody>
            <a:bodyPr wrap="none" lIns="0" tIns="0" rIns="0" bIns="0" anchor="t" anchorCtr="0">
              <a:spAutoFit/>
            </a:bodyPr>
            <a:lstStyle/>
            <a:p>
              <a:pPr algn="l"/>
              <a:r>
                <a:rPr lang="en" sz="1650" dirty="0">
                  <a:solidFill>
                    <a:srgbClr val="B9C6D4"/>
                  </a:solidFill>
                  <a:latin typeface="Consolas"/>
                  <a:ea typeface="Consolas"/>
                  <a:cs typeface="Consolas"/>
                </a:rPr>
                <a:t>1960 KV × 22.2 V (6S)</a:t>
              </a:r>
            </a:p>
          </p:txBody>
        </p:sp>
        <p:sp>
          <p:nvSpPr>
            <p:cNvPr id="46" name="TextBox 46"/>
            <p:cNvSpPr txBox="1"/>
            <p:nvPr/>
          </p:nvSpPr>
          <p:spPr>
            <a:xfrm>
              <a:off x="6496050" y="4851400"/>
              <a:ext cx="4476261" cy="933450"/>
            </a:xfrm>
            <a:prstGeom prst="rect">
              <a:avLst/>
            </a:prstGeom>
            <a:noFill/>
            <a:ln>
              <a:noFill/>
            </a:ln>
          </p:spPr>
          <p:txBody>
            <a:bodyPr wrap="none" lIns="0" tIns="0" rIns="0" bIns="0" anchor="t" anchorCtr="0">
              <a:spAutoFit/>
            </a:bodyPr>
            <a:lstStyle/>
            <a:p>
              <a:pPr algn="l"/>
              <a:r>
                <a:rPr lang="en" sz="4800" b="1" dirty="0">
                  <a:solidFill>
                    <a:srgbClr val="F7A072"/>
                  </a:solidFill>
                  <a:latin typeface="+mn-lt"/>
                  <a:ea typeface="+mn-ea"/>
                  <a:cs typeface="+mn-cs"/>
                </a:rPr>
                <a:t>≈ 43,500 RPM</a:t>
              </a:r>
            </a:p>
          </p:txBody>
        </p:sp>
        <p:sp>
          <p:nvSpPr>
            <p:cNvPr id="47" name="TextBox 47"/>
            <p:cNvSpPr txBox="1"/>
            <p:nvPr/>
          </p:nvSpPr>
          <p:spPr>
            <a:xfrm>
              <a:off x="6507480" y="5657850"/>
              <a:ext cx="4037743" cy="541020"/>
            </a:xfrm>
            <a:prstGeom prst="rect">
              <a:avLst/>
            </a:prstGeom>
            <a:noFill/>
            <a:ln>
              <a:noFill/>
            </a:ln>
          </p:spPr>
          <p:txBody>
            <a:bodyPr wrap="none" lIns="0" tIns="0" rIns="0" bIns="0" anchor="t" anchorCtr="0">
              <a:spAutoFit/>
            </a:bodyPr>
            <a:lstStyle/>
            <a:p>
              <a:pPr algn="l">
                <a:lnSpc>
                  <a:spcPts val="1950"/>
                </a:lnSpc>
              </a:pPr>
              <a:r>
                <a:rPr lang="en" sz="1500" dirty="0">
                  <a:solidFill>
                    <a:srgbClr val="E6ECF2"/>
                  </a:solidFill>
                  <a:latin typeface="+mn-lt"/>
                  <a:ea typeface="+mn-ea"/>
                  <a:cs typeface="+mn-cs"/>
                </a:rPr>
                <a:t>Under load it spins slower. 6S builds use</a:t>
              </a:r>
              <a:br>
                <a:rPr lang="en" sz="1500" dirty="0">
                  <a:solidFill>
                    <a:srgbClr val="E6ECF2"/>
                  </a:solidFill>
                  <a:latin typeface="+mn-lt"/>
                  <a:ea typeface="+mn-ea"/>
                  <a:cs typeface="+mn-cs"/>
                </a:rPr>
              </a:br>
              <a:r>
                <a:rPr lang="en" sz="1500" dirty="0">
                  <a:solidFill>
                    <a:srgbClr val="E6ECF2"/>
                  </a:solidFill>
                  <a:latin typeface="+mn-lt"/>
                  <a:ea typeface="+mn-ea"/>
                  <a:cs typeface="+mn-cs"/>
                </a:rPr>
                <a:t>lower KV (1750–1960), 4S builds higher (2400+).</a:t>
              </a:r>
            </a:p>
          </p:txBody>
        </p:sp>
      </p:grpSp>
      <p:grpSp>
        <p:nvGrpSpPr>
          <p:cNvPr id="51" name="footer"/>
          <p:cNvGrpSpPr/>
          <p:nvPr/>
        </p:nvGrpSpPr>
        <p:grpSpPr>
          <a:xfrm>
            <a:off x="603504" y="6457950"/>
            <a:ext cx="10984992" cy="247396"/>
            <a:chOff x="603504" y="6457950"/>
            <a:chExt cx="10984992" cy="247396"/>
          </a:xfrm>
        </p:grpSpPr>
        <p:sp>
          <p:nvSpPr>
            <p:cNvPr id="49" name="TextBox 49"/>
            <p:cNvSpPr txBox="1"/>
            <p:nvPr/>
          </p:nvSpPr>
          <p:spPr>
            <a:xfrm>
              <a:off x="603504" y="6457950"/>
              <a:ext cx="2801015"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Build, Fly &amp; Tune a Drone from Scratch</a:t>
              </a:r>
            </a:p>
          </p:txBody>
        </p:sp>
        <p:sp>
          <p:nvSpPr>
            <p:cNvPr id="50" name="TextBox 50"/>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15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par>
                          <p:cTn id="8" fill="hold">
                            <p:stCondLst>
                              <p:cond delay="450"/>
                            </p:stCondLst>
                            <p:childTnLst>
                              <p:par>
                                <p:cTn id="9" presetID="10" presetClass="entr" presetSubtype="0" fill="hold" nodeType="afterEffect">
                                  <p:stCondLst>
                                    <p:cond delay="1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50"/>
                                        <p:tgtEl>
                                          <p:spTgt spid="18"/>
                                        </p:tgtEl>
                                      </p:cBhvr>
                                    </p:animEffect>
                                  </p:childTnLst>
                                </p:cTn>
                              </p:par>
                            </p:childTnLst>
                          </p:cTn>
                        </p:par>
                        <p:par>
                          <p:cTn id="12" fill="hold">
                            <p:stCondLst>
                              <p:cond delay="1000"/>
                            </p:stCondLst>
                            <p:childTnLst>
                              <p:par>
                                <p:cTn id="13" presetID="10" presetClass="entr" presetSubtype="0" fill="hold" nodeType="afterEffect">
                                  <p:stCondLst>
                                    <p:cond delay="10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450"/>
                                        <p:tgtEl>
                                          <p:spTgt spid="42"/>
                                        </p:tgtEl>
                                      </p:cBhvr>
                                    </p:animEffect>
                                  </p:childTnLst>
                                </p:cTn>
                              </p:par>
                            </p:childTnLst>
                          </p:cTn>
                        </p:par>
                        <p:par>
                          <p:cTn id="16" fill="hold">
                            <p:stCondLst>
                              <p:cond delay="1550"/>
                            </p:stCondLst>
                            <p:childTnLst>
                              <p:par>
                                <p:cTn id="17" presetID="53" presetClass="entr" presetSubtype="16" fill="hold" nodeType="afterEffect">
                                  <p:stCondLst>
                                    <p:cond delay="100"/>
                                  </p:stCondLst>
                                  <p:childTnLst>
                                    <p:set>
                                      <p:cBhvr>
                                        <p:cTn id="18" dur="1" fill="hold">
                                          <p:stCondLst>
                                            <p:cond delay="0"/>
                                          </p:stCondLst>
                                        </p:cTn>
                                        <p:tgtEl>
                                          <p:spTgt spid="48"/>
                                        </p:tgtEl>
                                        <p:attrNameLst>
                                          <p:attrName>style.visibility</p:attrName>
                                        </p:attrNameLst>
                                      </p:cBhvr>
                                      <p:to>
                                        <p:strVal val="visible"/>
                                      </p:to>
                                    </p:set>
                                    <p:anim calcmode="lin" valueType="num">
                                      <p:cBhvr>
                                        <p:cTn id="19" dur="600" fill="hold"/>
                                        <p:tgtEl>
                                          <p:spTgt spid="48"/>
                                        </p:tgtEl>
                                        <p:attrNameLst>
                                          <p:attrName>ppt_w</p:attrName>
                                        </p:attrNameLst>
                                      </p:cBhvr>
                                      <p:tavLst>
                                        <p:tav tm="0">
                                          <p:val>
                                            <p:fltVal val="0"/>
                                          </p:val>
                                        </p:tav>
                                        <p:tav tm="100000">
                                          <p:val>
                                            <p:strVal val="#ppt_w"/>
                                          </p:val>
                                        </p:tav>
                                      </p:tavLst>
                                    </p:anim>
                                    <p:anim calcmode="lin" valueType="num">
                                      <p:cBhvr>
                                        <p:cTn id="20" dur="600" fill="hold"/>
                                        <p:tgtEl>
                                          <p:spTgt spid="48"/>
                                        </p:tgtEl>
                                        <p:attrNameLst>
                                          <p:attrName>ppt_h</p:attrName>
                                        </p:attrNameLst>
                                      </p:cBhvr>
                                      <p:tavLst>
                                        <p:tav tm="0">
                                          <p:val>
                                            <p:fltVal val="0"/>
                                          </p:val>
                                        </p:tav>
                                        <p:tav tm="100000">
                                          <p:val>
                                            <p:strVal val="#ppt_h"/>
                                          </p:val>
                                        </p:tav>
                                      </p:tavLst>
                                    </p:anim>
                                    <p:animEffect transition="in" filter="fade">
                                      <p:cBhvr>
                                        <p:cTn id="21" dur="6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6874008" cy="880364"/>
            <a:chOff x="592836" y="539750"/>
            <a:chExt cx="6874008" cy="880364"/>
          </a:xfrm>
        </p:grpSpPr>
        <p:sp>
          <p:nvSpPr>
            <p:cNvPr id="2" name="TextBox 2"/>
            <p:cNvSpPr txBox="1"/>
            <p:nvPr/>
          </p:nvSpPr>
          <p:spPr>
            <a:xfrm>
              <a:off x="602742" y="539750"/>
              <a:ext cx="2150516"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16 / ESC PROTOCOL</a:t>
              </a:r>
            </a:p>
          </p:txBody>
        </p:sp>
        <p:sp>
          <p:nvSpPr>
            <p:cNvPr id="3" name="TextBox 3"/>
            <p:cNvSpPr txBox="1"/>
            <p:nvPr/>
          </p:nvSpPr>
          <p:spPr>
            <a:xfrm>
              <a:off x="592836" y="774700"/>
              <a:ext cx="6874008"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DShot: throttle sent as a number</a:t>
              </a:r>
            </a:p>
          </p:txBody>
        </p:sp>
      </p:grpSp>
      <p:grpSp>
        <p:nvGrpSpPr>
          <p:cNvPr id="14" name="old-pwm"/>
          <p:cNvGrpSpPr/>
          <p:nvPr/>
        </p:nvGrpSpPr>
        <p:grpSpPr>
          <a:xfrm>
            <a:off x="601218" y="1479550"/>
            <a:ext cx="10828782" cy="1063625"/>
            <a:chOff x="601218" y="1479550"/>
            <a:chExt cx="10828782" cy="1063625"/>
          </a:xfrm>
        </p:grpSpPr>
        <p:sp>
          <p:nvSpPr>
            <p:cNvPr id="5" name="TextBox 5"/>
            <p:cNvSpPr txBox="1"/>
            <p:nvPr/>
          </p:nvSpPr>
          <p:spPr>
            <a:xfrm>
              <a:off x="601218" y="1606550"/>
              <a:ext cx="2800655" cy="322707"/>
            </a:xfrm>
            <a:prstGeom prst="rect">
              <a:avLst/>
            </a:prstGeom>
            <a:noFill/>
            <a:ln>
              <a:noFill/>
            </a:ln>
          </p:spPr>
          <p:txBody>
            <a:bodyPr wrap="none" lIns="0" tIns="0" rIns="0" bIns="0" anchor="t" anchorCtr="0">
              <a:spAutoFit/>
            </a:bodyPr>
            <a:lstStyle/>
            <a:p>
              <a:pPr algn="l"/>
              <a:r>
                <a:rPr lang="en" sz="1650" b="1" dirty="0">
                  <a:solidFill>
                    <a:srgbClr val="6B7A8C"/>
                  </a:solidFill>
                  <a:latin typeface="+mn-lt"/>
                  <a:ea typeface="+mn-ea"/>
                  <a:cs typeface="+mn-cs"/>
                </a:rPr>
                <a:t>Old way · PWM / OneShot</a:t>
              </a:r>
            </a:p>
          </p:txBody>
        </p:sp>
        <p:sp>
          <p:nvSpPr>
            <p:cNvPr id="6" name="TextBox 6"/>
            <p:cNvSpPr txBox="1"/>
            <p:nvPr/>
          </p:nvSpPr>
          <p:spPr>
            <a:xfrm>
              <a:off x="601980" y="1911350"/>
              <a:ext cx="3419704"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6B7A8C"/>
                  </a:solidFill>
                  <a:latin typeface="+mn-lt"/>
                  <a:ea typeface="+mn-ea"/>
                  <a:cs typeface="+mn-cs"/>
                </a:rPr>
                <a:t>throttle = how long the pulse stays high;</a:t>
              </a:r>
              <a:br>
                <a:rPr lang="en" sz="1500" dirty="0">
                  <a:solidFill>
                    <a:srgbClr val="6B7A8C"/>
                  </a:solidFill>
                  <a:latin typeface="+mn-lt"/>
                  <a:ea typeface="+mn-ea"/>
                  <a:cs typeface="+mn-cs"/>
                </a:rPr>
              </a:br>
              <a:r>
                <a:rPr lang="en" sz="1500" dirty="0">
                  <a:solidFill>
                    <a:srgbClr val="6B7A8C"/>
                  </a:solidFill>
                  <a:latin typeface="+mn-lt"/>
                  <a:ea typeface="+mn-ea"/>
                  <a:cs typeface="+mn-cs"/>
                </a:rPr>
                <a:t>drifts, needs calibration</a:t>
              </a:r>
            </a:p>
          </p:txBody>
        </p:sp>
        <p:sp>
          <p:nvSpPr>
            <p:cNvPr id="7" name="Freeform 7"/>
            <p:cNvSpPr/>
            <p:nvPr/>
          </p:nvSpPr>
          <p:spPr>
            <a:xfrm>
              <a:off x="4953000" y="1752600"/>
              <a:ext cx="6477000" cy="647700"/>
            </a:xfrm>
            <a:custGeom>
              <a:avLst/>
              <a:gdLst/>
              <a:ahLst/>
              <a:cxnLst/>
              <a:rect l="l" t="t" r="r" b="b"/>
              <a:pathLst>
                <a:path w="6477000" h="647700">
                  <a:moveTo>
                    <a:pt x="0" y="647700"/>
                  </a:moveTo>
                  <a:lnTo>
                    <a:pt x="381000" y="647700"/>
                  </a:lnTo>
                  <a:lnTo>
                    <a:pt x="381000" y="0"/>
                  </a:lnTo>
                  <a:lnTo>
                    <a:pt x="1238250" y="0"/>
                  </a:lnTo>
                  <a:lnTo>
                    <a:pt x="1238250" y="647700"/>
                  </a:lnTo>
                  <a:lnTo>
                    <a:pt x="2286000" y="647700"/>
                  </a:lnTo>
                  <a:lnTo>
                    <a:pt x="2286000" y="0"/>
                  </a:lnTo>
                  <a:lnTo>
                    <a:pt x="3714750" y="0"/>
                  </a:lnTo>
                  <a:lnTo>
                    <a:pt x="3714750" y="647700"/>
                  </a:lnTo>
                  <a:lnTo>
                    <a:pt x="4762500" y="647700"/>
                  </a:lnTo>
                  <a:lnTo>
                    <a:pt x="4762500" y="0"/>
                  </a:lnTo>
                  <a:lnTo>
                    <a:pt x="5334000" y="0"/>
                  </a:lnTo>
                  <a:lnTo>
                    <a:pt x="5334000" y="647700"/>
                  </a:lnTo>
                  <a:lnTo>
                    <a:pt x="6477000" y="647700"/>
                  </a:lnTo>
                </a:path>
              </a:pathLst>
            </a:custGeom>
            <a:noFill/>
            <a:ln w="28575">
              <a:solidFill>
                <a:srgbClr val="9AA8B8"/>
              </a:solidFill>
              <a:miter lim="800000"/>
            </a:ln>
          </p:spPr>
        </p:sp>
        <p:grpSp>
          <p:nvGrpSpPr>
            <p:cNvPr id="10" name="Group 10"/>
            <p:cNvGrpSpPr/>
            <p:nvPr/>
          </p:nvGrpSpPr>
          <p:grpSpPr>
            <a:xfrm>
              <a:off x="5334000" y="2533650"/>
              <a:ext cx="3333750" cy="9525"/>
              <a:chOff x="5334000" y="2533650"/>
              <a:chExt cx="3333750" cy="9525"/>
            </a:xfrm>
          </p:grpSpPr>
          <p:sp>
            <p:nvSpPr>
              <p:cNvPr id="8" name="Line 8"/>
              <p:cNvSpPr/>
              <p:nvPr/>
            </p:nvSpPr>
            <p:spPr>
              <a:xfrm>
                <a:off x="5334000" y="2533650"/>
                <a:ext cx="857250" cy="9525"/>
              </a:xfrm>
              <a:custGeom>
                <a:avLst/>
                <a:gdLst/>
                <a:ahLst/>
                <a:cxnLst/>
                <a:rect l="l" t="t" r="r" b="b"/>
                <a:pathLst>
                  <a:path w="857250" h="9525">
                    <a:moveTo>
                      <a:pt x="0" y="0"/>
                    </a:moveTo>
                    <a:lnTo>
                      <a:pt x="857250" y="0"/>
                    </a:lnTo>
                  </a:path>
                </a:pathLst>
              </a:custGeom>
              <a:noFill/>
              <a:ln w="14288">
                <a:solidFill>
                  <a:srgbClr val="9AA8B8"/>
                </a:solidFill>
              </a:ln>
            </p:spPr>
          </p:sp>
          <p:sp>
            <p:nvSpPr>
              <p:cNvPr id="9" name="Line 9"/>
              <p:cNvSpPr/>
              <p:nvPr/>
            </p:nvSpPr>
            <p:spPr>
              <a:xfrm>
                <a:off x="7239000" y="2533650"/>
                <a:ext cx="1428750" cy="9525"/>
              </a:xfrm>
              <a:custGeom>
                <a:avLst/>
                <a:gdLst/>
                <a:ahLst/>
                <a:cxnLst/>
                <a:rect l="l" t="t" r="r" b="b"/>
                <a:pathLst>
                  <a:path w="1428750" h="9525">
                    <a:moveTo>
                      <a:pt x="0" y="0"/>
                    </a:moveTo>
                    <a:lnTo>
                      <a:pt x="1428750" y="0"/>
                    </a:lnTo>
                  </a:path>
                </a:pathLst>
              </a:custGeom>
              <a:noFill/>
              <a:ln w="14288">
                <a:solidFill>
                  <a:srgbClr val="9AA8B8"/>
                </a:solidFill>
              </a:ln>
            </p:spPr>
          </p:sp>
        </p:grpSp>
        <p:grpSp>
          <p:nvGrpSpPr>
            <p:cNvPr id="13" name="Group 13"/>
            <p:cNvGrpSpPr/>
            <p:nvPr/>
          </p:nvGrpSpPr>
          <p:grpSpPr>
            <a:xfrm>
              <a:off x="5623255" y="1479550"/>
              <a:ext cx="2513915" cy="234696"/>
              <a:chOff x="5623255" y="1479550"/>
              <a:chExt cx="2513915" cy="234696"/>
            </a:xfrm>
          </p:grpSpPr>
          <p:sp>
            <p:nvSpPr>
              <p:cNvPr id="11" name="TextBox 11"/>
              <p:cNvSpPr txBox="1"/>
              <p:nvPr/>
            </p:nvSpPr>
            <p:spPr>
              <a:xfrm>
                <a:off x="5623255" y="1479550"/>
                <a:ext cx="278740" cy="234696"/>
              </a:xfrm>
              <a:prstGeom prst="rect">
                <a:avLst/>
              </a:prstGeom>
              <a:noFill/>
              <a:ln>
                <a:noFill/>
              </a:ln>
            </p:spPr>
            <p:txBody>
              <a:bodyPr wrap="none" lIns="0" tIns="0" rIns="0" bIns="0" anchor="t" anchorCtr="0">
                <a:spAutoFit/>
              </a:bodyPr>
              <a:lstStyle/>
              <a:p>
                <a:pPr algn="ctr"/>
                <a:r>
                  <a:rPr lang="en" sz="1200" dirty="0">
                    <a:solidFill>
                      <a:srgbClr val="6B7A8C"/>
                    </a:solidFill>
                    <a:latin typeface="Consolas"/>
                    <a:ea typeface="Consolas"/>
                    <a:cs typeface="Consolas"/>
                  </a:rPr>
                  <a:t>low</a:t>
                </a:r>
              </a:p>
            </p:txBody>
          </p:sp>
          <p:sp>
            <p:nvSpPr>
              <p:cNvPr id="12" name="TextBox 12"/>
              <p:cNvSpPr txBox="1"/>
              <p:nvPr/>
            </p:nvSpPr>
            <p:spPr>
              <a:xfrm>
                <a:off x="7769581" y="1479550"/>
                <a:ext cx="367589" cy="234696"/>
              </a:xfrm>
              <a:prstGeom prst="rect">
                <a:avLst/>
              </a:prstGeom>
              <a:noFill/>
              <a:ln>
                <a:noFill/>
              </a:ln>
            </p:spPr>
            <p:txBody>
              <a:bodyPr wrap="none" lIns="0" tIns="0" rIns="0" bIns="0" anchor="t" anchorCtr="0">
                <a:spAutoFit/>
              </a:bodyPr>
              <a:lstStyle/>
              <a:p>
                <a:pPr algn="ctr"/>
                <a:r>
                  <a:rPr lang="en" sz="1200" dirty="0">
                    <a:solidFill>
                      <a:srgbClr val="6B7A8C"/>
                    </a:solidFill>
                    <a:latin typeface="Consolas"/>
                    <a:ea typeface="Consolas"/>
                    <a:cs typeface="Consolas"/>
                  </a:rPr>
                  <a:t>high</a:t>
                </a:r>
              </a:p>
            </p:txBody>
          </p:sp>
        </p:grpSp>
      </p:grpSp>
      <p:grpSp>
        <p:nvGrpSpPr>
          <p:cNvPr id="57" name="dshot-frame"/>
          <p:cNvGrpSpPr/>
          <p:nvPr/>
        </p:nvGrpSpPr>
        <p:grpSpPr>
          <a:xfrm>
            <a:off x="601218" y="2882900"/>
            <a:ext cx="10817076" cy="1582420"/>
            <a:chOff x="601218" y="2882900"/>
            <a:chExt cx="10817076" cy="1582420"/>
          </a:xfrm>
        </p:grpSpPr>
        <p:sp>
          <p:nvSpPr>
            <p:cNvPr id="15" name="TextBox 15"/>
            <p:cNvSpPr txBox="1"/>
            <p:nvPr/>
          </p:nvSpPr>
          <p:spPr>
            <a:xfrm>
              <a:off x="601218" y="2882900"/>
              <a:ext cx="3010335"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DShot600 · one 16-bit frame</a:t>
              </a:r>
            </a:p>
          </p:txBody>
        </p:sp>
        <p:grpSp>
          <p:nvGrpSpPr>
            <p:cNvPr id="32" name="Group 32"/>
            <p:cNvGrpSpPr/>
            <p:nvPr/>
          </p:nvGrpSpPr>
          <p:grpSpPr>
            <a:xfrm>
              <a:off x="609600" y="3257550"/>
              <a:ext cx="7620000" cy="533400"/>
              <a:chOff x="609600" y="3257550"/>
              <a:chExt cx="7620000" cy="533400"/>
            </a:xfrm>
          </p:grpSpPr>
          <p:sp>
            <p:nvSpPr>
              <p:cNvPr id="16" name="Rectangle 16"/>
              <p:cNvSpPr/>
              <p:nvPr/>
            </p:nvSpPr>
            <p:spPr>
              <a:xfrm>
                <a:off x="609600" y="3257550"/>
                <a:ext cx="476250" cy="533400"/>
              </a:xfrm>
              <a:prstGeom prst="rect">
                <a:avLst/>
              </a:prstGeom>
              <a:solidFill>
                <a:srgbClr val="E8590C"/>
              </a:solidFill>
              <a:ln w="19050">
                <a:solidFill>
                  <a:srgbClr val="FFFFFF"/>
                </a:solidFill>
              </a:ln>
            </p:spPr>
          </p:sp>
          <p:sp>
            <p:nvSpPr>
              <p:cNvPr id="17" name="Rectangle 17"/>
              <p:cNvSpPr/>
              <p:nvPr/>
            </p:nvSpPr>
            <p:spPr>
              <a:xfrm>
                <a:off x="1085850" y="3257550"/>
                <a:ext cx="476250" cy="533400"/>
              </a:xfrm>
              <a:prstGeom prst="rect">
                <a:avLst/>
              </a:prstGeom>
              <a:solidFill>
                <a:srgbClr val="E8590C"/>
              </a:solidFill>
              <a:ln w="19050">
                <a:solidFill>
                  <a:srgbClr val="FFFFFF"/>
                </a:solidFill>
              </a:ln>
            </p:spPr>
          </p:sp>
          <p:sp>
            <p:nvSpPr>
              <p:cNvPr id="18" name="Rectangle 18"/>
              <p:cNvSpPr/>
              <p:nvPr/>
            </p:nvSpPr>
            <p:spPr>
              <a:xfrm>
                <a:off x="1562100" y="3257550"/>
                <a:ext cx="476250" cy="533400"/>
              </a:xfrm>
              <a:prstGeom prst="rect">
                <a:avLst/>
              </a:prstGeom>
              <a:solidFill>
                <a:srgbClr val="E8590C"/>
              </a:solidFill>
              <a:ln w="19050">
                <a:solidFill>
                  <a:srgbClr val="FFFFFF"/>
                </a:solidFill>
              </a:ln>
            </p:spPr>
          </p:sp>
          <p:sp>
            <p:nvSpPr>
              <p:cNvPr id="19" name="Rectangle 19"/>
              <p:cNvSpPr/>
              <p:nvPr/>
            </p:nvSpPr>
            <p:spPr>
              <a:xfrm>
                <a:off x="2038350" y="3257550"/>
                <a:ext cx="476250" cy="533400"/>
              </a:xfrm>
              <a:prstGeom prst="rect">
                <a:avLst/>
              </a:prstGeom>
              <a:solidFill>
                <a:srgbClr val="E8590C"/>
              </a:solidFill>
              <a:ln w="19050">
                <a:solidFill>
                  <a:srgbClr val="FFFFFF"/>
                </a:solidFill>
              </a:ln>
            </p:spPr>
          </p:sp>
          <p:sp>
            <p:nvSpPr>
              <p:cNvPr id="20" name="Rectangle 20"/>
              <p:cNvSpPr/>
              <p:nvPr/>
            </p:nvSpPr>
            <p:spPr>
              <a:xfrm>
                <a:off x="2514600" y="3257550"/>
                <a:ext cx="476250" cy="533400"/>
              </a:xfrm>
              <a:prstGeom prst="rect">
                <a:avLst/>
              </a:prstGeom>
              <a:solidFill>
                <a:srgbClr val="E8590C"/>
              </a:solidFill>
              <a:ln w="19050">
                <a:solidFill>
                  <a:srgbClr val="FFFFFF"/>
                </a:solidFill>
              </a:ln>
            </p:spPr>
          </p:sp>
          <p:sp>
            <p:nvSpPr>
              <p:cNvPr id="21" name="Rectangle 21"/>
              <p:cNvSpPr/>
              <p:nvPr/>
            </p:nvSpPr>
            <p:spPr>
              <a:xfrm>
                <a:off x="2990850" y="3257550"/>
                <a:ext cx="476250" cy="533400"/>
              </a:xfrm>
              <a:prstGeom prst="rect">
                <a:avLst/>
              </a:prstGeom>
              <a:solidFill>
                <a:srgbClr val="E8590C"/>
              </a:solidFill>
              <a:ln w="19050">
                <a:solidFill>
                  <a:srgbClr val="FFFFFF"/>
                </a:solidFill>
              </a:ln>
            </p:spPr>
          </p:sp>
          <p:sp>
            <p:nvSpPr>
              <p:cNvPr id="22" name="Rectangle 22"/>
              <p:cNvSpPr/>
              <p:nvPr/>
            </p:nvSpPr>
            <p:spPr>
              <a:xfrm>
                <a:off x="3467100" y="3257550"/>
                <a:ext cx="476250" cy="533400"/>
              </a:xfrm>
              <a:prstGeom prst="rect">
                <a:avLst/>
              </a:prstGeom>
              <a:solidFill>
                <a:srgbClr val="E8590C"/>
              </a:solidFill>
              <a:ln w="19050">
                <a:solidFill>
                  <a:srgbClr val="FFFFFF"/>
                </a:solidFill>
              </a:ln>
            </p:spPr>
          </p:sp>
          <p:sp>
            <p:nvSpPr>
              <p:cNvPr id="23" name="Rectangle 23"/>
              <p:cNvSpPr/>
              <p:nvPr/>
            </p:nvSpPr>
            <p:spPr>
              <a:xfrm>
                <a:off x="3943350" y="3257550"/>
                <a:ext cx="476250" cy="533400"/>
              </a:xfrm>
              <a:prstGeom prst="rect">
                <a:avLst/>
              </a:prstGeom>
              <a:solidFill>
                <a:srgbClr val="E8590C"/>
              </a:solidFill>
              <a:ln w="19050">
                <a:solidFill>
                  <a:srgbClr val="FFFFFF"/>
                </a:solidFill>
              </a:ln>
            </p:spPr>
          </p:sp>
          <p:sp>
            <p:nvSpPr>
              <p:cNvPr id="24" name="Rectangle 24"/>
              <p:cNvSpPr/>
              <p:nvPr/>
            </p:nvSpPr>
            <p:spPr>
              <a:xfrm>
                <a:off x="4419600" y="3257550"/>
                <a:ext cx="476250" cy="533400"/>
              </a:xfrm>
              <a:prstGeom prst="rect">
                <a:avLst/>
              </a:prstGeom>
              <a:solidFill>
                <a:srgbClr val="E8590C"/>
              </a:solidFill>
              <a:ln w="19050">
                <a:solidFill>
                  <a:srgbClr val="FFFFFF"/>
                </a:solidFill>
              </a:ln>
            </p:spPr>
          </p:sp>
          <p:sp>
            <p:nvSpPr>
              <p:cNvPr id="25" name="Rectangle 25"/>
              <p:cNvSpPr/>
              <p:nvPr/>
            </p:nvSpPr>
            <p:spPr>
              <a:xfrm>
                <a:off x="4895850" y="3257550"/>
                <a:ext cx="476250" cy="533400"/>
              </a:xfrm>
              <a:prstGeom prst="rect">
                <a:avLst/>
              </a:prstGeom>
              <a:solidFill>
                <a:srgbClr val="E8590C"/>
              </a:solidFill>
              <a:ln w="19050">
                <a:solidFill>
                  <a:srgbClr val="FFFFFF"/>
                </a:solidFill>
              </a:ln>
            </p:spPr>
          </p:sp>
          <p:sp>
            <p:nvSpPr>
              <p:cNvPr id="26" name="Rectangle 26"/>
              <p:cNvSpPr/>
              <p:nvPr/>
            </p:nvSpPr>
            <p:spPr>
              <a:xfrm>
                <a:off x="5372100" y="3257550"/>
                <a:ext cx="476250" cy="533400"/>
              </a:xfrm>
              <a:prstGeom prst="rect">
                <a:avLst/>
              </a:prstGeom>
              <a:solidFill>
                <a:srgbClr val="E8590C"/>
              </a:solidFill>
              <a:ln w="19050">
                <a:solidFill>
                  <a:srgbClr val="FFFFFF"/>
                </a:solidFill>
              </a:ln>
            </p:spPr>
          </p:sp>
          <p:sp>
            <p:nvSpPr>
              <p:cNvPr id="27" name="Rectangle 27"/>
              <p:cNvSpPr/>
              <p:nvPr/>
            </p:nvSpPr>
            <p:spPr>
              <a:xfrm>
                <a:off x="5848350" y="3257550"/>
                <a:ext cx="476250" cy="533400"/>
              </a:xfrm>
              <a:prstGeom prst="rect">
                <a:avLst/>
              </a:prstGeom>
              <a:solidFill>
                <a:srgbClr val="0E2A47"/>
              </a:solidFill>
              <a:ln w="19050">
                <a:solidFill>
                  <a:srgbClr val="FFFFFF"/>
                </a:solidFill>
              </a:ln>
            </p:spPr>
          </p:sp>
          <p:sp>
            <p:nvSpPr>
              <p:cNvPr id="28" name="Rectangle 28"/>
              <p:cNvSpPr/>
              <p:nvPr/>
            </p:nvSpPr>
            <p:spPr>
              <a:xfrm>
                <a:off x="6324600" y="3257550"/>
                <a:ext cx="476250" cy="533400"/>
              </a:xfrm>
              <a:prstGeom prst="rect">
                <a:avLst/>
              </a:prstGeom>
              <a:solidFill>
                <a:srgbClr val="0B7A75"/>
              </a:solidFill>
              <a:ln w="19050">
                <a:solidFill>
                  <a:srgbClr val="FFFFFF"/>
                </a:solidFill>
              </a:ln>
            </p:spPr>
          </p:sp>
          <p:sp>
            <p:nvSpPr>
              <p:cNvPr id="29" name="Rectangle 29"/>
              <p:cNvSpPr/>
              <p:nvPr/>
            </p:nvSpPr>
            <p:spPr>
              <a:xfrm>
                <a:off x="6800850" y="3257550"/>
                <a:ext cx="476250" cy="533400"/>
              </a:xfrm>
              <a:prstGeom prst="rect">
                <a:avLst/>
              </a:prstGeom>
              <a:solidFill>
                <a:srgbClr val="0B7A75"/>
              </a:solidFill>
              <a:ln w="19050">
                <a:solidFill>
                  <a:srgbClr val="FFFFFF"/>
                </a:solidFill>
              </a:ln>
            </p:spPr>
          </p:sp>
          <p:sp>
            <p:nvSpPr>
              <p:cNvPr id="30" name="Rectangle 30"/>
              <p:cNvSpPr/>
              <p:nvPr/>
            </p:nvSpPr>
            <p:spPr>
              <a:xfrm>
                <a:off x="7277100" y="3257550"/>
                <a:ext cx="476250" cy="533400"/>
              </a:xfrm>
              <a:prstGeom prst="rect">
                <a:avLst/>
              </a:prstGeom>
              <a:solidFill>
                <a:srgbClr val="0B7A75"/>
              </a:solidFill>
              <a:ln w="19050">
                <a:solidFill>
                  <a:srgbClr val="FFFFFF"/>
                </a:solidFill>
              </a:ln>
            </p:spPr>
          </p:sp>
          <p:sp>
            <p:nvSpPr>
              <p:cNvPr id="31" name="Rectangle 31"/>
              <p:cNvSpPr/>
              <p:nvPr/>
            </p:nvSpPr>
            <p:spPr>
              <a:xfrm>
                <a:off x="7753350" y="3257550"/>
                <a:ext cx="476250" cy="533400"/>
              </a:xfrm>
              <a:prstGeom prst="rect">
                <a:avLst/>
              </a:prstGeom>
              <a:solidFill>
                <a:srgbClr val="0B7A75"/>
              </a:solidFill>
              <a:ln w="19050">
                <a:solidFill>
                  <a:srgbClr val="FFFFFF"/>
                </a:solidFill>
              </a:ln>
            </p:spPr>
          </p:sp>
        </p:grpSp>
        <p:grpSp>
          <p:nvGrpSpPr>
            <p:cNvPr id="49" name="Group 49"/>
            <p:cNvGrpSpPr/>
            <p:nvPr/>
          </p:nvGrpSpPr>
          <p:grpSpPr>
            <a:xfrm>
              <a:off x="778259" y="3397250"/>
              <a:ext cx="7282682" cy="322707"/>
              <a:chOff x="778259" y="3397250"/>
              <a:chExt cx="7282682" cy="322707"/>
            </a:xfrm>
          </p:grpSpPr>
          <p:sp>
            <p:nvSpPr>
              <p:cNvPr id="33" name="TextBox 33"/>
              <p:cNvSpPr txBox="1"/>
              <p:nvPr/>
            </p:nvSpPr>
            <p:spPr>
              <a:xfrm>
                <a:off x="77825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1</a:t>
                </a:r>
              </a:p>
            </p:txBody>
          </p:sp>
          <p:sp>
            <p:nvSpPr>
              <p:cNvPr id="34" name="TextBox 34"/>
              <p:cNvSpPr txBox="1"/>
              <p:nvPr/>
            </p:nvSpPr>
            <p:spPr>
              <a:xfrm>
                <a:off x="125450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35" name="TextBox 35"/>
              <p:cNvSpPr txBox="1"/>
              <p:nvPr/>
            </p:nvSpPr>
            <p:spPr>
              <a:xfrm>
                <a:off x="173075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36" name="TextBox 36"/>
              <p:cNvSpPr txBox="1"/>
              <p:nvPr/>
            </p:nvSpPr>
            <p:spPr>
              <a:xfrm>
                <a:off x="220700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37" name="TextBox 37"/>
              <p:cNvSpPr txBox="1"/>
              <p:nvPr/>
            </p:nvSpPr>
            <p:spPr>
              <a:xfrm>
                <a:off x="268325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38" name="TextBox 38"/>
              <p:cNvSpPr txBox="1"/>
              <p:nvPr/>
            </p:nvSpPr>
            <p:spPr>
              <a:xfrm>
                <a:off x="315950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39" name="TextBox 39"/>
              <p:cNvSpPr txBox="1"/>
              <p:nvPr/>
            </p:nvSpPr>
            <p:spPr>
              <a:xfrm>
                <a:off x="363575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1</a:t>
                </a:r>
              </a:p>
            </p:txBody>
          </p:sp>
          <p:sp>
            <p:nvSpPr>
              <p:cNvPr id="40" name="TextBox 40"/>
              <p:cNvSpPr txBox="1"/>
              <p:nvPr/>
            </p:nvSpPr>
            <p:spPr>
              <a:xfrm>
                <a:off x="411200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41" name="TextBox 41"/>
              <p:cNvSpPr txBox="1"/>
              <p:nvPr/>
            </p:nvSpPr>
            <p:spPr>
              <a:xfrm>
                <a:off x="458825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1</a:t>
                </a:r>
              </a:p>
            </p:txBody>
          </p:sp>
          <p:sp>
            <p:nvSpPr>
              <p:cNvPr id="42" name="TextBox 42"/>
              <p:cNvSpPr txBox="1"/>
              <p:nvPr/>
            </p:nvSpPr>
            <p:spPr>
              <a:xfrm>
                <a:off x="506450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1</a:t>
                </a:r>
              </a:p>
            </p:txBody>
          </p:sp>
          <p:sp>
            <p:nvSpPr>
              <p:cNvPr id="43" name="TextBox 43"/>
              <p:cNvSpPr txBox="1"/>
              <p:nvPr/>
            </p:nvSpPr>
            <p:spPr>
              <a:xfrm>
                <a:off x="554075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44" name="TextBox 44"/>
              <p:cNvSpPr txBox="1"/>
              <p:nvPr/>
            </p:nvSpPr>
            <p:spPr>
              <a:xfrm>
                <a:off x="601700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45" name="TextBox 45"/>
              <p:cNvSpPr txBox="1"/>
              <p:nvPr/>
            </p:nvSpPr>
            <p:spPr>
              <a:xfrm>
                <a:off x="649325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sp>
            <p:nvSpPr>
              <p:cNvPr id="46" name="TextBox 46"/>
              <p:cNvSpPr txBox="1"/>
              <p:nvPr/>
            </p:nvSpPr>
            <p:spPr>
              <a:xfrm>
                <a:off x="696950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1</a:t>
                </a:r>
              </a:p>
            </p:txBody>
          </p:sp>
          <p:sp>
            <p:nvSpPr>
              <p:cNvPr id="47" name="TextBox 47"/>
              <p:cNvSpPr txBox="1"/>
              <p:nvPr/>
            </p:nvSpPr>
            <p:spPr>
              <a:xfrm>
                <a:off x="744575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1</a:t>
                </a:r>
              </a:p>
            </p:txBody>
          </p:sp>
          <p:sp>
            <p:nvSpPr>
              <p:cNvPr id="48" name="TextBox 48"/>
              <p:cNvSpPr txBox="1"/>
              <p:nvPr/>
            </p:nvSpPr>
            <p:spPr>
              <a:xfrm>
                <a:off x="7922009" y="3397250"/>
                <a:ext cx="138932" cy="322707"/>
              </a:xfrm>
              <a:prstGeom prst="rect">
                <a:avLst/>
              </a:prstGeom>
              <a:noFill/>
              <a:ln>
                <a:noFill/>
              </a:ln>
            </p:spPr>
            <p:txBody>
              <a:bodyPr wrap="none" lIns="0" tIns="0" rIns="0" bIns="0" anchor="t" anchorCtr="0">
                <a:spAutoFit/>
              </a:bodyPr>
              <a:lstStyle/>
              <a:p>
                <a:pPr algn="ctr"/>
                <a:r>
                  <a:rPr lang="en" sz="1650" b="1" dirty="0">
                    <a:solidFill>
                      <a:srgbClr val="FFFFFF"/>
                    </a:solidFill>
                    <a:latin typeface="Consolas"/>
                    <a:ea typeface="Consolas"/>
                    <a:cs typeface="Consolas"/>
                  </a:rPr>
                  <a:t>0</a:t>
                </a:r>
              </a:p>
            </p:txBody>
          </p:sp>
        </p:grpSp>
        <p:grpSp>
          <p:nvGrpSpPr>
            <p:cNvPr id="53" name="Group 53"/>
            <p:cNvGrpSpPr/>
            <p:nvPr/>
          </p:nvGrpSpPr>
          <p:grpSpPr>
            <a:xfrm>
              <a:off x="1722787" y="3892550"/>
              <a:ext cx="6175452" cy="264033"/>
              <a:chOff x="1722787" y="3892550"/>
              <a:chExt cx="6175452" cy="264033"/>
            </a:xfrm>
          </p:grpSpPr>
          <p:sp>
            <p:nvSpPr>
              <p:cNvPr id="50" name="TextBox 50"/>
              <p:cNvSpPr txBox="1"/>
              <p:nvPr/>
            </p:nvSpPr>
            <p:spPr>
              <a:xfrm>
                <a:off x="1722787" y="3892550"/>
                <a:ext cx="3012376" cy="264033"/>
              </a:xfrm>
              <a:prstGeom prst="rect">
                <a:avLst/>
              </a:prstGeom>
              <a:noFill/>
              <a:ln>
                <a:noFill/>
              </a:ln>
            </p:spPr>
            <p:txBody>
              <a:bodyPr wrap="none" lIns="0" tIns="0" rIns="0" bIns="0" anchor="t" anchorCtr="0">
                <a:spAutoFit/>
              </a:bodyPr>
              <a:lstStyle/>
              <a:p>
                <a:pPr algn="ctr"/>
                <a:r>
                  <a:rPr lang="en" sz="1350" dirty="0">
                    <a:solidFill>
                      <a:srgbClr val="C2410C"/>
                    </a:solidFill>
                    <a:latin typeface="Consolas"/>
                    <a:ea typeface="Consolas"/>
                    <a:cs typeface="Consolas"/>
                  </a:rPr>
                  <a:t>throttle · 11 bits · e.g. 1046</a:t>
                </a:r>
              </a:p>
            </p:txBody>
          </p:sp>
          <p:sp>
            <p:nvSpPr>
              <p:cNvPr id="51" name="TextBox 51"/>
              <p:cNvSpPr txBox="1"/>
              <p:nvPr/>
            </p:nvSpPr>
            <p:spPr>
              <a:xfrm>
                <a:off x="6026810" y="3892550"/>
                <a:ext cx="119329" cy="264033"/>
              </a:xfrm>
              <a:prstGeom prst="rect">
                <a:avLst/>
              </a:prstGeom>
              <a:noFill/>
              <a:ln>
                <a:noFill/>
              </a:ln>
            </p:spPr>
            <p:txBody>
              <a:bodyPr wrap="none" lIns="0" tIns="0" rIns="0" bIns="0" anchor="t" anchorCtr="0">
                <a:spAutoFit/>
              </a:bodyPr>
              <a:lstStyle/>
              <a:p>
                <a:pPr algn="ctr"/>
                <a:r>
                  <a:rPr lang="en" sz="1350" dirty="0">
                    <a:solidFill>
                      <a:srgbClr val="0E2A47"/>
                    </a:solidFill>
                    <a:latin typeface="Consolas"/>
                    <a:ea typeface="Consolas"/>
                    <a:cs typeface="Consolas"/>
                  </a:rPr>
                  <a:t>T</a:t>
                </a:r>
              </a:p>
            </p:txBody>
          </p:sp>
          <p:sp>
            <p:nvSpPr>
              <p:cNvPr id="52" name="TextBox 52"/>
              <p:cNvSpPr txBox="1"/>
              <p:nvPr/>
            </p:nvSpPr>
            <p:spPr>
              <a:xfrm>
                <a:off x="6655961" y="3892550"/>
                <a:ext cx="1242278" cy="264033"/>
              </a:xfrm>
              <a:prstGeom prst="rect">
                <a:avLst/>
              </a:prstGeom>
              <a:noFill/>
              <a:ln>
                <a:noFill/>
              </a:ln>
            </p:spPr>
            <p:txBody>
              <a:bodyPr wrap="none" lIns="0" tIns="0" rIns="0" bIns="0" anchor="t" anchorCtr="0">
                <a:spAutoFit/>
              </a:bodyPr>
              <a:lstStyle/>
              <a:p>
                <a:pPr algn="ctr"/>
                <a:r>
                  <a:rPr lang="en" sz="1350" dirty="0">
                    <a:solidFill>
                      <a:srgbClr val="0B7A75"/>
                    </a:solidFill>
                    <a:latin typeface="Consolas"/>
                    <a:ea typeface="Consolas"/>
                    <a:cs typeface="Consolas"/>
                  </a:rPr>
                  <a:t>CRC · 4 bits</a:t>
                </a:r>
              </a:p>
            </p:txBody>
          </p:sp>
        </p:grpSp>
        <p:sp>
          <p:nvSpPr>
            <p:cNvPr id="54" name="TextBox 54"/>
            <p:cNvSpPr txBox="1"/>
            <p:nvPr/>
          </p:nvSpPr>
          <p:spPr>
            <a:xfrm>
              <a:off x="601980" y="4171950"/>
              <a:ext cx="5579438"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48–2047 = throttle · 1–47 = commands · T = telemetry request</a:t>
              </a:r>
            </a:p>
          </p:txBody>
        </p:sp>
        <p:sp>
          <p:nvSpPr>
            <p:cNvPr id="55" name="TextBox 55"/>
            <p:cNvSpPr txBox="1"/>
            <p:nvPr/>
          </p:nvSpPr>
          <p:spPr>
            <a:xfrm>
              <a:off x="8667750" y="3098800"/>
              <a:ext cx="2186764" cy="933450"/>
            </a:xfrm>
            <a:prstGeom prst="rect">
              <a:avLst/>
            </a:prstGeom>
            <a:noFill/>
            <a:ln>
              <a:noFill/>
            </a:ln>
          </p:spPr>
          <p:txBody>
            <a:bodyPr wrap="none" lIns="0" tIns="0" rIns="0" bIns="0" anchor="t" anchorCtr="0">
              <a:spAutoFit/>
            </a:bodyPr>
            <a:lstStyle/>
            <a:p>
              <a:pPr algn="l"/>
              <a:r>
                <a:rPr lang="en" sz="4800" b="1" dirty="0">
                  <a:solidFill>
                    <a:srgbClr val="E8590C"/>
                  </a:solidFill>
                  <a:latin typeface="+mn-lt"/>
                  <a:ea typeface="+mn-ea"/>
                  <a:cs typeface="+mn-cs"/>
                </a:rPr>
                <a:t>26.7 µs</a:t>
              </a:r>
            </a:p>
          </p:txBody>
        </p:sp>
        <p:sp>
          <p:nvSpPr>
            <p:cNvPr id="56" name="TextBox 56"/>
            <p:cNvSpPr txBox="1"/>
            <p:nvPr/>
          </p:nvSpPr>
          <p:spPr>
            <a:xfrm>
              <a:off x="8679180" y="3848100"/>
              <a:ext cx="2739114"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per frame: 16 bits at 600 kbit/s</a:t>
              </a:r>
            </a:p>
          </p:txBody>
        </p:sp>
      </p:grpSp>
      <p:grpSp>
        <p:nvGrpSpPr>
          <p:cNvPr id="62" name="card-bidir"/>
          <p:cNvGrpSpPr/>
          <p:nvPr/>
        </p:nvGrpSpPr>
        <p:grpSpPr>
          <a:xfrm>
            <a:off x="609600" y="4648200"/>
            <a:ext cx="5334000" cy="1600200"/>
            <a:chOff x="609600" y="4648200"/>
            <a:chExt cx="5334000" cy="1600200"/>
          </a:xfrm>
        </p:grpSpPr>
        <p:sp>
          <p:nvSpPr>
            <p:cNvPr id="58" name="Rectangle 58"/>
            <p:cNvSpPr/>
            <p:nvPr/>
          </p:nvSpPr>
          <p:spPr>
            <a:xfrm>
              <a:off x="609600" y="4648200"/>
              <a:ext cx="5334000" cy="1600200"/>
            </a:xfrm>
            <a:prstGeom prst="roundRect">
              <a:avLst>
                <a:gd name="adj" fmla="val 8333"/>
              </a:avLst>
            </a:prstGeom>
            <a:solidFill>
              <a:srgbClr val="E9F4F3"/>
            </a:solidFill>
            <a:ln>
              <a:noFill/>
            </a:ln>
          </p:spPr>
        </p:sp>
        <p:sp>
          <p:nvSpPr>
            <p:cNvPr id="59" name="Freeform 59"/>
            <p:cNvSpPr/>
            <p:nvPr/>
          </p:nvSpPr>
          <p:spPr>
            <a:xfrm>
              <a:off x="885825" y="4921250"/>
              <a:ext cx="285751" cy="254001"/>
            </a:xfrm>
            <a:custGeom>
              <a:avLst/>
              <a:gdLst/>
              <a:ahLst/>
              <a:cxnLst/>
              <a:rect l="l" t="t" r="r" b="b"/>
              <a:pathLst>
                <a:path w="285751" h="254001">
                  <a:moveTo>
                    <a:pt x="0" y="127000"/>
                  </a:moveTo>
                  <a:lnTo>
                    <a:pt x="63500" y="127000"/>
                  </a:lnTo>
                  <a:lnTo>
                    <a:pt x="111125" y="254001"/>
                  </a:lnTo>
                  <a:lnTo>
                    <a:pt x="174625" y="0"/>
                  </a:lnTo>
                  <a:lnTo>
                    <a:pt x="222250" y="127000"/>
                  </a:lnTo>
                  <a:lnTo>
                    <a:pt x="285751" y="127000"/>
                  </a:lnTo>
                </a:path>
              </a:pathLst>
            </a:custGeom>
            <a:noFill/>
            <a:ln w="31750">
              <a:solidFill>
                <a:srgbClr val="0B7A75"/>
              </a:solidFill>
            </a:ln>
          </p:spPr>
        </p:sp>
        <p:sp>
          <p:nvSpPr>
            <p:cNvPr id="60" name="TextBox 60"/>
            <p:cNvSpPr txBox="1"/>
            <p:nvPr/>
          </p:nvSpPr>
          <p:spPr>
            <a:xfrm>
              <a:off x="1363218" y="4921250"/>
              <a:ext cx="2065179"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Bidirectional DShot</a:t>
              </a:r>
            </a:p>
          </p:txBody>
        </p:sp>
        <p:sp>
          <p:nvSpPr>
            <p:cNvPr id="61" name="TextBox 61"/>
            <p:cNvSpPr txBox="1"/>
            <p:nvPr/>
          </p:nvSpPr>
          <p:spPr>
            <a:xfrm>
              <a:off x="830580" y="5359400"/>
              <a:ext cx="4248036"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The ESC replies with motor RPM on the same wire.</a:t>
              </a:r>
              <a:br>
                <a:rPr lang="en" sz="1500" dirty="0">
                  <a:solidFill>
                    <a:srgbClr val="4A5A6E"/>
                  </a:solidFill>
                  <a:latin typeface="+mn-lt"/>
                  <a:ea typeface="+mn-ea"/>
                  <a:cs typeface="+mn-cs"/>
                </a:rPr>
              </a:br>
              <a:r>
                <a:rPr lang="en" sz="1500" dirty="0">
                  <a:solidFill>
                    <a:srgbClr val="4A5A6E"/>
                  </a:solidFill>
                  <a:latin typeface="+mn-lt"/>
                  <a:ea typeface="+mn-ea"/>
                  <a:cs typeface="+mn-cs"/>
                </a:rPr>
                <a:t>Betaflight uses it to notch out motor noise.</a:t>
              </a:r>
            </a:p>
          </p:txBody>
        </p:sp>
      </p:grpSp>
      <p:grpSp>
        <p:nvGrpSpPr>
          <p:cNvPr id="71" name="card-brake"/>
          <p:cNvGrpSpPr/>
          <p:nvPr/>
        </p:nvGrpSpPr>
        <p:grpSpPr>
          <a:xfrm>
            <a:off x="6248400" y="4648200"/>
            <a:ext cx="5334000" cy="1600200"/>
            <a:chOff x="6248400" y="4648200"/>
            <a:chExt cx="5334000" cy="1600200"/>
          </a:xfrm>
        </p:grpSpPr>
        <p:sp>
          <p:nvSpPr>
            <p:cNvPr id="63" name="Rectangle 63"/>
            <p:cNvSpPr/>
            <p:nvPr/>
          </p:nvSpPr>
          <p:spPr>
            <a:xfrm>
              <a:off x="6248400" y="4648200"/>
              <a:ext cx="5334000" cy="1600200"/>
            </a:xfrm>
            <a:prstGeom prst="roundRect">
              <a:avLst>
                <a:gd name="adj" fmla="val 8333"/>
              </a:avLst>
            </a:prstGeom>
            <a:solidFill>
              <a:srgbClr val="FFF3EA"/>
            </a:solidFill>
            <a:ln>
              <a:noFill/>
            </a:ln>
          </p:spPr>
        </p:sp>
        <p:grpSp>
          <p:nvGrpSpPr>
            <p:cNvPr id="68" name="Group 68"/>
            <p:cNvGrpSpPr/>
            <p:nvPr/>
          </p:nvGrpSpPr>
          <p:grpSpPr>
            <a:xfrm>
              <a:off x="6507131" y="4905375"/>
              <a:ext cx="320723" cy="288020"/>
              <a:chOff x="6507131" y="4905375"/>
              <a:chExt cx="320723" cy="288020"/>
            </a:xfrm>
          </p:grpSpPr>
          <p:sp>
            <p:nvSpPr>
              <p:cNvPr id="64" name="Freeform 64"/>
              <p:cNvSpPr/>
              <p:nvPr/>
            </p:nvSpPr>
            <p:spPr>
              <a:xfrm>
                <a:off x="6619875" y="5016500"/>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31750">
                <a:solidFill>
                  <a:srgbClr val="C2410C"/>
                </a:solidFill>
              </a:ln>
            </p:spPr>
          </p:sp>
          <p:sp>
            <p:nvSpPr>
              <p:cNvPr id="65" name="Freeform 65"/>
              <p:cNvSpPr/>
              <p:nvPr/>
            </p:nvSpPr>
            <p:spPr>
              <a:xfrm>
                <a:off x="6608922" y="4905375"/>
                <a:ext cx="117158" cy="119063"/>
              </a:xfrm>
              <a:custGeom>
                <a:avLst/>
                <a:gdLst/>
                <a:ahLst/>
                <a:cxnLst/>
                <a:rect l="l" t="t" r="r" b="b"/>
                <a:pathLst>
                  <a:path w="117158" h="119063">
                    <a:moveTo>
                      <a:pt x="92980" y="119063"/>
                    </a:moveTo>
                    <a:cubicBezTo>
                      <a:pt x="104442" y="94647"/>
                      <a:pt x="111332" y="70755"/>
                      <a:pt x="113665" y="47403"/>
                    </a:cubicBezTo>
                    <a:cubicBezTo>
                      <a:pt x="117158" y="21527"/>
                      <a:pt x="101568" y="0"/>
                      <a:pt x="58579" y="0"/>
                    </a:cubicBezTo>
                    <a:cubicBezTo>
                      <a:pt x="15589" y="0"/>
                      <a:pt x="0" y="21542"/>
                      <a:pt x="3493" y="47403"/>
                    </a:cubicBezTo>
                    <a:cubicBezTo>
                      <a:pt x="5826" y="70755"/>
                      <a:pt x="12716" y="94647"/>
                      <a:pt x="24178" y="119063"/>
                    </a:cubicBezTo>
                  </a:path>
                </a:pathLst>
              </a:custGeom>
              <a:noFill/>
              <a:ln w="31750">
                <a:solidFill>
                  <a:srgbClr val="C2410C"/>
                </a:solidFill>
              </a:ln>
            </p:spPr>
          </p:sp>
          <p:sp>
            <p:nvSpPr>
              <p:cNvPr id="66" name="Freeform 66"/>
              <p:cNvSpPr/>
              <p:nvPr/>
            </p:nvSpPr>
            <p:spPr>
              <a:xfrm>
                <a:off x="6686058" y="5064110"/>
                <a:ext cx="141796" cy="129191"/>
              </a:xfrm>
              <a:custGeom>
                <a:avLst/>
                <a:gdLst/>
                <a:ahLst/>
                <a:cxnLst/>
                <a:rect l="l" t="t" r="r" b="b"/>
                <a:pathLst>
                  <a:path w="141796" h="129191">
                    <a:moveTo>
                      <a:pt x="0" y="59563"/>
                    </a:moveTo>
                    <a:cubicBezTo>
                      <a:pt x="15399" y="81709"/>
                      <a:pt x="32655" y="99616"/>
                      <a:pt x="51705" y="113316"/>
                    </a:cubicBezTo>
                    <a:cubicBezTo>
                      <a:pt x="72343" y="129191"/>
                      <a:pt x="98806" y="126540"/>
                      <a:pt x="120301" y="89313"/>
                    </a:cubicBezTo>
                    <a:cubicBezTo>
                      <a:pt x="141796" y="52086"/>
                      <a:pt x="130937" y="27813"/>
                      <a:pt x="106807" y="17907"/>
                    </a:cubicBezTo>
                    <a:cubicBezTo>
                      <a:pt x="85408" y="8255"/>
                      <a:pt x="61278" y="2270"/>
                      <a:pt x="34385" y="0"/>
                    </a:cubicBezTo>
                  </a:path>
                </a:pathLst>
              </a:custGeom>
              <a:noFill/>
              <a:ln w="31750">
                <a:solidFill>
                  <a:srgbClr val="C2410C"/>
                </a:solidFill>
              </a:ln>
            </p:spPr>
          </p:sp>
          <p:sp>
            <p:nvSpPr>
              <p:cNvPr id="67" name="Freeform 67"/>
              <p:cNvSpPr/>
              <p:nvPr/>
            </p:nvSpPr>
            <p:spPr>
              <a:xfrm>
                <a:off x="6507131" y="5064125"/>
                <a:ext cx="141812" cy="129270"/>
              </a:xfrm>
              <a:custGeom>
                <a:avLst/>
                <a:gdLst/>
                <a:ahLst/>
                <a:cxnLst/>
                <a:rect l="l" t="t" r="r" b="b"/>
                <a:pathLst>
                  <a:path w="141812" h="129270">
                    <a:moveTo>
                      <a:pt x="107410" y="0"/>
                    </a:moveTo>
                    <a:cubicBezTo>
                      <a:pt x="80534" y="2270"/>
                      <a:pt x="56404" y="8255"/>
                      <a:pt x="35020" y="17907"/>
                    </a:cubicBezTo>
                    <a:cubicBezTo>
                      <a:pt x="10859" y="27797"/>
                      <a:pt x="0" y="52086"/>
                      <a:pt x="21495" y="89313"/>
                    </a:cubicBezTo>
                    <a:cubicBezTo>
                      <a:pt x="42990" y="126540"/>
                      <a:pt x="69437" y="129270"/>
                      <a:pt x="90091" y="113316"/>
                    </a:cubicBezTo>
                    <a:cubicBezTo>
                      <a:pt x="109141" y="99616"/>
                      <a:pt x="126397" y="81709"/>
                      <a:pt x="141812" y="59563"/>
                    </a:cubicBezTo>
                  </a:path>
                </a:pathLst>
              </a:custGeom>
              <a:noFill/>
              <a:ln w="31750">
                <a:solidFill>
                  <a:srgbClr val="C2410C"/>
                </a:solidFill>
              </a:ln>
            </p:spPr>
          </p:sp>
        </p:grpSp>
        <p:sp>
          <p:nvSpPr>
            <p:cNvPr id="69" name="TextBox 69"/>
            <p:cNvSpPr txBox="1"/>
            <p:nvPr/>
          </p:nvSpPr>
          <p:spPr>
            <a:xfrm>
              <a:off x="7002018" y="4921250"/>
              <a:ext cx="3389308"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Active braking (“damped light”)</a:t>
              </a:r>
            </a:p>
          </p:txBody>
        </p:sp>
        <p:sp>
          <p:nvSpPr>
            <p:cNvPr id="70" name="TextBox 70"/>
            <p:cNvSpPr txBox="1"/>
            <p:nvPr/>
          </p:nvSpPr>
          <p:spPr>
            <a:xfrm>
              <a:off x="6469380" y="5359400"/>
              <a:ext cx="3829564"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The ESC brakes the prop when throttle drops,</a:t>
              </a:r>
              <a:br>
                <a:rPr lang="en" sz="1500" dirty="0">
                  <a:solidFill>
                    <a:srgbClr val="4A5A6E"/>
                  </a:solidFill>
                  <a:latin typeface="+mn-lt"/>
                  <a:ea typeface="+mn-ea"/>
                  <a:cs typeface="+mn-cs"/>
                </a:rPr>
              </a:br>
              <a:r>
                <a:rPr lang="en" sz="1500" dirty="0">
                  <a:solidFill>
                    <a:srgbClr val="4A5A6E"/>
                  </a:solidFill>
                  <a:latin typeface="+mn-lt"/>
                  <a:ea typeface="+mn-ea"/>
                  <a:cs typeface="+mn-cs"/>
                </a:rPr>
                <a:t>so the quad reacts and settles faster.</a:t>
              </a:r>
            </a:p>
          </p:txBody>
        </p:sp>
      </p:grpSp>
      <p:grpSp>
        <p:nvGrpSpPr>
          <p:cNvPr id="74" name="footer"/>
          <p:cNvGrpSpPr/>
          <p:nvPr/>
        </p:nvGrpSpPr>
        <p:grpSpPr>
          <a:xfrm>
            <a:off x="603504" y="6457950"/>
            <a:ext cx="10984992" cy="247396"/>
            <a:chOff x="603504" y="6457950"/>
            <a:chExt cx="10984992" cy="247396"/>
          </a:xfrm>
        </p:grpSpPr>
        <p:sp>
          <p:nvSpPr>
            <p:cNvPr id="72" name="TextBox 72"/>
            <p:cNvSpPr txBox="1"/>
            <p:nvPr/>
          </p:nvSpPr>
          <p:spPr>
            <a:xfrm>
              <a:off x="603504" y="6457950"/>
              <a:ext cx="5060250"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Example frame: throttle 1046, telemetry 0, CRC = (v ⊕ v≫4 ⊕ v≫8) &amp; 0xF</a:t>
              </a:r>
            </a:p>
          </p:txBody>
        </p:sp>
        <p:sp>
          <p:nvSpPr>
            <p:cNvPr id="73" name="TextBox 73"/>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16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450"/>
                            </p:stCondLst>
                            <p:childTnLst>
                              <p:par>
                                <p:cTn id="9" presetID="22" presetClass="entr" presetSubtype="2" fill="hold" nodeType="afterEffect">
                                  <p:stCondLst>
                                    <p:cond delay="100"/>
                                  </p:stCondLst>
                                  <p:childTnLst>
                                    <p:set>
                                      <p:cBhvr>
                                        <p:cTn id="10" dur="1" fill="hold">
                                          <p:stCondLst>
                                            <p:cond delay="0"/>
                                          </p:stCondLst>
                                        </p:cTn>
                                        <p:tgtEl>
                                          <p:spTgt spid="57"/>
                                        </p:tgtEl>
                                        <p:attrNameLst>
                                          <p:attrName>style.visibility</p:attrName>
                                        </p:attrNameLst>
                                      </p:cBhvr>
                                      <p:to>
                                        <p:strVal val="visible"/>
                                      </p:to>
                                    </p:set>
                                    <p:animEffect transition="in" filter="wipe(right)">
                                      <p:cBhvr>
                                        <p:cTn id="11" dur="900"/>
                                        <p:tgtEl>
                                          <p:spTgt spid="57"/>
                                        </p:tgtEl>
                                      </p:cBhvr>
                                    </p:animEffect>
                                  </p:childTnLst>
                                </p:cTn>
                              </p:par>
                            </p:childTnLst>
                          </p:cTn>
                        </p:par>
                        <p:par>
                          <p:cTn id="12" fill="hold">
                            <p:stCondLst>
                              <p:cond delay="1450"/>
                            </p:stCondLst>
                            <p:childTnLst>
                              <p:par>
                                <p:cTn id="13" presetID="10" presetClass="entr" presetSubtype="0" fill="hold" nodeType="afterEffect">
                                  <p:stCondLst>
                                    <p:cond delay="10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450"/>
                                        <p:tgtEl>
                                          <p:spTgt spid="62"/>
                                        </p:tgtEl>
                                      </p:cBhvr>
                                    </p:animEffect>
                                  </p:childTnLst>
                                </p:cTn>
                              </p:par>
                            </p:childTnLst>
                          </p:cTn>
                        </p:par>
                        <p:par>
                          <p:cTn id="16" fill="hold">
                            <p:stCondLst>
                              <p:cond delay="2000"/>
                            </p:stCondLst>
                            <p:childTnLst>
                              <p:par>
                                <p:cTn id="17" presetID="10" presetClass="entr" presetSubtype="0" fill="hold" nodeType="afterEffect">
                                  <p:stCondLst>
                                    <p:cond delay="10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45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6930096" cy="880364"/>
            <a:chOff x="592836" y="539750"/>
            <a:chExt cx="6930096" cy="880364"/>
          </a:xfrm>
        </p:grpSpPr>
        <p:sp>
          <p:nvSpPr>
            <p:cNvPr id="2" name="TextBox 2"/>
            <p:cNvSpPr txBox="1"/>
            <p:nvPr/>
          </p:nvSpPr>
          <p:spPr>
            <a:xfrm>
              <a:off x="602742" y="539750"/>
              <a:ext cx="1261872"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17 / POWER</a:t>
              </a:r>
            </a:p>
          </p:txBody>
        </p:sp>
        <p:sp>
          <p:nvSpPr>
            <p:cNvPr id="3" name="TextBox 3"/>
            <p:cNvSpPr txBox="1"/>
            <p:nvPr/>
          </p:nvSpPr>
          <p:spPr>
            <a:xfrm>
              <a:off x="592836" y="774700"/>
              <a:ext cx="6930096"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Why racers moved from 4S to 6S</a:t>
              </a:r>
            </a:p>
          </p:txBody>
        </p:sp>
      </p:grpSp>
      <p:grpSp>
        <p:nvGrpSpPr>
          <p:cNvPr id="9" name="plane-4s"/>
          <p:cNvGrpSpPr/>
          <p:nvPr/>
        </p:nvGrpSpPr>
        <p:grpSpPr>
          <a:xfrm>
            <a:off x="609600" y="1485900"/>
            <a:ext cx="5334000" cy="2133600"/>
            <a:chOff x="609600" y="1485900"/>
            <a:chExt cx="5334000" cy="2133600"/>
          </a:xfrm>
        </p:grpSpPr>
        <p:sp>
          <p:nvSpPr>
            <p:cNvPr id="5" name="Rectangle 5"/>
            <p:cNvSpPr/>
            <p:nvPr/>
          </p:nvSpPr>
          <p:spPr>
            <a:xfrm>
              <a:off x="609600" y="1485900"/>
              <a:ext cx="5334000" cy="2133600"/>
            </a:xfrm>
            <a:prstGeom prst="roundRect">
              <a:avLst>
                <a:gd name="adj" fmla="val 6250"/>
              </a:avLst>
            </a:prstGeom>
            <a:solidFill>
              <a:srgbClr val="F3F6F9"/>
            </a:solidFill>
            <a:ln>
              <a:noFill/>
            </a:ln>
          </p:spPr>
        </p:sp>
        <p:sp>
          <p:nvSpPr>
            <p:cNvPr id="6" name="TextBox 6"/>
            <p:cNvSpPr txBox="1"/>
            <p:nvPr/>
          </p:nvSpPr>
          <p:spPr>
            <a:xfrm>
              <a:off x="869442" y="1701800"/>
              <a:ext cx="2212391" cy="264033"/>
            </a:xfrm>
            <a:prstGeom prst="rect">
              <a:avLst/>
            </a:prstGeom>
            <a:noFill/>
            <a:ln>
              <a:noFill/>
            </a:ln>
          </p:spPr>
          <p:txBody>
            <a:bodyPr wrap="none" lIns="0" tIns="0" rIns="0" bIns="0" anchor="t" anchorCtr="0">
              <a:spAutoFit/>
            </a:bodyPr>
            <a:lstStyle/>
            <a:p>
              <a:pPr algn="l"/>
              <a:r>
                <a:rPr lang="en" sz="1350" spc="75" dirty="0">
                  <a:solidFill>
                    <a:srgbClr val="6B7A8C"/>
                  </a:solidFill>
                  <a:latin typeface="Consolas"/>
                  <a:ea typeface="Consolas"/>
                  <a:cs typeface="Consolas"/>
                </a:rPr>
                <a:t>4S · 14.8 V NOMINAL</a:t>
              </a:r>
            </a:p>
          </p:txBody>
        </p:sp>
        <p:sp>
          <p:nvSpPr>
            <p:cNvPr id="7" name="TextBox 7"/>
            <p:cNvSpPr txBox="1"/>
            <p:nvPr/>
          </p:nvSpPr>
          <p:spPr>
            <a:xfrm>
              <a:off x="857250" y="2006600"/>
              <a:ext cx="2218878" cy="1390650"/>
            </a:xfrm>
            <a:prstGeom prst="rect">
              <a:avLst/>
            </a:prstGeom>
            <a:noFill/>
            <a:ln>
              <a:noFill/>
            </a:ln>
          </p:spPr>
          <p:txBody>
            <a:bodyPr wrap="none" lIns="0" tIns="0" rIns="0" bIns="0" anchor="t" anchorCtr="0">
              <a:spAutoFit/>
            </a:bodyPr>
            <a:lstStyle/>
            <a:p>
              <a:pPr algn="l"/>
              <a:r>
                <a:rPr lang="en" sz="7200" b="1" dirty="0">
                  <a:solidFill>
                    <a:srgbClr val="0E1B2C"/>
                  </a:solidFill>
                  <a:latin typeface="+mn-lt"/>
                  <a:ea typeface="+mn-ea"/>
                  <a:cs typeface="+mn-cs"/>
                </a:rPr>
                <a:t>68 A</a:t>
              </a:r>
            </a:p>
          </p:txBody>
        </p:sp>
        <p:sp>
          <p:nvSpPr>
            <p:cNvPr id="8" name="TextBox 8"/>
            <p:cNvSpPr txBox="1"/>
            <p:nvPr/>
          </p:nvSpPr>
          <p:spPr>
            <a:xfrm>
              <a:off x="868680" y="3124200"/>
              <a:ext cx="2884343"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needed for a 1000 W punch-out</a:t>
              </a:r>
            </a:p>
          </p:txBody>
        </p:sp>
      </p:grpSp>
      <p:grpSp>
        <p:nvGrpSpPr>
          <p:cNvPr id="14" name="plane-6s"/>
          <p:cNvGrpSpPr/>
          <p:nvPr/>
        </p:nvGrpSpPr>
        <p:grpSpPr>
          <a:xfrm>
            <a:off x="6248400" y="1485900"/>
            <a:ext cx="5334000" cy="2133600"/>
            <a:chOff x="6248400" y="1485900"/>
            <a:chExt cx="5334000" cy="2133600"/>
          </a:xfrm>
        </p:grpSpPr>
        <p:sp>
          <p:nvSpPr>
            <p:cNvPr id="10" name="Rectangle 10"/>
            <p:cNvSpPr/>
            <p:nvPr/>
          </p:nvSpPr>
          <p:spPr>
            <a:xfrm>
              <a:off x="6248400" y="1485900"/>
              <a:ext cx="5334000" cy="2133600"/>
            </a:xfrm>
            <a:prstGeom prst="roundRect">
              <a:avLst>
                <a:gd name="adj" fmla="val 6250"/>
              </a:avLst>
            </a:prstGeom>
            <a:solidFill>
              <a:srgbClr val="E9F4F3"/>
            </a:solidFill>
            <a:ln>
              <a:noFill/>
            </a:ln>
          </p:spPr>
        </p:sp>
        <p:sp>
          <p:nvSpPr>
            <p:cNvPr id="11" name="TextBox 11"/>
            <p:cNvSpPr txBox="1"/>
            <p:nvPr/>
          </p:nvSpPr>
          <p:spPr>
            <a:xfrm>
              <a:off x="6508242" y="1701800"/>
              <a:ext cx="2212391" cy="264033"/>
            </a:xfrm>
            <a:prstGeom prst="rect">
              <a:avLst/>
            </a:prstGeom>
            <a:noFill/>
            <a:ln>
              <a:noFill/>
            </a:ln>
          </p:spPr>
          <p:txBody>
            <a:bodyPr wrap="none" lIns="0" tIns="0" rIns="0" bIns="0" anchor="t" anchorCtr="0">
              <a:spAutoFit/>
            </a:bodyPr>
            <a:lstStyle/>
            <a:p>
              <a:pPr algn="l"/>
              <a:r>
                <a:rPr lang="en" sz="1350" spc="75" dirty="0">
                  <a:solidFill>
                    <a:srgbClr val="0B7A75"/>
                  </a:solidFill>
                  <a:latin typeface="Consolas"/>
                  <a:ea typeface="Consolas"/>
                  <a:cs typeface="Consolas"/>
                </a:rPr>
                <a:t>6S · 22.2 V NOMINAL</a:t>
              </a:r>
            </a:p>
          </p:txBody>
        </p:sp>
        <p:sp>
          <p:nvSpPr>
            <p:cNvPr id="12" name="TextBox 12"/>
            <p:cNvSpPr txBox="1"/>
            <p:nvPr/>
          </p:nvSpPr>
          <p:spPr>
            <a:xfrm>
              <a:off x="6496050" y="2006600"/>
              <a:ext cx="2218878" cy="1390650"/>
            </a:xfrm>
            <a:prstGeom prst="rect">
              <a:avLst/>
            </a:prstGeom>
            <a:noFill/>
            <a:ln>
              <a:noFill/>
            </a:ln>
          </p:spPr>
          <p:txBody>
            <a:bodyPr wrap="none" lIns="0" tIns="0" rIns="0" bIns="0" anchor="t" anchorCtr="0">
              <a:spAutoFit/>
            </a:bodyPr>
            <a:lstStyle/>
            <a:p>
              <a:pPr algn="l"/>
              <a:r>
                <a:rPr lang="en" sz="7200" b="1" dirty="0">
                  <a:solidFill>
                    <a:srgbClr val="0B7A75"/>
                  </a:solidFill>
                  <a:latin typeface="+mn-lt"/>
                  <a:ea typeface="+mn-ea"/>
                  <a:cs typeface="+mn-cs"/>
                </a:rPr>
                <a:t>45 A</a:t>
              </a:r>
            </a:p>
          </p:txBody>
        </p:sp>
        <p:sp>
          <p:nvSpPr>
            <p:cNvPr id="13" name="TextBox 13"/>
            <p:cNvSpPr txBox="1"/>
            <p:nvPr/>
          </p:nvSpPr>
          <p:spPr>
            <a:xfrm>
              <a:off x="6507480" y="3124200"/>
              <a:ext cx="3535115"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for the same 1000 W: less heat, less sag</a:t>
              </a:r>
            </a:p>
          </p:txBody>
        </p:sp>
      </p:grpSp>
      <p:grpSp>
        <p:nvGrpSpPr>
          <p:cNvPr id="16" name="formula"/>
          <p:cNvGrpSpPr/>
          <p:nvPr/>
        </p:nvGrpSpPr>
        <p:grpSpPr>
          <a:xfrm>
            <a:off x="601218" y="3835400"/>
            <a:ext cx="8325318" cy="322707"/>
            <a:chOff x="601218" y="3835400"/>
            <a:chExt cx="8325318" cy="322707"/>
          </a:xfrm>
        </p:grpSpPr>
        <p:sp>
          <p:nvSpPr>
            <p:cNvPr id="15" name="TextBox 15"/>
            <p:cNvSpPr txBox="1"/>
            <p:nvPr/>
          </p:nvSpPr>
          <p:spPr>
            <a:xfrm>
              <a:off x="601218" y="3835400"/>
              <a:ext cx="8325318"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I = P ÷ V.</a:t>
              </a:r>
              <a:r>
                <a:rPr lang="en" sz="1650" dirty="0">
                  <a:solidFill>
                    <a:srgbClr val="0E1B2C"/>
                  </a:solidFill>
                  <a:latin typeface="+mn-lt"/>
                  <a:ea typeface="+mn-ea"/>
                  <a:cs typeface="+mn-cs"/>
                </a:rPr>
                <a:t> Heat in wires and cells grows with I²R, so a third less current matters a lot.</a:t>
              </a:r>
            </a:p>
          </p:txBody>
        </p:sp>
      </p:grpSp>
      <p:grpSp>
        <p:nvGrpSpPr>
          <p:cNvPr id="22" name="card-crating"/>
          <p:cNvGrpSpPr/>
          <p:nvPr/>
        </p:nvGrpSpPr>
        <p:grpSpPr>
          <a:xfrm>
            <a:off x="609600" y="4267200"/>
            <a:ext cx="5334000" cy="1981200"/>
            <a:chOff x="609600" y="4267200"/>
            <a:chExt cx="5334000" cy="1981200"/>
          </a:xfrm>
        </p:grpSpPr>
        <p:sp>
          <p:nvSpPr>
            <p:cNvPr id="17" name="Rectangle 17"/>
            <p:cNvSpPr/>
            <p:nvPr/>
          </p:nvSpPr>
          <p:spPr>
            <a:xfrm>
              <a:off x="609600" y="4267200"/>
              <a:ext cx="5334000" cy="1981200"/>
            </a:xfrm>
            <a:prstGeom prst="roundRect">
              <a:avLst>
                <a:gd name="adj" fmla="val 6731"/>
              </a:avLst>
            </a:prstGeom>
            <a:solidFill>
              <a:srgbClr val="FFF3EA"/>
            </a:solidFill>
            <a:ln>
              <a:noFill/>
            </a:ln>
          </p:spPr>
        </p:sp>
        <p:sp>
          <p:nvSpPr>
            <p:cNvPr id="18" name="TextBox 18"/>
            <p:cNvSpPr txBox="1"/>
            <p:nvPr/>
          </p:nvSpPr>
          <p:spPr>
            <a:xfrm>
              <a:off x="867918" y="4445000"/>
              <a:ext cx="2899621"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How much can a pack give?</a:t>
              </a:r>
            </a:p>
          </p:txBody>
        </p:sp>
        <p:sp>
          <p:nvSpPr>
            <p:cNvPr id="19" name="TextBox 19"/>
            <p:cNvSpPr txBox="1"/>
            <p:nvPr/>
          </p:nvSpPr>
          <p:spPr>
            <a:xfrm>
              <a:off x="867918" y="4806950"/>
              <a:ext cx="3202586" cy="322707"/>
            </a:xfrm>
            <a:prstGeom prst="rect">
              <a:avLst/>
            </a:prstGeom>
            <a:noFill/>
            <a:ln>
              <a:noFill/>
            </a:ln>
          </p:spPr>
          <p:txBody>
            <a:bodyPr wrap="none" lIns="0" tIns="0" rIns="0" bIns="0" anchor="t" anchorCtr="0">
              <a:spAutoFit/>
            </a:bodyPr>
            <a:lstStyle/>
            <a:p>
              <a:pPr algn="l"/>
              <a:r>
                <a:rPr lang="en" sz="1650" dirty="0">
                  <a:solidFill>
                    <a:srgbClr val="0E2A47"/>
                  </a:solidFill>
                  <a:latin typeface="Consolas"/>
                  <a:ea typeface="Consolas"/>
                  <a:cs typeface="Consolas"/>
                </a:rPr>
                <a:t>max current = capacity × C</a:t>
              </a:r>
            </a:p>
          </p:txBody>
        </p:sp>
        <p:sp>
          <p:nvSpPr>
            <p:cNvPr id="20" name="TextBox 20"/>
            <p:cNvSpPr txBox="1"/>
            <p:nvPr/>
          </p:nvSpPr>
          <p:spPr>
            <a:xfrm>
              <a:off x="859536" y="5156200"/>
              <a:ext cx="3090358" cy="645414"/>
            </a:xfrm>
            <a:prstGeom prst="rect">
              <a:avLst/>
            </a:prstGeom>
            <a:noFill/>
            <a:ln>
              <a:noFill/>
            </a:ln>
          </p:spPr>
          <p:txBody>
            <a:bodyPr wrap="none" lIns="0" tIns="0" rIns="0" bIns="0" anchor="t" anchorCtr="0">
              <a:spAutoFit/>
            </a:bodyPr>
            <a:lstStyle/>
            <a:p>
              <a:pPr algn="l"/>
              <a:r>
                <a:rPr lang="en" sz="1650" dirty="0">
                  <a:solidFill>
                    <a:srgbClr val="0E2A47"/>
                  </a:solidFill>
                  <a:latin typeface="+mn-lt"/>
                  <a:ea typeface="+mn-ea"/>
                  <a:cs typeface="+mn-cs"/>
                </a:rPr>
                <a:t>1.3 Ah × 120 C = </a:t>
              </a:r>
              <a:r>
                <a:rPr lang="en" sz="3300" b="1" dirty="0">
                  <a:solidFill>
                    <a:srgbClr val="C2410C"/>
                  </a:solidFill>
                  <a:latin typeface="+mn-lt"/>
                  <a:ea typeface="+mn-ea"/>
                  <a:cs typeface="+mn-cs"/>
                </a:rPr>
                <a:t>156 A</a:t>
              </a:r>
            </a:p>
          </p:txBody>
        </p:sp>
        <p:sp>
          <p:nvSpPr>
            <p:cNvPr id="21" name="TextBox 21"/>
            <p:cNvSpPr txBox="1"/>
            <p:nvPr/>
          </p:nvSpPr>
          <p:spPr>
            <a:xfrm>
              <a:off x="868680" y="5810250"/>
              <a:ext cx="3938633" cy="293370"/>
            </a:xfrm>
            <a:prstGeom prst="rect">
              <a:avLst/>
            </a:prstGeom>
            <a:noFill/>
            <a:ln>
              <a:noFill/>
            </a:ln>
          </p:spPr>
          <p:txBody>
            <a:bodyPr wrap="none" lIns="0" tIns="0" rIns="0" bIns="0" anchor="t" anchorCtr="0">
              <a:spAutoFit/>
            </a:bodyPr>
            <a:lstStyle/>
            <a:p>
              <a:pPr algn="l"/>
              <a:r>
                <a:rPr lang="en" sz="1500" dirty="0">
                  <a:solidFill>
                    <a:srgbClr val="4A5A6E"/>
                  </a:solidFill>
                  <a:latin typeface="+mn-lt"/>
                  <a:ea typeface="+mn-ea"/>
                  <a:cs typeface="+mn-cs"/>
                </a:rPr>
                <a:t>Pull more and the cells puff up and age fast.</a:t>
              </a:r>
            </a:p>
          </p:txBody>
        </p:sp>
      </p:grpSp>
      <p:grpSp>
        <p:nvGrpSpPr>
          <p:cNvPr id="30" name="card-protect"/>
          <p:cNvGrpSpPr/>
          <p:nvPr/>
        </p:nvGrpSpPr>
        <p:grpSpPr>
          <a:xfrm>
            <a:off x="6248400" y="4267200"/>
            <a:ext cx="5334000" cy="1981200"/>
            <a:chOff x="6248400" y="4267200"/>
            <a:chExt cx="5334000" cy="1981200"/>
          </a:xfrm>
        </p:grpSpPr>
        <p:sp>
          <p:nvSpPr>
            <p:cNvPr id="23" name="Rectangle 23"/>
            <p:cNvSpPr/>
            <p:nvPr/>
          </p:nvSpPr>
          <p:spPr>
            <a:xfrm>
              <a:off x="6248400" y="4267200"/>
              <a:ext cx="5334000" cy="1981200"/>
            </a:xfrm>
            <a:prstGeom prst="roundRect">
              <a:avLst>
                <a:gd name="adj" fmla="val 6731"/>
              </a:avLst>
            </a:prstGeom>
            <a:solidFill>
              <a:srgbClr val="F3F6F9"/>
            </a:solidFill>
            <a:ln>
              <a:noFill/>
            </a:ln>
          </p:spPr>
        </p:sp>
        <p:grpSp>
          <p:nvGrpSpPr>
            <p:cNvPr id="26" name="Group 26"/>
            <p:cNvGrpSpPr/>
            <p:nvPr/>
          </p:nvGrpSpPr>
          <p:grpSpPr>
            <a:xfrm>
              <a:off x="6500581" y="4443412"/>
              <a:ext cx="279010" cy="257176"/>
              <a:chOff x="6500581" y="4443412"/>
              <a:chExt cx="279010" cy="257176"/>
            </a:xfrm>
          </p:grpSpPr>
          <p:sp>
            <p:nvSpPr>
              <p:cNvPr id="24" name="Freeform 24"/>
              <p:cNvSpPr/>
              <p:nvPr/>
            </p:nvSpPr>
            <p:spPr>
              <a:xfrm>
                <a:off x="6500581" y="4443412"/>
                <a:ext cx="279010" cy="254975"/>
              </a:xfrm>
              <a:custGeom>
                <a:avLst/>
                <a:gdLst/>
                <a:ahLst/>
                <a:cxnLst/>
                <a:rect l="l" t="t" r="r" b="b"/>
                <a:pathLst>
                  <a:path w="279010" h="254975">
                    <a:moveTo>
                      <a:pt x="140154" y="254975"/>
                    </a:moveTo>
                    <a:cubicBezTo>
                      <a:pt x="50649" y="227230"/>
                      <a:pt x="0" y="132765"/>
                      <a:pt x="26425" y="42862"/>
                    </a:cubicBezTo>
                    <a:cubicBezTo>
                      <a:pt x="70939" y="44899"/>
                      <a:pt x="114496" y="29526"/>
                      <a:pt x="147869" y="0"/>
                    </a:cubicBezTo>
                    <a:cubicBezTo>
                      <a:pt x="181242" y="29526"/>
                      <a:pt x="224800" y="44899"/>
                      <a:pt x="269313" y="42862"/>
                    </a:cubicBezTo>
                    <a:cubicBezTo>
                      <a:pt x="279010" y="75854"/>
                      <a:pt x="278561" y="110999"/>
                      <a:pt x="268027" y="143732"/>
                    </a:cubicBezTo>
                  </a:path>
                </a:pathLst>
              </a:custGeom>
              <a:noFill/>
              <a:ln w="28575">
                <a:solidFill>
                  <a:srgbClr val="0E2A47"/>
                </a:solidFill>
              </a:ln>
            </p:spPr>
          </p:sp>
          <p:sp>
            <p:nvSpPr>
              <p:cNvPr id="25" name="Freeform 25"/>
              <p:cNvSpPr/>
              <p:nvPr/>
            </p:nvSpPr>
            <p:spPr>
              <a:xfrm>
                <a:off x="6691312" y="4643438"/>
                <a:ext cx="85725" cy="57150"/>
              </a:xfrm>
              <a:custGeom>
                <a:avLst/>
                <a:gdLst/>
                <a:ahLst/>
                <a:cxnLst/>
                <a:rect l="l" t="t" r="r" b="b"/>
                <a:pathLst>
                  <a:path w="85725" h="57150">
                    <a:moveTo>
                      <a:pt x="0" y="28575"/>
                    </a:moveTo>
                    <a:lnTo>
                      <a:pt x="28575" y="57150"/>
                    </a:lnTo>
                    <a:lnTo>
                      <a:pt x="85725" y="0"/>
                    </a:lnTo>
                  </a:path>
                </a:pathLst>
              </a:custGeom>
              <a:noFill/>
              <a:ln w="28575">
                <a:solidFill>
                  <a:srgbClr val="0E2A47"/>
                </a:solidFill>
              </a:ln>
            </p:spPr>
          </p:sp>
        </p:grpSp>
        <p:sp>
          <p:nvSpPr>
            <p:cNvPr id="27" name="TextBox 27"/>
            <p:cNvSpPr txBox="1"/>
            <p:nvPr/>
          </p:nvSpPr>
          <p:spPr>
            <a:xfrm>
              <a:off x="6925818" y="4445000"/>
              <a:ext cx="2368883"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Protect the electronics</a:t>
              </a:r>
            </a:p>
          </p:txBody>
        </p:sp>
        <p:sp>
          <p:nvSpPr>
            <p:cNvPr id="28" name="TextBox 28"/>
            <p:cNvSpPr txBox="1"/>
            <p:nvPr/>
          </p:nvSpPr>
          <p:spPr>
            <a:xfrm>
              <a:off x="6507480" y="4883150"/>
              <a:ext cx="3785426" cy="560070"/>
            </a:xfrm>
            <a:prstGeom prst="rect">
              <a:avLst/>
            </a:prstGeom>
            <a:noFill/>
            <a:ln>
              <a:noFill/>
            </a:ln>
          </p:spPr>
          <p:txBody>
            <a:bodyPr wrap="none" lIns="0" tIns="0" rIns="0" bIns="0" anchor="t" anchorCtr="0">
              <a:spAutoFit/>
            </a:bodyPr>
            <a:lstStyle/>
            <a:p>
              <a:pPr marL="129559" indent="-129559" algn="l">
                <a:lnSpc>
                  <a:spcPts val="2100"/>
                </a:lnSpc>
                <a:buClr>
                  <a:srgbClr val="0E1B2C"/>
                </a:buClr>
                <a:buSzTx/>
                <a:buFontTx/>
                <a:buChar char="•"/>
              </a:pPr>
              <a:r>
                <a:rPr lang="en" sz="1500" dirty="0">
                  <a:solidFill>
                    <a:srgbClr val="0E1B2C"/>
                  </a:solidFill>
                  <a:latin typeface="+mn-lt"/>
                  <a:ea typeface="+mn-ea"/>
                  <a:cs typeface="+mn-cs"/>
                </a:rPr>
                <a:t>Low-ESR cap on the ESC pads, e.g. 1000 µF,</a:t>
              </a:r>
              <a:br>
                <a:rPr lang="en" sz="1500" dirty="0">
                  <a:solidFill>
                    <a:srgbClr val="0E1B2C"/>
                  </a:solidFill>
                  <a:latin typeface="+mn-lt"/>
                  <a:ea typeface="+mn-ea"/>
                  <a:cs typeface="+mn-cs"/>
                </a:rPr>
              </a:br>
              <a:r>
                <a:rPr lang="en" sz="1500" dirty="0">
                  <a:solidFill>
                    <a:srgbClr val="0E1B2C"/>
                  </a:solidFill>
                  <a:latin typeface="+mn-lt"/>
                  <a:ea typeface="+mn-ea"/>
                  <a:cs typeface="+mn-cs"/>
                </a:rPr>
                <a:t>rated 35 V+ (50 V gives margin on 6S)</a:t>
              </a:r>
            </a:p>
          </p:txBody>
        </p:sp>
        <p:sp>
          <p:nvSpPr>
            <p:cNvPr id="29" name="TextBox 29"/>
            <p:cNvSpPr txBox="1"/>
            <p:nvPr/>
          </p:nvSpPr>
          <p:spPr>
            <a:xfrm>
              <a:off x="6507480" y="5530850"/>
              <a:ext cx="3054020" cy="560070"/>
            </a:xfrm>
            <a:prstGeom prst="rect">
              <a:avLst/>
            </a:prstGeom>
            <a:noFill/>
            <a:ln>
              <a:noFill/>
            </a:ln>
          </p:spPr>
          <p:txBody>
            <a:bodyPr wrap="none" lIns="0" tIns="0" rIns="0" bIns="0" anchor="t" anchorCtr="0">
              <a:spAutoFit/>
            </a:bodyPr>
            <a:lstStyle/>
            <a:p>
              <a:pPr marL="129559" indent="-129559" algn="l">
                <a:lnSpc>
                  <a:spcPts val="2100"/>
                </a:lnSpc>
                <a:buClr>
                  <a:srgbClr val="0E1B2C"/>
                </a:buClr>
                <a:buSzTx/>
                <a:buFontTx/>
                <a:buChar char="•"/>
              </a:pPr>
              <a:r>
                <a:rPr lang="en" sz="1500" dirty="0">
                  <a:solidFill>
                    <a:srgbClr val="0E1B2C"/>
                  </a:solidFill>
                  <a:latin typeface="+mn-lt"/>
                  <a:ea typeface="+mn-ea"/>
                  <a:cs typeface="+mn-cs"/>
                </a:rPr>
                <a:t>A TVS diode clamps voltage spikes</a:t>
              </a:r>
              <a:br>
                <a:rPr lang="en" sz="1500" dirty="0">
                  <a:solidFill>
                    <a:srgbClr val="0E1B2C"/>
                  </a:solidFill>
                  <a:latin typeface="+mn-lt"/>
                  <a:ea typeface="+mn-ea"/>
                  <a:cs typeface="+mn-cs"/>
                </a:rPr>
              </a:br>
              <a:r>
                <a:rPr lang="en" sz="1500" dirty="0">
                  <a:solidFill>
                    <a:srgbClr val="0E1B2C"/>
                  </a:solidFill>
                  <a:latin typeface="+mn-lt"/>
                  <a:ea typeface="+mn-ea"/>
                  <a:cs typeface="+mn-cs"/>
                </a:rPr>
                <a:t>from active braking</a:t>
              </a:r>
            </a:p>
          </p:txBody>
        </p:sp>
      </p:grpSp>
      <p:grpSp>
        <p:nvGrpSpPr>
          <p:cNvPr id="33" name="footer"/>
          <p:cNvGrpSpPr/>
          <p:nvPr/>
        </p:nvGrpSpPr>
        <p:grpSpPr>
          <a:xfrm>
            <a:off x="603504" y="6457950"/>
            <a:ext cx="10984992" cy="247396"/>
            <a:chOff x="603504" y="6457950"/>
            <a:chExt cx="10984992" cy="247396"/>
          </a:xfrm>
        </p:grpSpPr>
        <p:sp>
          <p:nvSpPr>
            <p:cNvPr id="31" name="TextBox 31"/>
            <p:cNvSpPr txBox="1"/>
            <p:nvPr/>
          </p:nvSpPr>
          <p:spPr>
            <a:xfrm>
              <a:off x="603504" y="6457950"/>
              <a:ext cx="4526320"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Full charge: 4.2 V per cell (6S = 25.2 V) · storage ≈ 3.8 V per cell</a:t>
              </a:r>
            </a:p>
          </p:txBody>
        </p:sp>
        <p:sp>
          <p:nvSpPr>
            <p:cNvPr id="32" name="TextBox 32"/>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17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53" presetClass="entr" presetSubtype="16" fill="hold" nodeType="afterEffect">
                                  <p:stCondLst>
                                    <p:cond delay="100"/>
                                  </p:stCondLst>
                                  <p:childTnLst>
                                    <p:set>
                                      <p:cBhvr>
                                        <p:cTn id="10" dur="1" fill="hold">
                                          <p:stCondLst>
                                            <p:cond delay="0"/>
                                          </p:stCondLst>
                                        </p:cTn>
                                        <p:tgtEl>
                                          <p:spTgt spid="14"/>
                                        </p:tgtEl>
                                        <p:attrNameLst>
                                          <p:attrName>style.visibility</p:attrName>
                                        </p:attrNameLst>
                                      </p:cBhvr>
                                      <p:to>
                                        <p:strVal val="visible"/>
                                      </p:to>
                                    </p:set>
                                    <p:anim calcmode="lin" valueType="num">
                                      <p:cBhvr>
                                        <p:cTn id="11" dur="600" fill="hold"/>
                                        <p:tgtEl>
                                          <p:spTgt spid="14"/>
                                        </p:tgtEl>
                                        <p:attrNameLst>
                                          <p:attrName>ppt_w</p:attrName>
                                        </p:attrNameLst>
                                      </p:cBhvr>
                                      <p:tavLst>
                                        <p:tav tm="0">
                                          <p:val>
                                            <p:fltVal val="0"/>
                                          </p:val>
                                        </p:tav>
                                        <p:tav tm="100000">
                                          <p:val>
                                            <p:strVal val="#ppt_w"/>
                                          </p:val>
                                        </p:tav>
                                      </p:tavLst>
                                    </p:anim>
                                    <p:anim calcmode="lin" valueType="num">
                                      <p:cBhvr>
                                        <p:cTn id="12" dur="600" fill="hold"/>
                                        <p:tgtEl>
                                          <p:spTgt spid="14"/>
                                        </p:tgtEl>
                                        <p:attrNameLst>
                                          <p:attrName>ppt_h</p:attrName>
                                        </p:attrNameLst>
                                      </p:cBhvr>
                                      <p:tavLst>
                                        <p:tav tm="0">
                                          <p:val>
                                            <p:fltVal val="0"/>
                                          </p:val>
                                        </p:tav>
                                        <p:tav tm="100000">
                                          <p:val>
                                            <p:strVal val="#ppt_h"/>
                                          </p:val>
                                        </p:tav>
                                      </p:tavLst>
                                    </p:anim>
                                    <p:animEffect transition="in" filter="fade">
                                      <p:cBhvr>
                                        <p:cTn id="13" dur="600"/>
                                        <p:tgtEl>
                                          <p:spTgt spid="14"/>
                                        </p:tgtEl>
                                      </p:cBhvr>
                                    </p:animEffect>
                                  </p:childTnLst>
                                </p:cTn>
                              </p:par>
                            </p:childTnLst>
                          </p:cTn>
                        </p:par>
                        <p:par>
                          <p:cTn id="14" fill="hold">
                            <p:stCondLst>
                              <p:cond delay="1200"/>
                            </p:stCondLst>
                            <p:childTnLst>
                              <p:par>
                                <p:cTn id="15" presetID="10" presetClass="entr" presetSubtype="0" fill="hold" nodeType="afterEffect">
                                  <p:stCondLst>
                                    <p:cond delay="1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par>
                          <p:cTn id="18" fill="hold">
                            <p:stCondLst>
                              <p:cond delay="1750"/>
                            </p:stCondLst>
                            <p:childTnLst>
                              <p:par>
                                <p:cTn id="19" presetID="10" presetClass="entr" presetSubtype="0" fill="hold" nodeType="afterEffect">
                                  <p:stCondLst>
                                    <p:cond delay="10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50"/>
                                        <p:tgtEl>
                                          <p:spTgt spid="22"/>
                                        </p:tgtEl>
                                      </p:cBhvr>
                                    </p:animEffect>
                                  </p:childTnLst>
                                </p:cTn>
                              </p:par>
                            </p:childTnLst>
                          </p:cTn>
                        </p:par>
                        <p:par>
                          <p:cTn id="22" fill="hold">
                            <p:stCondLst>
                              <p:cond delay="2300"/>
                            </p:stCondLst>
                            <p:childTnLst>
                              <p:par>
                                <p:cTn id="23" presetID="10" presetClass="entr" presetSubtype="0" fill="hold" nodeType="afterEffect">
                                  <p:stCondLst>
                                    <p:cond delay="10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7048632" cy="880364"/>
            <a:chOff x="592836" y="539750"/>
            <a:chExt cx="7048632" cy="880364"/>
          </a:xfrm>
        </p:grpSpPr>
        <p:sp>
          <p:nvSpPr>
            <p:cNvPr id="2" name="TextBox 2"/>
            <p:cNvSpPr txBox="1"/>
            <p:nvPr/>
          </p:nvSpPr>
          <p:spPr>
            <a:xfrm>
              <a:off x="602742" y="539750"/>
              <a:ext cx="2150516"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18 / BENCH SAFETY</a:t>
              </a:r>
            </a:p>
          </p:txBody>
        </p:sp>
        <p:sp>
          <p:nvSpPr>
            <p:cNvPr id="3" name="TextBox 3"/>
            <p:cNvSpPr txBox="1"/>
            <p:nvPr/>
          </p:nvSpPr>
          <p:spPr>
            <a:xfrm>
              <a:off x="592836" y="774700"/>
              <a:ext cx="7048632"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Four rules before every power-up</a:t>
              </a:r>
            </a:p>
          </p:txBody>
        </p:sp>
      </p:grpSp>
      <p:grpSp>
        <p:nvGrpSpPr>
          <p:cNvPr id="14" name="rule-props"/>
          <p:cNvGrpSpPr/>
          <p:nvPr/>
        </p:nvGrpSpPr>
        <p:grpSpPr>
          <a:xfrm>
            <a:off x="666750" y="1543050"/>
            <a:ext cx="4002729" cy="947420"/>
            <a:chOff x="666750" y="1543050"/>
            <a:chExt cx="4002729" cy="947420"/>
          </a:xfrm>
        </p:grpSpPr>
        <p:sp>
          <p:nvSpPr>
            <p:cNvPr id="5" name="Ellipse 5"/>
            <p:cNvSpPr/>
            <p:nvPr/>
          </p:nvSpPr>
          <p:spPr>
            <a:xfrm>
              <a:off x="666750" y="1543050"/>
              <a:ext cx="571500" cy="571500"/>
            </a:xfrm>
            <a:prstGeom prst="ellipse">
              <a:avLst/>
            </a:prstGeom>
            <a:solidFill>
              <a:srgbClr val="FDECEC"/>
            </a:solidFill>
            <a:ln>
              <a:noFill/>
            </a:ln>
          </p:spPr>
        </p:sp>
        <p:grpSp>
          <p:nvGrpSpPr>
            <p:cNvPr id="11" name="Group 11"/>
            <p:cNvGrpSpPr/>
            <p:nvPr/>
          </p:nvGrpSpPr>
          <p:grpSpPr>
            <a:xfrm>
              <a:off x="792131" y="1685925"/>
              <a:ext cx="316024" cy="288020"/>
              <a:chOff x="792131" y="1685925"/>
              <a:chExt cx="316024" cy="288020"/>
            </a:xfrm>
          </p:grpSpPr>
          <p:sp>
            <p:nvSpPr>
              <p:cNvPr id="6" name="Freeform 6"/>
              <p:cNvSpPr/>
              <p:nvPr/>
            </p:nvSpPr>
            <p:spPr>
              <a:xfrm>
                <a:off x="902157" y="1803908"/>
                <a:ext cx="90888" cy="91207"/>
              </a:xfrm>
              <a:custGeom>
                <a:avLst/>
                <a:gdLst/>
                <a:ahLst/>
                <a:cxnLst/>
                <a:rect l="l" t="t" r="r" b="b"/>
                <a:pathLst>
                  <a:path w="90888" h="91207">
                    <a:moveTo>
                      <a:pt x="25705" y="0"/>
                    </a:moveTo>
                    <a:cubicBezTo>
                      <a:pt x="8830" y="10217"/>
                      <a:pt x="0" y="29781"/>
                      <a:pt x="3502" y="49195"/>
                    </a:cubicBezTo>
                    <a:cubicBezTo>
                      <a:pt x="7005" y="68609"/>
                      <a:pt x="22114" y="83855"/>
                      <a:pt x="41496" y="87531"/>
                    </a:cubicBezTo>
                    <a:cubicBezTo>
                      <a:pt x="60878" y="91207"/>
                      <a:pt x="80520" y="82553"/>
                      <a:pt x="90888" y="65770"/>
                    </a:cubicBezTo>
                  </a:path>
                </a:pathLst>
              </a:custGeom>
              <a:noFill/>
              <a:ln w="31750">
                <a:solidFill>
                  <a:srgbClr val="C81E1E"/>
                </a:solidFill>
              </a:ln>
            </p:spPr>
          </p:sp>
          <p:sp>
            <p:nvSpPr>
              <p:cNvPr id="7" name="Freeform 7"/>
              <p:cNvSpPr/>
              <p:nvPr/>
            </p:nvSpPr>
            <p:spPr>
              <a:xfrm>
                <a:off x="899240" y="1685925"/>
                <a:ext cx="111840" cy="119063"/>
              </a:xfrm>
              <a:custGeom>
                <a:avLst/>
                <a:gdLst/>
                <a:ahLst/>
                <a:cxnLst/>
                <a:rect l="l" t="t" r="r" b="b"/>
                <a:pathLst>
                  <a:path w="111840" h="119063">
                    <a:moveTo>
                      <a:pt x="89329" y="115443"/>
                    </a:moveTo>
                    <a:cubicBezTo>
                      <a:pt x="99806" y="92282"/>
                      <a:pt x="106125" y="69596"/>
                      <a:pt x="108347" y="47403"/>
                    </a:cubicBezTo>
                    <a:cubicBezTo>
                      <a:pt x="111840" y="21527"/>
                      <a:pt x="96250" y="0"/>
                      <a:pt x="53261" y="0"/>
                    </a:cubicBezTo>
                    <a:cubicBezTo>
                      <a:pt x="22463" y="0"/>
                      <a:pt x="5636" y="11049"/>
                      <a:pt x="0" y="26829"/>
                    </a:cubicBezTo>
                    <a:moveTo>
                      <a:pt x="11065" y="100695"/>
                    </a:moveTo>
                    <a:cubicBezTo>
                      <a:pt x="13367" y="106791"/>
                      <a:pt x="15970" y="112919"/>
                      <a:pt x="18860" y="119063"/>
                    </a:cubicBezTo>
                  </a:path>
                </a:pathLst>
              </a:custGeom>
              <a:noFill/>
              <a:ln w="31750">
                <a:solidFill>
                  <a:srgbClr val="C81E1E"/>
                </a:solidFill>
              </a:ln>
            </p:spPr>
          </p:sp>
          <p:sp>
            <p:nvSpPr>
              <p:cNvPr id="8" name="Freeform 8"/>
              <p:cNvSpPr/>
              <p:nvPr/>
            </p:nvSpPr>
            <p:spPr>
              <a:xfrm>
                <a:off x="971058" y="1849041"/>
                <a:ext cx="137097" cy="122476"/>
              </a:xfrm>
              <a:custGeom>
                <a:avLst/>
                <a:gdLst/>
                <a:ahLst/>
                <a:cxnLst/>
                <a:rect l="l" t="t" r="r" b="b"/>
                <a:pathLst>
                  <a:path w="137097" h="122476">
                    <a:moveTo>
                      <a:pt x="0" y="55182"/>
                    </a:moveTo>
                    <a:cubicBezTo>
                      <a:pt x="15399" y="77327"/>
                      <a:pt x="32655" y="95234"/>
                      <a:pt x="51705" y="108934"/>
                    </a:cubicBezTo>
                    <a:cubicBezTo>
                      <a:pt x="67898" y="121460"/>
                      <a:pt x="87662" y="122476"/>
                      <a:pt x="105807" y="104362"/>
                    </a:cubicBezTo>
                    <a:moveTo>
                      <a:pt x="129286" y="64786"/>
                    </a:moveTo>
                    <a:cubicBezTo>
                      <a:pt x="137097" y="38846"/>
                      <a:pt x="126270" y="21511"/>
                      <a:pt x="106807" y="13526"/>
                    </a:cubicBezTo>
                    <a:cubicBezTo>
                      <a:pt x="93790" y="7652"/>
                      <a:pt x="79772" y="3143"/>
                      <a:pt x="64738" y="0"/>
                    </a:cubicBezTo>
                  </a:path>
                </a:pathLst>
              </a:custGeom>
              <a:noFill/>
              <a:ln w="31750">
                <a:solidFill>
                  <a:srgbClr val="C81E1E"/>
                </a:solidFill>
              </a:ln>
            </p:spPr>
          </p:sp>
          <p:sp>
            <p:nvSpPr>
              <p:cNvPr id="9" name="Freeform 9"/>
              <p:cNvSpPr/>
              <p:nvPr/>
            </p:nvSpPr>
            <p:spPr>
              <a:xfrm>
                <a:off x="792131" y="1844675"/>
                <a:ext cx="141812" cy="129270"/>
              </a:xfrm>
              <a:custGeom>
                <a:avLst/>
                <a:gdLst/>
                <a:ahLst/>
                <a:cxnLst/>
                <a:rect l="l" t="t" r="r" b="b"/>
                <a:pathLst>
                  <a:path w="141812" h="129270">
                    <a:moveTo>
                      <a:pt x="107410" y="0"/>
                    </a:moveTo>
                    <a:cubicBezTo>
                      <a:pt x="80534" y="2270"/>
                      <a:pt x="56404" y="8255"/>
                      <a:pt x="35020" y="17907"/>
                    </a:cubicBezTo>
                    <a:cubicBezTo>
                      <a:pt x="10859" y="27797"/>
                      <a:pt x="0" y="52086"/>
                      <a:pt x="21495" y="89313"/>
                    </a:cubicBezTo>
                    <a:cubicBezTo>
                      <a:pt x="42990" y="126540"/>
                      <a:pt x="69437" y="129270"/>
                      <a:pt x="90091" y="113316"/>
                    </a:cubicBezTo>
                    <a:cubicBezTo>
                      <a:pt x="109141" y="99616"/>
                      <a:pt x="126397" y="81709"/>
                      <a:pt x="141812" y="59563"/>
                    </a:cubicBezTo>
                  </a:path>
                </a:pathLst>
              </a:custGeom>
              <a:noFill/>
              <a:ln w="31750">
                <a:solidFill>
                  <a:srgbClr val="C81E1E"/>
                </a:solidFill>
              </a:ln>
            </p:spPr>
          </p:sp>
          <p:sp>
            <p:nvSpPr>
              <p:cNvPr id="10" name="Freeform 10"/>
              <p:cNvSpPr/>
              <p:nvPr/>
            </p:nvSpPr>
            <p:spPr>
              <a:xfrm>
                <a:off x="809625" y="1685925"/>
                <a:ext cx="285751" cy="285751"/>
              </a:xfrm>
              <a:custGeom>
                <a:avLst/>
                <a:gdLst/>
                <a:ahLst/>
                <a:cxnLst/>
                <a:rect l="l" t="t" r="r" b="b"/>
                <a:pathLst>
                  <a:path w="285751" h="285751">
                    <a:moveTo>
                      <a:pt x="0" y="0"/>
                    </a:moveTo>
                    <a:lnTo>
                      <a:pt x="285751" y="285751"/>
                    </a:lnTo>
                  </a:path>
                </a:pathLst>
              </a:custGeom>
              <a:noFill/>
              <a:ln w="31750">
                <a:solidFill>
                  <a:srgbClr val="C81E1E"/>
                </a:solidFill>
              </a:ln>
            </p:spPr>
          </p:sp>
        </p:grpSp>
        <p:sp>
          <p:nvSpPr>
            <p:cNvPr id="12" name="TextBox 12"/>
            <p:cNvSpPr txBox="1"/>
            <p:nvPr/>
          </p:nvSpPr>
          <p:spPr>
            <a:xfrm>
              <a:off x="1399794" y="1568450"/>
              <a:ext cx="3221881"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1 · Props off on the bench</a:t>
              </a:r>
            </a:p>
          </p:txBody>
        </p:sp>
        <p:sp>
          <p:nvSpPr>
            <p:cNvPr id="13" name="TextBox 13"/>
            <p:cNvSpPr txBox="1"/>
            <p:nvPr/>
          </p:nvSpPr>
          <p:spPr>
            <a:xfrm>
              <a:off x="1402080" y="1930400"/>
              <a:ext cx="3267399"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Never power motors with props fitted.</a:t>
              </a:r>
              <a:br>
                <a:rPr lang="en" sz="1500" dirty="0">
                  <a:solidFill>
                    <a:srgbClr val="4A5A6E"/>
                  </a:solidFill>
                  <a:latin typeface="+mn-lt"/>
                  <a:ea typeface="+mn-ea"/>
                  <a:cs typeface="+mn-cs"/>
                </a:rPr>
              </a:br>
              <a:r>
                <a:rPr lang="en" sz="1500" dirty="0">
                  <a:solidFill>
                    <a:srgbClr val="4A5A6E"/>
                  </a:solidFill>
                  <a:latin typeface="+mn-lt"/>
                  <a:ea typeface="+mn-ea"/>
                  <a:cs typeface="+mn-cs"/>
                </a:rPr>
                <a:t>A surprise spin-up cuts in milliseconds.</a:t>
              </a:r>
            </a:p>
          </p:txBody>
        </p:sp>
      </p:grpSp>
      <p:grpSp>
        <p:nvGrpSpPr>
          <p:cNvPr id="27" name="rule-fuse"/>
          <p:cNvGrpSpPr/>
          <p:nvPr/>
        </p:nvGrpSpPr>
        <p:grpSpPr>
          <a:xfrm>
            <a:off x="666750" y="2724150"/>
            <a:ext cx="5229749" cy="947420"/>
            <a:chOff x="666750" y="2724150"/>
            <a:chExt cx="5229749" cy="947420"/>
          </a:xfrm>
        </p:grpSpPr>
        <p:sp>
          <p:nvSpPr>
            <p:cNvPr id="15" name="Ellipse 15"/>
            <p:cNvSpPr/>
            <p:nvPr/>
          </p:nvSpPr>
          <p:spPr>
            <a:xfrm>
              <a:off x="666750" y="2724150"/>
              <a:ext cx="571500" cy="571500"/>
            </a:xfrm>
            <a:prstGeom prst="ellipse">
              <a:avLst/>
            </a:prstGeom>
            <a:solidFill>
              <a:srgbClr val="FFF3EA"/>
            </a:solidFill>
            <a:ln>
              <a:noFill/>
            </a:ln>
          </p:spPr>
        </p:sp>
        <p:grpSp>
          <p:nvGrpSpPr>
            <p:cNvPr id="24" name="Group 24"/>
            <p:cNvGrpSpPr/>
            <p:nvPr/>
          </p:nvGrpSpPr>
          <p:grpSpPr>
            <a:xfrm>
              <a:off x="809625" y="2867025"/>
              <a:ext cx="285751" cy="285751"/>
              <a:chOff x="809625" y="2867025"/>
              <a:chExt cx="285751" cy="285751"/>
            </a:xfrm>
          </p:grpSpPr>
          <p:sp>
            <p:nvSpPr>
              <p:cNvPr id="16" name="Freeform 16"/>
              <p:cNvSpPr/>
              <p:nvPr/>
            </p:nvSpPr>
            <p:spPr>
              <a:xfrm>
                <a:off x="1016001" y="3073401"/>
                <a:ext cx="63500" cy="63500"/>
              </a:xfrm>
              <a:custGeom>
                <a:avLst/>
                <a:gdLst/>
                <a:ahLst/>
                <a:cxnLst/>
                <a:rect l="l" t="t" r="r" b="b"/>
                <a:pathLst>
                  <a:path w="63500" h="63500">
                    <a:moveTo>
                      <a:pt x="63500" y="0"/>
                    </a:moveTo>
                    <a:lnTo>
                      <a:pt x="0" y="63500"/>
                    </a:lnTo>
                  </a:path>
                </a:pathLst>
              </a:custGeom>
              <a:noFill/>
              <a:ln w="31750">
                <a:solidFill>
                  <a:srgbClr val="C2410C"/>
                </a:solidFill>
              </a:ln>
            </p:spPr>
          </p:sp>
          <p:sp>
            <p:nvSpPr>
              <p:cNvPr id="17" name="Freeform 17"/>
              <p:cNvSpPr/>
              <p:nvPr/>
            </p:nvSpPr>
            <p:spPr>
              <a:xfrm>
                <a:off x="828916" y="3009900"/>
                <a:ext cx="123585" cy="123585"/>
              </a:xfrm>
              <a:custGeom>
                <a:avLst/>
                <a:gdLst/>
                <a:ahLst/>
                <a:cxnLst/>
                <a:rect l="l" t="t" r="r" b="b"/>
                <a:pathLst>
                  <a:path w="123585" h="123585">
                    <a:moveTo>
                      <a:pt x="44209" y="0"/>
                    </a:moveTo>
                    <a:lnTo>
                      <a:pt x="123585" y="79375"/>
                    </a:lnTo>
                    <a:lnTo>
                      <a:pt x="99772" y="103188"/>
                    </a:lnTo>
                    <a:cubicBezTo>
                      <a:pt x="85672" y="117753"/>
                      <a:pt x="64814" y="123585"/>
                      <a:pt x="45205" y="118444"/>
                    </a:cubicBezTo>
                    <a:cubicBezTo>
                      <a:pt x="25596" y="113303"/>
                      <a:pt x="10281" y="97989"/>
                      <a:pt x="5141" y="78379"/>
                    </a:cubicBezTo>
                    <a:cubicBezTo>
                      <a:pt x="0" y="58770"/>
                      <a:pt x="5831" y="37912"/>
                      <a:pt x="20397" y="23813"/>
                    </a:cubicBezTo>
                    <a:lnTo>
                      <a:pt x="44209" y="0"/>
                    </a:lnTo>
                  </a:path>
                </a:pathLst>
              </a:custGeom>
              <a:noFill/>
              <a:ln w="31750">
                <a:solidFill>
                  <a:srgbClr val="C2410C"/>
                </a:solidFill>
              </a:ln>
            </p:spPr>
          </p:sp>
          <p:sp>
            <p:nvSpPr>
              <p:cNvPr id="18" name="Freeform 18"/>
              <p:cNvSpPr/>
              <p:nvPr/>
            </p:nvSpPr>
            <p:spPr>
              <a:xfrm>
                <a:off x="952500" y="2886316"/>
                <a:ext cx="123585" cy="123585"/>
              </a:xfrm>
              <a:custGeom>
                <a:avLst/>
                <a:gdLst/>
                <a:ahLst/>
                <a:cxnLst/>
                <a:rect l="l" t="t" r="r" b="b"/>
                <a:pathLst>
                  <a:path w="123585" h="123585">
                    <a:moveTo>
                      <a:pt x="79375" y="123585"/>
                    </a:moveTo>
                    <a:lnTo>
                      <a:pt x="0" y="44209"/>
                    </a:lnTo>
                    <a:lnTo>
                      <a:pt x="23813" y="20397"/>
                    </a:lnTo>
                    <a:cubicBezTo>
                      <a:pt x="37912" y="5831"/>
                      <a:pt x="58770" y="0"/>
                      <a:pt x="78379" y="5141"/>
                    </a:cubicBezTo>
                    <a:cubicBezTo>
                      <a:pt x="97989" y="10281"/>
                      <a:pt x="113303" y="25596"/>
                      <a:pt x="118444" y="45205"/>
                    </a:cubicBezTo>
                    <a:cubicBezTo>
                      <a:pt x="123585" y="64814"/>
                      <a:pt x="117753" y="85672"/>
                      <a:pt x="103188" y="99772"/>
                    </a:cubicBezTo>
                    <a:lnTo>
                      <a:pt x="79375" y="123585"/>
                    </a:lnTo>
                  </a:path>
                </a:pathLst>
              </a:custGeom>
              <a:noFill/>
              <a:ln w="31750">
                <a:solidFill>
                  <a:srgbClr val="C2410C"/>
                </a:solidFill>
              </a:ln>
            </p:spPr>
          </p:sp>
          <p:sp>
            <p:nvSpPr>
              <p:cNvPr id="19" name="Freeform 19"/>
              <p:cNvSpPr/>
              <p:nvPr/>
            </p:nvSpPr>
            <p:spPr>
              <a:xfrm>
                <a:off x="809625" y="3113088"/>
                <a:ext cx="39688" cy="39688"/>
              </a:xfrm>
              <a:custGeom>
                <a:avLst/>
                <a:gdLst/>
                <a:ahLst/>
                <a:cxnLst/>
                <a:rect l="l" t="t" r="r" b="b"/>
                <a:pathLst>
                  <a:path w="39688" h="39688">
                    <a:moveTo>
                      <a:pt x="0" y="39688"/>
                    </a:moveTo>
                    <a:lnTo>
                      <a:pt x="39688" y="0"/>
                    </a:lnTo>
                  </a:path>
                </a:pathLst>
              </a:custGeom>
              <a:noFill/>
              <a:ln w="31750">
                <a:solidFill>
                  <a:srgbClr val="C2410C"/>
                </a:solidFill>
              </a:ln>
            </p:spPr>
          </p:sp>
          <p:sp>
            <p:nvSpPr>
              <p:cNvPr id="20" name="Freeform 20"/>
              <p:cNvSpPr/>
              <p:nvPr/>
            </p:nvSpPr>
            <p:spPr>
              <a:xfrm>
                <a:off x="1055688" y="2867025"/>
                <a:ext cx="39688" cy="39688"/>
              </a:xfrm>
              <a:custGeom>
                <a:avLst/>
                <a:gdLst/>
                <a:ahLst/>
                <a:cxnLst/>
                <a:rect l="l" t="t" r="r" b="b"/>
                <a:pathLst>
                  <a:path w="39688" h="39688">
                    <a:moveTo>
                      <a:pt x="0" y="39688"/>
                    </a:moveTo>
                    <a:lnTo>
                      <a:pt x="39688" y="0"/>
                    </a:lnTo>
                  </a:path>
                </a:pathLst>
              </a:custGeom>
              <a:noFill/>
              <a:ln w="31750">
                <a:solidFill>
                  <a:srgbClr val="C2410C"/>
                </a:solidFill>
              </a:ln>
            </p:spPr>
          </p:sp>
          <p:sp>
            <p:nvSpPr>
              <p:cNvPr id="21" name="Freeform 21"/>
              <p:cNvSpPr/>
              <p:nvPr/>
            </p:nvSpPr>
            <p:spPr>
              <a:xfrm>
                <a:off x="889000" y="2994025"/>
                <a:ext cx="31750" cy="31750"/>
              </a:xfrm>
              <a:custGeom>
                <a:avLst/>
                <a:gdLst/>
                <a:ahLst/>
                <a:cxnLst/>
                <a:rect l="l" t="t" r="r" b="b"/>
                <a:pathLst>
                  <a:path w="31750" h="31750">
                    <a:moveTo>
                      <a:pt x="31750" y="0"/>
                    </a:moveTo>
                    <a:lnTo>
                      <a:pt x="0" y="31750"/>
                    </a:lnTo>
                  </a:path>
                </a:pathLst>
              </a:custGeom>
              <a:noFill/>
              <a:ln w="31750">
                <a:solidFill>
                  <a:srgbClr val="C2410C"/>
                </a:solidFill>
              </a:ln>
            </p:spPr>
          </p:sp>
          <p:sp>
            <p:nvSpPr>
              <p:cNvPr id="22" name="Freeform 22"/>
              <p:cNvSpPr/>
              <p:nvPr/>
            </p:nvSpPr>
            <p:spPr>
              <a:xfrm>
                <a:off x="936625" y="3041650"/>
                <a:ext cx="31750" cy="31750"/>
              </a:xfrm>
              <a:custGeom>
                <a:avLst/>
                <a:gdLst/>
                <a:ahLst/>
                <a:cxnLst/>
                <a:rect l="l" t="t" r="r" b="b"/>
                <a:pathLst>
                  <a:path w="31750" h="31750">
                    <a:moveTo>
                      <a:pt x="31750" y="0"/>
                    </a:moveTo>
                    <a:lnTo>
                      <a:pt x="0" y="31750"/>
                    </a:lnTo>
                  </a:path>
                </a:pathLst>
              </a:custGeom>
              <a:noFill/>
              <a:ln w="31750">
                <a:solidFill>
                  <a:srgbClr val="C2410C"/>
                </a:solidFill>
              </a:ln>
            </p:spPr>
          </p:sp>
          <p:sp>
            <p:nvSpPr>
              <p:cNvPr id="23" name="Freeform 23"/>
              <p:cNvSpPr/>
              <p:nvPr/>
            </p:nvSpPr>
            <p:spPr>
              <a:xfrm>
                <a:off x="1016001" y="3073401"/>
                <a:ext cx="63500" cy="63500"/>
              </a:xfrm>
              <a:custGeom>
                <a:avLst/>
                <a:gdLst/>
                <a:ahLst/>
                <a:cxnLst/>
                <a:rect l="l" t="t" r="r" b="b"/>
                <a:pathLst>
                  <a:path w="63500" h="63500">
                    <a:moveTo>
                      <a:pt x="0" y="0"/>
                    </a:moveTo>
                    <a:lnTo>
                      <a:pt x="63500" y="63500"/>
                    </a:lnTo>
                  </a:path>
                </a:pathLst>
              </a:custGeom>
              <a:noFill/>
              <a:ln w="31750">
                <a:solidFill>
                  <a:srgbClr val="C2410C"/>
                </a:solidFill>
              </a:ln>
            </p:spPr>
          </p:sp>
        </p:grpSp>
        <p:sp>
          <p:nvSpPr>
            <p:cNvPr id="25" name="TextBox 25"/>
            <p:cNvSpPr txBox="1"/>
            <p:nvPr/>
          </p:nvSpPr>
          <p:spPr>
            <a:xfrm>
              <a:off x="1399794" y="2749550"/>
              <a:ext cx="4496705"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2 · Smoke stopper on first power-up</a:t>
              </a:r>
            </a:p>
          </p:txBody>
        </p:sp>
        <p:sp>
          <p:nvSpPr>
            <p:cNvPr id="26" name="TextBox 26"/>
            <p:cNvSpPr txBox="1"/>
            <p:nvPr/>
          </p:nvSpPr>
          <p:spPr>
            <a:xfrm>
              <a:off x="1402080" y="3111500"/>
              <a:ext cx="3325768"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A resettable fuse in the battery lead</a:t>
              </a:r>
              <a:br>
                <a:rPr lang="en" sz="1500" dirty="0">
                  <a:solidFill>
                    <a:srgbClr val="4A5A6E"/>
                  </a:solidFill>
                  <a:latin typeface="+mn-lt"/>
                  <a:ea typeface="+mn-ea"/>
                  <a:cs typeface="+mn-cs"/>
                </a:rPr>
              </a:br>
              <a:r>
                <a:rPr lang="en" sz="1500" dirty="0">
                  <a:solidFill>
                    <a:srgbClr val="4A5A6E"/>
                  </a:solidFill>
                  <a:latin typeface="+mn-lt"/>
                  <a:ea typeface="+mn-ea"/>
                  <a:cs typeface="+mn-cs"/>
                </a:rPr>
                <a:t>trips before a short can burn the board.</a:t>
              </a:r>
            </a:p>
          </p:txBody>
        </p:sp>
      </p:grpSp>
      <p:grpSp>
        <p:nvGrpSpPr>
          <p:cNvPr id="36" name="rule-short"/>
          <p:cNvGrpSpPr/>
          <p:nvPr/>
        </p:nvGrpSpPr>
        <p:grpSpPr>
          <a:xfrm>
            <a:off x="666750" y="3905250"/>
            <a:ext cx="4243464" cy="947420"/>
            <a:chOff x="666750" y="3905250"/>
            <a:chExt cx="4243464" cy="947420"/>
          </a:xfrm>
        </p:grpSpPr>
        <p:sp>
          <p:nvSpPr>
            <p:cNvPr id="28" name="Ellipse 28"/>
            <p:cNvSpPr/>
            <p:nvPr/>
          </p:nvSpPr>
          <p:spPr>
            <a:xfrm>
              <a:off x="666750" y="3905250"/>
              <a:ext cx="571500" cy="571500"/>
            </a:xfrm>
            <a:prstGeom prst="ellipse">
              <a:avLst/>
            </a:prstGeom>
            <a:solidFill>
              <a:srgbClr val="F3F6F9"/>
            </a:solidFill>
            <a:ln>
              <a:noFill/>
            </a:ln>
          </p:spPr>
        </p:sp>
        <p:grpSp>
          <p:nvGrpSpPr>
            <p:cNvPr id="33" name="Group 33"/>
            <p:cNvGrpSpPr/>
            <p:nvPr/>
          </p:nvGrpSpPr>
          <p:grpSpPr>
            <a:xfrm>
              <a:off x="793750" y="4079875"/>
              <a:ext cx="317501" cy="222250"/>
              <a:chOff x="793750" y="4079875"/>
              <a:chExt cx="317501" cy="222250"/>
            </a:xfrm>
          </p:grpSpPr>
          <p:sp>
            <p:nvSpPr>
              <p:cNvPr id="29" name="Freeform 29"/>
              <p:cNvSpPr/>
              <p:nvPr/>
            </p:nvSpPr>
            <p:spPr>
              <a:xfrm>
                <a:off x="841375" y="4079875"/>
                <a:ext cx="222250" cy="222250"/>
              </a:xfrm>
              <a:custGeom>
                <a:avLst/>
                <a:gdLst/>
                <a:ahLst/>
                <a:cxnLst/>
                <a:rect l="l" t="t" r="r" b="b"/>
                <a:pathLst>
                  <a:path w="222250" h="222250">
                    <a:moveTo>
                      <a:pt x="0" y="111125"/>
                    </a:moveTo>
                    <a:cubicBezTo>
                      <a:pt x="0" y="172498"/>
                      <a:pt x="49752" y="222250"/>
                      <a:pt x="111125" y="222250"/>
                    </a:cubicBezTo>
                    <a:cubicBezTo>
                      <a:pt x="172498" y="222250"/>
                      <a:pt x="222250" y="172498"/>
                      <a:pt x="222250" y="111125"/>
                    </a:cubicBezTo>
                    <a:cubicBezTo>
                      <a:pt x="222250" y="49752"/>
                      <a:pt x="172498" y="0"/>
                      <a:pt x="111125" y="0"/>
                    </a:cubicBezTo>
                    <a:cubicBezTo>
                      <a:pt x="49752" y="0"/>
                      <a:pt x="0" y="49752"/>
                      <a:pt x="0" y="111125"/>
                    </a:cubicBezTo>
                  </a:path>
                </a:pathLst>
              </a:custGeom>
              <a:noFill/>
              <a:ln w="31750">
                <a:solidFill>
                  <a:srgbClr val="0E2A47"/>
                </a:solidFill>
              </a:ln>
            </p:spPr>
          </p:sp>
          <p:sp>
            <p:nvSpPr>
              <p:cNvPr id="30" name="Freeform 30"/>
              <p:cNvSpPr/>
              <p:nvPr/>
            </p:nvSpPr>
            <p:spPr>
              <a:xfrm>
                <a:off x="793750" y="4191000"/>
                <a:ext cx="47625" cy="9525"/>
              </a:xfrm>
              <a:custGeom>
                <a:avLst/>
                <a:gdLst/>
                <a:ahLst/>
                <a:cxnLst/>
                <a:rect l="l" t="t" r="r" b="b"/>
                <a:pathLst>
                  <a:path w="47625" h="9525">
                    <a:moveTo>
                      <a:pt x="47625" y="0"/>
                    </a:moveTo>
                    <a:lnTo>
                      <a:pt x="0" y="0"/>
                    </a:lnTo>
                  </a:path>
                </a:pathLst>
              </a:custGeom>
              <a:noFill/>
              <a:ln w="31750">
                <a:solidFill>
                  <a:srgbClr val="0E2A47"/>
                </a:solidFill>
              </a:ln>
            </p:spPr>
          </p:sp>
          <p:sp>
            <p:nvSpPr>
              <p:cNvPr id="31" name="Freeform 31"/>
              <p:cNvSpPr/>
              <p:nvPr/>
            </p:nvSpPr>
            <p:spPr>
              <a:xfrm>
                <a:off x="1063626" y="4191000"/>
                <a:ext cx="47625" cy="9525"/>
              </a:xfrm>
              <a:custGeom>
                <a:avLst/>
                <a:gdLst/>
                <a:ahLst/>
                <a:cxnLst/>
                <a:rect l="l" t="t" r="r" b="b"/>
                <a:pathLst>
                  <a:path w="47625" h="9525">
                    <a:moveTo>
                      <a:pt x="0" y="0"/>
                    </a:moveTo>
                    <a:lnTo>
                      <a:pt x="47625" y="0"/>
                    </a:lnTo>
                  </a:path>
                </a:pathLst>
              </a:custGeom>
              <a:noFill/>
              <a:ln w="31750">
                <a:solidFill>
                  <a:srgbClr val="0E2A47"/>
                </a:solidFill>
              </a:ln>
            </p:spPr>
          </p:sp>
          <p:sp>
            <p:nvSpPr>
              <p:cNvPr id="32" name="Freeform 32"/>
              <p:cNvSpPr/>
              <p:nvPr/>
            </p:nvSpPr>
            <p:spPr>
              <a:xfrm>
                <a:off x="920750" y="4159250"/>
                <a:ext cx="63500" cy="63500"/>
              </a:xfrm>
              <a:custGeom>
                <a:avLst/>
                <a:gdLst/>
                <a:ahLst/>
                <a:cxnLst/>
                <a:rect l="l" t="t" r="r" b="b"/>
                <a:pathLst>
                  <a:path w="63500" h="63500">
                    <a:moveTo>
                      <a:pt x="0" y="0"/>
                    </a:moveTo>
                    <a:lnTo>
                      <a:pt x="31750" y="63500"/>
                    </a:lnTo>
                    <a:lnTo>
                      <a:pt x="63500" y="0"/>
                    </a:lnTo>
                  </a:path>
                </a:pathLst>
              </a:custGeom>
              <a:noFill/>
              <a:ln w="31750">
                <a:solidFill>
                  <a:srgbClr val="0E2A47"/>
                </a:solidFill>
              </a:ln>
            </p:spPr>
          </p:sp>
        </p:grpSp>
        <p:sp>
          <p:nvSpPr>
            <p:cNvPr id="34" name="TextBox 34"/>
            <p:cNvSpPr txBox="1"/>
            <p:nvPr/>
          </p:nvSpPr>
          <p:spPr>
            <a:xfrm>
              <a:off x="1399794" y="3930650"/>
              <a:ext cx="2968487"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3 · Check for shorts first</a:t>
              </a:r>
            </a:p>
          </p:txBody>
        </p:sp>
        <p:sp>
          <p:nvSpPr>
            <p:cNvPr id="35" name="TextBox 35"/>
            <p:cNvSpPr txBox="1"/>
            <p:nvPr/>
          </p:nvSpPr>
          <p:spPr>
            <a:xfrm>
              <a:off x="1402080" y="4292600"/>
              <a:ext cx="3508134"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Multimeter across VBAT and GND before</a:t>
              </a:r>
              <a:br>
                <a:rPr lang="en" sz="1500" dirty="0">
                  <a:solidFill>
                    <a:srgbClr val="4A5A6E"/>
                  </a:solidFill>
                  <a:latin typeface="+mn-lt"/>
                  <a:ea typeface="+mn-ea"/>
                  <a:cs typeface="+mn-cs"/>
                </a:rPr>
              </a:br>
              <a:r>
                <a:rPr lang="en" sz="1500" dirty="0">
                  <a:solidFill>
                    <a:srgbClr val="4A5A6E"/>
                  </a:solidFill>
                  <a:latin typeface="+mn-lt"/>
                  <a:ea typeface="+mn-ea"/>
                  <a:cs typeface="+mn-cs"/>
                </a:rPr>
                <a:t>the battery goes in: no near-zero reading.</a:t>
              </a:r>
            </a:p>
          </p:txBody>
        </p:sp>
      </p:grpSp>
      <p:grpSp>
        <p:nvGrpSpPr>
          <p:cNvPr id="47" name="rule-failsafe"/>
          <p:cNvGrpSpPr/>
          <p:nvPr/>
        </p:nvGrpSpPr>
        <p:grpSpPr>
          <a:xfrm>
            <a:off x="666750" y="5086350"/>
            <a:ext cx="3810895" cy="947420"/>
            <a:chOff x="666750" y="5086350"/>
            <a:chExt cx="3810895" cy="947420"/>
          </a:xfrm>
        </p:grpSpPr>
        <p:sp>
          <p:nvSpPr>
            <p:cNvPr id="37" name="Ellipse 37"/>
            <p:cNvSpPr/>
            <p:nvPr/>
          </p:nvSpPr>
          <p:spPr>
            <a:xfrm>
              <a:off x="666750" y="5086350"/>
              <a:ext cx="571500" cy="571500"/>
            </a:xfrm>
            <a:prstGeom prst="ellipse">
              <a:avLst/>
            </a:prstGeom>
            <a:solidFill>
              <a:srgbClr val="E9F4F3"/>
            </a:solidFill>
            <a:ln>
              <a:noFill/>
            </a:ln>
          </p:spPr>
        </p:sp>
        <p:grpSp>
          <p:nvGrpSpPr>
            <p:cNvPr id="44" name="Group 44"/>
            <p:cNvGrpSpPr/>
            <p:nvPr/>
          </p:nvGrpSpPr>
          <p:grpSpPr>
            <a:xfrm>
              <a:off x="825500" y="5245100"/>
              <a:ext cx="263526" cy="269876"/>
              <a:chOff x="825500" y="5245100"/>
              <a:chExt cx="263526" cy="269876"/>
            </a:xfrm>
          </p:grpSpPr>
          <p:sp>
            <p:nvSpPr>
              <p:cNvPr id="38" name="Freeform 38"/>
              <p:cNvSpPr/>
              <p:nvPr/>
            </p:nvSpPr>
            <p:spPr>
              <a:xfrm>
                <a:off x="1079501" y="5245100"/>
                <a:ext cx="9525" cy="127000"/>
              </a:xfrm>
              <a:custGeom>
                <a:avLst/>
                <a:gdLst/>
                <a:ahLst/>
                <a:cxnLst/>
                <a:rect l="l" t="t" r="r" b="b"/>
                <a:pathLst>
                  <a:path w="9525" h="127000">
                    <a:moveTo>
                      <a:pt x="0" y="0"/>
                    </a:moveTo>
                    <a:lnTo>
                      <a:pt x="0" y="127000"/>
                    </a:lnTo>
                  </a:path>
                </a:pathLst>
              </a:custGeom>
              <a:noFill/>
              <a:ln w="31750">
                <a:solidFill>
                  <a:srgbClr val="0B7A75"/>
                </a:solidFill>
              </a:ln>
            </p:spPr>
          </p:sp>
          <p:sp>
            <p:nvSpPr>
              <p:cNvPr id="39" name="Freeform 39"/>
              <p:cNvSpPr/>
              <p:nvPr/>
            </p:nvSpPr>
            <p:spPr>
              <a:xfrm>
                <a:off x="1016001" y="5253038"/>
                <a:ext cx="9525" cy="111125"/>
              </a:xfrm>
              <a:custGeom>
                <a:avLst/>
                <a:gdLst/>
                <a:ahLst/>
                <a:cxnLst/>
                <a:rect l="l" t="t" r="r" b="b"/>
                <a:pathLst>
                  <a:path w="9525" h="111125">
                    <a:moveTo>
                      <a:pt x="0" y="0"/>
                    </a:moveTo>
                    <a:lnTo>
                      <a:pt x="0" y="111125"/>
                    </a:lnTo>
                  </a:path>
                </a:pathLst>
              </a:custGeom>
              <a:noFill/>
              <a:ln w="31750">
                <a:solidFill>
                  <a:srgbClr val="0B7A75"/>
                </a:solidFill>
              </a:ln>
            </p:spPr>
          </p:sp>
          <p:sp>
            <p:nvSpPr>
              <p:cNvPr id="40" name="Freeform 40"/>
              <p:cNvSpPr/>
              <p:nvPr/>
            </p:nvSpPr>
            <p:spPr>
              <a:xfrm>
                <a:off x="952500" y="5260975"/>
                <a:ext cx="9525" cy="254001"/>
              </a:xfrm>
              <a:custGeom>
                <a:avLst/>
                <a:gdLst/>
                <a:ahLst/>
                <a:cxnLst/>
                <a:rect l="l" t="t" r="r" b="b"/>
                <a:pathLst>
                  <a:path w="9525" h="254001">
                    <a:moveTo>
                      <a:pt x="0" y="0"/>
                    </a:moveTo>
                    <a:lnTo>
                      <a:pt x="0" y="254001"/>
                    </a:lnTo>
                  </a:path>
                </a:pathLst>
              </a:custGeom>
              <a:noFill/>
              <a:ln w="31750">
                <a:solidFill>
                  <a:srgbClr val="0B7A75"/>
                </a:solidFill>
              </a:ln>
            </p:spPr>
          </p:sp>
          <p:sp>
            <p:nvSpPr>
              <p:cNvPr id="41" name="Freeform 41"/>
              <p:cNvSpPr/>
              <p:nvPr/>
            </p:nvSpPr>
            <p:spPr>
              <a:xfrm>
                <a:off x="889000" y="5268913"/>
                <a:ext cx="9525" cy="79375"/>
              </a:xfrm>
              <a:custGeom>
                <a:avLst/>
                <a:gdLst/>
                <a:ahLst/>
                <a:cxnLst/>
                <a:rect l="l" t="t" r="r" b="b"/>
                <a:pathLst>
                  <a:path w="9525" h="79375">
                    <a:moveTo>
                      <a:pt x="0" y="0"/>
                    </a:moveTo>
                    <a:lnTo>
                      <a:pt x="0" y="79375"/>
                    </a:lnTo>
                  </a:path>
                </a:pathLst>
              </a:custGeom>
              <a:noFill/>
              <a:ln w="31750">
                <a:solidFill>
                  <a:srgbClr val="0B7A75"/>
                </a:solidFill>
              </a:ln>
            </p:spPr>
          </p:sp>
          <p:sp>
            <p:nvSpPr>
              <p:cNvPr id="42" name="Freeform 42"/>
              <p:cNvSpPr/>
              <p:nvPr/>
            </p:nvSpPr>
            <p:spPr>
              <a:xfrm>
                <a:off x="825500" y="5276850"/>
                <a:ext cx="9525" cy="63500"/>
              </a:xfrm>
              <a:custGeom>
                <a:avLst/>
                <a:gdLst/>
                <a:ahLst/>
                <a:cxnLst/>
                <a:rect l="l" t="t" r="r" b="b"/>
                <a:pathLst>
                  <a:path w="9525" h="63500">
                    <a:moveTo>
                      <a:pt x="0" y="0"/>
                    </a:moveTo>
                    <a:lnTo>
                      <a:pt x="0" y="63500"/>
                    </a:lnTo>
                  </a:path>
                </a:pathLst>
              </a:custGeom>
              <a:noFill/>
              <a:ln w="31750">
                <a:solidFill>
                  <a:srgbClr val="0B7A75"/>
                </a:solidFill>
              </a:ln>
            </p:spPr>
          </p:sp>
          <p:sp>
            <p:nvSpPr>
              <p:cNvPr id="43" name="Freeform 43"/>
              <p:cNvSpPr/>
              <p:nvPr/>
            </p:nvSpPr>
            <p:spPr>
              <a:xfrm>
                <a:off x="825500" y="5308600"/>
                <a:ext cx="254001" cy="9525"/>
              </a:xfrm>
              <a:custGeom>
                <a:avLst/>
                <a:gdLst/>
                <a:ahLst/>
                <a:cxnLst/>
                <a:rect l="l" t="t" r="r" b="b"/>
                <a:pathLst>
                  <a:path w="254001" h="9525">
                    <a:moveTo>
                      <a:pt x="254001" y="0"/>
                    </a:moveTo>
                    <a:lnTo>
                      <a:pt x="0" y="0"/>
                    </a:lnTo>
                  </a:path>
                </a:pathLst>
              </a:custGeom>
              <a:noFill/>
              <a:ln w="31750">
                <a:solidFill>
                  <a:srgbClr val="0B7A75"/>
                </a:solidFill>
              </a:ln>
            </p:spPr>
          </p:sp>
        </p:grpSp>
        <p:sp>
          <p:nvSpPr>
            <p:cNvPr id="45" name="TextBox 45"/>
            <p:cNvSpPr txBox="1"/>
            <p:nvPr/>
          </p:nvSpPr>
          <p:spPr>
            <a:xfrm>
              <a:off x="1399794" y="5111750"/>
              <a:ext cx="2346540"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4 · Test the failsafe</a:t>
              </a:r>
            </a:p>
          </p:txBody>
        </p:sp>
        <p:sp>
          <p:nvSpPr>
            <p:cNvPr id="46" name="TextBox 46"/>
            <p:cNvSpPr txBox="1"/>
            <p:nvPr/>
          </p:nvSpPr>
          <p:spPr>
            <a:xfrm>
              <a:off x="1402080" y="5473700"/>
              <a:ext cx="3075565"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4A5A6E"/>
                  </a:solidFill>
                  <a:latin typeface="+mn-lt"/>
                  <a:ea typeface="+mn-ea"/>
                  <a:cs typeface="+mn-cs"/>
                </a:rPr>
                <a:t>While disarmed, switch the radio off.</a:t>
              </a:r>
              <a:br>
                <a:rPr lang="en" sz="1500" dirty="0">
                  <a:solidFill>
                    <a:srgbClr val="4A5A6E"/>
                  </a:solidFill>
                  <a:latin typeface="+mn-lt"/>
                  <a:ea typeface="+mn-ea"/>
                  <a:cs typeface="+mn-cs"/>
                </a:rPr>
              </a:br>
              <a:r>
                <a:rPr lang="en" sz="1500" dirty="0">
                  <a:solidFill>
                    <a:srgbClr val="4A5A6E"/>
                  </a:solidFill>
                  <a:latin typeface="+mn-lt"/>
                  <a:ea typeface="+mn-ea"/>
                  <a:cs typeface="+mn-cs"/>
                </a:rPr>
                <a:t>The drone must stay disarmed.</a:t>
              </a:r>
            </a:p>
          </p:txBody>
        </p:sp>
      </p:grpSp>
      <p:grpSp>
        <p:nvGrpSpPr>
          <p:cNvPr id="65" name="firmware-guards"/>
          <p:cNvGrpSpPr/>
          <p:nvPr/>
        </p:nvGrpSpPr>
        <p:grpSpPr>
          <a:xfrm>
            <a:off x="6781800" y="1447800"/>
            <a:ext cx="4800600" cy="4648200"/>
            <a:chOff x="6781800" y="1447800"/>
            <a:chExt cx="4800600" cy="4648200"/>
          </a:xfrm>
        </p:grpSpPr>
        <p:sp>
          <p:nvSpPr>
            <p:cNvPr id="48" name="Rectangle 48"/>
            <p:cNvSpPr/>
            <p:nvPr/>
          </p:nvSpPr>
          <p:spPr>
            <a:xfrm>
              <a:off x="6781800" y="1447800"/>
              <a:ext cx="4800600" cy="4648200"/>
            </a:xfrm>
            <a:prstGeom prst="roundRect">
              <a:avLst>
                <a:gd name="adj" fmla="val 3279"/>
              </a:avLst>
            </a:prstGeom>
            <a:solidFill>
              <a:srgbClr val="0E2A47"/>
            </a:solidFill>
            <a:ln>
              <a:noFill/>
            </a:ln>
          </p:spPr>
        </p:sp>
        <p:grpSp>
          <p:nvGrpSpPr>
            <p:cNvPr id="52" name="Group 52"/>
            <p:cNvGrpSpPr/>
            <p:nvPr/>
          </p:nvGrpSpPr>
          <p:grpSpPr>
            <a:xfrm>
              <a:off x="7119938" y="1719262"/>
              <a:ext cx="200025" cy="257175"/>
              <a:chOff x="7119938" y="1719262"/>
              <a:chExt cx="200025" cy="257175"/>
            </a:xfrm>
          </p:grpSpPr>
          <p:sp>
            <p:nvSpPr>
              <p:cNvPr id="49" name="Freeform 49"/>
              <p:cNvSpPr/>
              <p:nvPr/>
            </p:nvSpPr>
            <p:spPr>
              <a:xfrm>
                <a:off x="7119938" y="1833562"/>
                <a:ext cx="200025" cy="142875"/>
              </a:xfrm>
              <a:custGeom>
                <a:avLst/>
                <a:gdLst/>
                <a:ahLst/>
                <a:cxnLst/>
                <a:rect l="l" t="t" r="r" b="b"/>
                <a:pathLst>
                  <a:path w="200025" h="142875">
                    <a:moveTo>
                      <a:pt x="0" y="28575"/>
                    </a:moveTo>
                    <a:cubicBezTo>
                      <a:pt x="0" y="12793"/>
                      <a:pt x="12793" y="0"/>
                      <a:pt x="28575" y="0"/>
                    </a:cubicBezTo>
                    <a:lnTo>
                      <a:pt x="171450" y="0"/>
                    </a:lnTo>
                    <a:cubicBezTo>
                      <a:pt x="187232" y="0"/>
                      <a:pt x="200025" y="12793"/>
                      <a:pt x="200025" y="28575"/>
                    </a:cubicBezTo>
                    <a:lnTo>
                      <a:pt x="200025" y="114300"/>
                    </a:lnTo>
                    <a:cubicBezTo>
                      <a:pt x="200025" y="130082"/>
                      <a:pt x="187232" y="142875"/>
                      <a:pt x="171450" y="142875"/>
                    </a:cubicBezTo>
                    <a:lnTo>
                      <a:pt x="28575" y="142875"/>
                    </a:lnTo>
                    <a:cubicBezTo>
                      <a:pt x="12793" y="142875"/>
                      <a:pt x="0" y="130082"/>
                      <a:pt x="0" y="114300"/>
                    </a:cubicBezTo>
                    <a:lnTo>
                      <a:pt x="0" y="28575"/>
                    </a:lnTo>
                  </a:path>
                </a:pathLst>
              </a:custGeom>
              <a:noFill/>
              <a:ln w="28575">
                <a:solidFill>
                  <a:srgbClr val="F7A072"/>
                </a:solidFill>
              </a:ln>
            </p:spPr>
          </p:sp>
          <p:sp>
            <p:nvSpPr>
              <p:cNvPr id="50" name="Freeform 50"/>
              <p:cNvSpPr/>
              <p:nvPr/>
            </p:nvSpPr>
            <p:spPr>
              <a:xfrm>
                <a:off x="7205662" y="18907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rgbClr val="F7A072"/>
                </a:solidFill>
              </a:ln>
            </p:spPr>
          </p:sp>
          <p:sp>
            <p:nvSpPr>
              <p:cNvPr id="51" name="Freeform 51"/>
              <p:cNvSpPr/>
              <p:nvPr/>
            </p:nvSpPr>
            <p:spPr>
              <a:xfrm>
                <a:off x="7162800" y="1719262"/>
                <a:ext cx="114300" cy="114300"/>
              </a:xfrm>
              <a:custGeom>
                <a:avLst/>
                <a:gdLst/>
                <a:ahLst/>
                <a:cxnLst/>
                <a:rect l="l" t="t" r="r" b="b"/>
                <a:pathLst>
                  <a:path w="114300" h="114300">
                    <a:moveTo>
                      <a:pt x="0" y="114300"/>
                    </a:moveTo>
                    <a:lnTo>
                      <a:pt x="0" y="57150"/>
                    </a:lnTo>
                    <a:cubicBezTo>
                      <a:pt x="0" y="25587"/>
                      <a:pt x="25587" y="0"/>
                      <a:pt x="57150" y="0"/>
                    </a:cubicBezTo>
                    <a:cubicBezTo>
                      <a:pt x="88713" y="0"/>
                      <a:pt x="114300" y="25587"/>
                      <a:pt x="114300" y="57150"/>
                    </a:cubicBezTo>
                    <a:lnTo>
                      <a:pt x="114300" y="114300"/>
                    </a:lnTo>
                  </a:path>
                </a:pathLst>
              </a:custGeom>
              <a:noFill/>
              <a:ln w="28575">
                <a:solidFill>
                  <a:srgbClr val="F7A072"/>
                </a:solidFill>
              </a:ln>
            </p:spPr>
          </p:sp>
        </p:grpSp>
        <p:sp>
          <p:nvSpPr>
            <p:cNvPr id="53" name="TextBox 53"/>
            <p:cNvSpPr txBox="1"/>
            <p:nvPr/>
          </p:nvSpPr>
          <p:spPr>
            <a:xfrm>
              <a:off x="7495794" y="1701800"/>
              <a:ext cx="3547202" cy="381381"/>
            </a:xfrm>
            <a:prstGeom prst="rect">
              <a:avLst/>
            </a:prstGeom>
            <a:noFill/>
            <a:ln>
              <a:noFill/>
            </a:ln>
          </p:spPr>
          <p:txBody>
            <a:bodyPr wrap="none" lIns="0" tIns="0" rIns="0" bIns="0" anchor="t" anchorCtr="0">
              <a:spAutoFit/>
            </a:bodyPr>
            <a:lstStyle/>
            <a:p>
              <a:pPr algn="l"/>
              <a:r>
                <a:rPr lang="en" sz="1950" b="1" dirty="0">
                  <a:solidFill>
                    <a:srgbClr val="FFFFFF"/>
                  </a:solidFill>
                  <a:latin typeface="+mn-lt"/>
                  <a:ea typeface="+mn-ea"/>
                  <a:cs typeface="+mn-cs"/>
                </a:rPr>
                <a:t>Our firmware enforces it too</a:t>
              </a:r>
            </a:p>
          </p:txBody>
        </p:sp>
        <p:grpSp>
          <p:nvGrpSpPr>
            <p:cNvPr id="59" name="Group 59"/>
            <p:cNvGrpSpPr/>
            <p:nvPr/>
          </p:nvGrpSpPr>
          <p:grpSpPr>
            <a:xfrm>
              <a:off x="7048500" y="2247900"/>
              <a:ext cx="4267200" cy="3133725"/>
              <a:chOff x="7048500" y="2247900"/>
              <a:chExt cx="4267200" cy="3133725"/>
            </a:xfrm>
          </p:grpSpPr>
          <p:sp>
            <p:nvSpPr>
              <p:cNvPr id="54" name="Line 54"/>
              <p:cNvSpPr/>
              <p:nvPr/>
            </p:nvSpPr>
            <p:spPr>
              <a:xfrm>
                <a:off x="7048500" y="2247900"/>
                <a:ext cx="4267200" cy="9525"/>
              </a:xfrm>
              <a:custGeom>
                <a:avLst/>
                <a:gdLst/>
                <a:ahLst/>
                <a:cxnLst/>
                <a:rect l="l" t="t" r="r" b="b"/>
                <a:pathLst>
                  <a:path w="4267200" h="9525">
                    <a:moveTo>
                      <a:pt x="0" y="0"/>
                    </a:moveTo>
                    <a:lnTo>
                      <a:pt x="4267200" y="0"/>
                    </a:lnTo>
                  </a:path>
                </a:pathLst>
              </a:custGeom>
              <a:noFill/>
              <a:ln w="9525">
                <a:solidFill>
                  <a:srgbClr val="2E4A68"/>
                </a:solidFill>
              </a:ln>
            </p:spPr>
          </p:sp>
          <p:sp>
            <p:nvSpPr>
              <p:cNvPr id="55" name="Line 55"/>
              <p:cNvSpPr/>
              <p:nvPr/>
            </p:nvSpPr>
            <p:spPr>
              <a:xfrm>
                <a:off x="7048500" y="3028950"/>
                <a:ext cx="4267200" cy="9525"/>
              </a:xfrm>
              <a:custGeom>
                <a:avLst/>
                <a:gdLst/>
                <a:ahLst/>
                <a:cxnLst/>
                <a:rect l="l" t="t" r="r" b="b"/>
                <a:pathLst>
                  <a:path w="4267200" h="9525">
                    <a:moveTo>
                      <a:pt x="0" y="0"/>
                    </a:moveTo>
                    <a:lnTo>
                      <a:pt x="4267200" y="0"/>
                    </a:lnTo>
                  </a:path>
                </a:pathLst>
              </a:custGeom>
              <a:noFill/>
              <a:ln w="9525">
                <a:solidFill>
                  <a:srgbClr val="2E4A68"/>
                </a:solidFill>
              </a:ln>
            </p:spPr>
          </p:sp>
          <p:sp>
            <p:nvSpPr>
              <p:cNvPr id="56" name="Line 56"/>
              <p:cNvSpPr/>
              <p:nvPr/>
            </p:nvSpPr>
            <p:spPr>
              <a:xfrm>
                <a:off x="7048500" y="3810000"/>
                <a:ext cx="4267200" cy="9525"/>
              </a:xfrm>
              <a:custGeom>
                <a:avLst/>
                <a:gdLst/>
                <a:ahLst/>
                <a:cxnLst/>
                <a:rect l="l" t="t" r="r" b="b"/>
                <a:pathLst>
                  <a:path w="4267200" h="9525">
                    <a:moveTo>
                      <a:pt x="0" y="0"/>
                    </a:moveTo>
                    <a:lnTo>
                      <a:pt x="4267200" y="0"/>
                    </a:lnTo>
                  </a:path>
                </a:pathLst>
              </a:custGeom>
              <a:noFill/>
              <a:ln w="9525">
                <a:solidFill>
                  <a:srgbClr val="2E4A68"/>
                </a:solidFill>
              </a:ln>
            </p:spPr>
          </p:sp>
          <p:sp>
            <p:nvSpPr>
              <p:cNvPr id="57" name="Line 57"/>
              <p:cNvSpPr/>
              <p:nvPr/>
            </p:nvSpPr>
            <p:spPr>
              <a:xfrm>
                <a:off x="7048500" y="4591050"/>
                <a:ext cx="4267200" cy="9525"/>
              </a:xfrm>
              <a:custGeom>
                <a:avLst/>
                <a:gdLst/>
                <a:ahLst/>
                <a:cxnLst/>
                <a:rect l="l" t="t" r="r" b="b"/>
                <a:pathLst>
                  <a:path w="4267200" h="9525">
                    <a:moveTo>
                      <a:pt x="0" y="0"/>
                    </a:moveTo>
                    <a:lnTo>
                      <a:pt x="4267200" y="0"/>
                    </a:lnTo>
                  </a:path>
                </a:pathLst>
              </a:custGeom>
              <a:noFill/>
              <a:ln w="9525">
                <a:solidFill>
                  <a:srgbClr val="2E4A68"/>
                </a:solidFill>
              </a:ln>
            </p:spPr>
          </p:sp>
          <p:sp>
            <p:nvSpPr>
              <p:cNvPr id="58" name="Line 58"/>
              <p:cNvSpPr/>
              <p:nvPr/>
            </p:nvSpPr>
            <p:spPr>
              <a:xfrm>
                <a:off x="7048500" y="5372100"/>
                <a:ext cx="4267200" cy="9525"/>
              </a:xfrm>
              <a:custGeom>
                <a:avLst/>
                <a:gdLst/>
                <a:ahLst/>
                <a:cxnLst/>
                <a:rect l="l" t="t" r="r" b="b"/>
                <a:pathLst>
                  <a:path w="4267200" h="9525">
                    <a:moveTo>
                      <a:pt x="0" y="0"/>
                    </a:moveTo>
                    <a:lnTo>
                      <a:pt x="4267200" y="0"/>
                    </a:lnTo>
                  </a:path>
                </a:pathLst>
              </a:custGeom>
              <a:noFill/>
              <a:ln w="9525">
                <a:solidFill>
                  <a:srgbClr val="2E4A68"/>
                </a:solidFill>
              </a:ln>
            </p:spPr>
          </p:sp>
        </p:grpSp>
        <p:sp>
          <p:nvSpPr>
            <p:cNvPr id="60" name="TextBox 60"/>
            <p:cNvSpPr txBox="1"/>
            <p:nvPr/>
          </p:nvSpPr>
          <p:spPr>
            <a:xfrm>
              <a:off x="7040880" y="2368550"/>
              <a:ext cx="3182988"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E6ECF2"/>
                  </a:solidFill>
                  <a:latin typeface="+mn-lt"/>
                  <a:ea typeface="+mn-ea"/>
                  <a:cs typeface="+mn-cs"/>
                </a:rPr>
                <a:t>Motor tests stay locked until you type</a:t>
              </a:r>
              <a:br>
                <a:rPr lang="en" sz="1500" dirty="0">
                  <a:solidFill>
                    <a:srgbClr val="E6ECF2"/>
                  </a:solidFill>
                  <a:latin typeface="+mn-lt"/>
                  <a:ea typeface="+mn-ea"/>
                  <a:cs typeface="+mn-cs"/>
                </a:rPr>
              </a:br>
              <a:r>
                <a:rPr lang="en" sz="1500" b="1" dirty="0">
                  <a:solidFill>
                    <a:srgbClr val="F7A072"/>
                  </a:solidFill>
                  <a:latin typeface="+mn-lt"/>
                  <a:ea typeface="+mn-ea"/>
                  <a:cs typeface="+mn-cs"/>
                </a:rPr>
                <a:t>props off</a:t>
              </a:r>
              <a:r>
                <a:rPr lang="en" sz="1500" dirty="0">
                  <a:solidFill>
                    <a:srgbClr val="E6ECF2"/>
                  </a:solidFill>
                  <a:latin typeface="+mn-lt"/>
                  <a:ea typeface="+mn-ea"/>
                  <a:cs typeface="+mn-cs"/>
                </a:rPr>
                <a:t> (unlock lasts 5 minutes)</a:t>
              </a:r>
            </a:p>
          </p:txBody>
        </p:sp>
        <p:sp>
          <p:nvSpPr>
            <p:cNvPr id="61" name="TextBox 61"/>
            <p:cNvSpPr txBox="1"/>
            <p:nvPr/>
          </p:nvSpPr>
          <p:spPr>
            <a:xfrm>
              <a:off x="7040880" y="3149600"/>
              <a:ext cx="2725255"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E6ECF2"/>
                  </a:solidFill>
                  <a:latin typeface="+mn-lt"/>
                  <a:ea typeface="+mn-ea"/>
                  <a:cs typeface="+mn-cs"/>
                </a:rPr>
                <a:t>Motor tests and setting changes</a:t>
              </a:r>
              <a:br>
                <a:rPr lang="en" sz="1500" dirty="0">
                  <a:solidFill>
                    <a:srgbClr val="E6ECF2"/>
                  </a:solidFill>
                  <a:latin typeface="+mn-lt"/>
                  <a:ea typeface="+mn-ea"/>
                  <a:cs typeface="+mn-cs"/>
                </a:rPr>
              </a:br>
              <a:r>
                <a:rPr lang="en" sz="1500" dirty="0">
                  <a:solidFill>
                    <a:srgbClr val="E6ECF2"/>
                  </a:solidFill>
                  <a:latin typeface="+mn-lt"/>
                  <a:ea typeface="+mn-ea"/>
                  <a:cs typeface="+mn-cs"/>
                </a:rPr>
                <a:t>run only while disarmed</a:t>
              </a:r>
            </a:p>
          </p:txBody>
        </p:sp>
        <p:sp>
          <p:nvSpPr>
            <p:cNvPr id="62" name="TextBox 62"/>
            <p:cNvSpPr txBox="1"/>
            <p:nvPr/>
          </p:nvSpPr>
          <p:spPr>
            <a:xfrm>
              <a:off x="7040880" y="3930650"/>
              <a:ext cx="3424828"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E6ECF2"/>
                  </a:solidFill>
                  <a:latin typeface="+mn-lt"/>
                  <a:ea typeface="+mn-ea"/>
                  <a:cs typeface="+mn-cs"/>
                </a:rPr>
                <a:t>No radio packet for </a:t>
              </a:r>
              <a:r>
                <a:rPr lang="en" sz="1500" b="1" dirty="0">
                  <a:solidFill>
                    <a:srgbClr val="F7A072"/>
                  </a:solidFill>
                  <a:latin typeface="+mn-lt"/>
                  <a:ea typeface="+mn-ea"/>
                  <a:cs typeface="+mn-cs"/>
                </a:rPr>
                <a:t>500 ms</a:t>
              </a:r>
              <a:r>
                <a:rPr lang="en" sz="1500" dirty="0">
                  <a:solidFill>
                    <a:srgbClr val="E6ECF2"/>
                  </a:solidFill>
                  <a:latin typeface="+mn-lt"/>
                  <a:ea typeface="+mn-ea"/>
                  <a:cs typeface="+mn-cs"/>
                </a:rPr>
                <a:t> while armed</a:t>
              </a:r>
              <a:br>
                <a:rPr lang="en" sz="1500" dirty="0">
                  <a:solidFill>
                    <a:srgbClr val="E6ECF2"/>
                  </a:solidFill>
                  <a:latin typeface="+mn-lt"/>
                  <a:ea typeface="+mn-ea"/>
                  <a:cs typeface="+mn-cs"/>
                </a:rPr>
              </a:br>
              <a:r>
                <a:rPr lang="en" sz="1500" dirty="0">
                  <a:solidFill>
                    <a:srgbClr val="E6ECF2"/>
                  </a:solidFill>
                  <a:latin typeface="+mn-lt"/>
                  <a:ea typeface="+mn-ea"/>
                  <a:cs typeface="+mn-cs"/>
                </a:rPr>
                <a:t>→ the drone disarms itself</a:t>
              </a:r>
            </a:p>
          </p:txBody>
        </p:sp>
        <p:sp>
          <p:nvSpPr>
            <p:cNvPr id="63" name="TextBox 63"/>
            <p:cNvSpPr txBox="1"/>
            <p:nvPr/>
          </p:nvSpPr>
          <p:spPr>
            <a:xfrm>
              <a:off x="7040880" y="4711700"/>
              <a:ext cx="2243404" cy="560070"/>
            </a:xfrm>
            <a:prstGeom prst="rect">
              <a:avLst/>
            </a:prstGeom>
            <a:noFill/>
            <a:ln>
              <a:noFill/>
            </a:ln>
          </p:spPr>
          <p:txBody>
            <a:bodyPr wrap="none" lIns="0" tIns="0" rIns="0" bIns="0" anchor="t" anchorCtr="0">
              <a:spAutoFit/>
            </a:bodyPr>
            <a:lstStyle/>
            <a:p>
              <a:pPr algn="l">
                <a:lnSpc>
                  <a:spcPts val="2100"/>
                </a:lnSpc>
              </a:pPr>
              <a:r>
                <a:rPr lang="en" sz="1500" dirty="0">
                  <a:solidFill>
                    <a:srgbClr val="E6ECF2"/>
                  </a:solidFill>
                  <a:latin typeface="+mn-lt"/>
                  <a:ea typeface="+mn-ea"/>
                  <a:cs typeface="+mn-cs"/>
                </a:rPr>
                <a:t>Flight task silent for </a:t>
              </a:r>
              <a:r>
                <a:rPr lang="en" sz="1500" b="1" dirty="0">
                  <a:solidFill>
                    <a:srgbClr val="F7A072"/>
                  </a:solidFill>
                  <a:latin typeface="+mn-lt"/>
                  <a:ea typeface="+mn-ea"/>
                  <a:cs typeface="+mn-cs"/>
                </a:rPr>
                <a:t>50 ms</a:t>
              </a:r>
              <a:br>
                <a:rPr lang="en" sz="1500" b="1" dirty="0">
                  <a:solidFill>
                    <a:srgbClr val="F7A072"/>
                  </a:solidFill>
                  <a:latin typeface="+mn-lt"/>
                  <a:ea typeface="+mn-ea"/>
                  <a:cs typeface="+mn-cs"/>
                </a:rPr>
              </a:br>
              <a:r>
                <a:rPr lang="en" sz="1500" dirty="0">
                  <a:solidFill>
                    <a:srgbClr val="E6ECF2"/>
                  </a:solidFill>
                  <a:latin typeface="+mn-lt"/>
                  <a:ea typeface="+mn-ea"/>
                  <a:cs typeface="+mn-cs"/>
                </a:rPr>
                <a:t>→ loop() cuts the motors</a:t>
              </a:r>
            </a:p>
          </p:txBody>
        </p:sp>
        <p:sp>
          <p:nvSpPr>
            <p:cNvPr id="64" name="TextBox 64"/>
            <p:cNvSpPr txBox="1"/>
            <p:nvPr/>
          </p:nvSpPr>
          <p:spPr>
            <a:xfrm>
              <a:off x="7040880" y="5562600"/>
              <a:ext cx="3403423" cy="293370"/>
            </a:xfrm>
            <a:prstGeom prst="rect">
              <a:avLst/>
            </a:prstGeom>
            <a:noFill/>
            <a:ln>
              <a:noFill/>
            </a:ln>
          </p:spPr>
          <p:txBody>
            <a:bodyPr wrap="none" lIns="0" tIns="0" rIns="0" bIns="0" anchor="t" anchorCtr="0">
              <a:spAutoFit/>
            </a:bodyPr>
            <a:lstStyle/>
            <a:p>
              <a:pPr algn="l"/>
              <a:r>
                <a:rPr lang="en" sz="1500" dirty="0">
                  <a:solidFill>
                    <a:srgbClr val="E6ECF2"/>
                  </a:solidFill>
                  <a:latin typeface="+mn-lt"/>
                  <a:ea typeface="+mn-ea"/>
                  <a:cs typeface="+mn-cs"/>
                </a:rPr>
                <a:t>Never weaken these without a reason.</a:t>
              </a:r>
            </a:p>
          </p:txBody>
        </p:sp>
      </p:grpSp>
      <p:grpSp>
        <p:nvGrpSpPr>
          <p:cNvPr id="68" name="footer"/>
          <p:cNvGrpSpPr/>
          <p:nvPr/>
        </p:nvGrpSpPr>
        <p:grpSpPr>
          <a:xfrm>
            <a:off x="603504" y="6457950"/>
            <a:ext cx="10984992" cy="247396"/>
            <a:chOff x="603504" y="6457950"/>
            <a:chExt cx="10984992" cy="247396"/>
          </a:xfrm>
        </p:grpSpPr>
        <p:sp>
          <p:nvSpPr>
            <p:cNvPr id="66" name="TextBox 66"/>
            <p:cNvSpPr txBox="1"/>
            <p:nvPr/>
          </p:nvSpPr>
          <p:spPr>
            <a:xfrm>
              <a:off x="603504" y="6457950"/>
              <a:ext cx="2930553"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Treat every quad on the bench as armed.</a:t>
              </a:r>
            </a:p>
          </p:txBody>
        </p:sp>
        <p:sp>
          <p:nvSpPr>
            <p:cNvPr id="67" name="TextBox 67"/>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18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450"/>
                            </p:stCondLst>
                            <p:childTnLst>
                              <p:par>
                                <p:cTn id="9" presetID="10" presetClass="entr" presetSubtype="0" fill="hold" nodeType="afterEffect">
                                  <p:stCondLst>
                                    <p:cond delay="10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50"/>
                                        <p:tgtEl>
                                          <p:spTgt spid="27"/>
                                        </p:tgtEl>
                                      </p:cBhvr>
                                    </p:animEffect>
                                  </p:childTnLst>
                                </p:cTn>
                              </p:par>
                            </p:childTnLst>
                          </p:cTn>
                        </p:par>
                        <p:par>
                          <p:cTn id="12" fill="hold">
                            <p:stCondLst>
                              <p:cond delay="1000"/>
                            </p:stCondLst>
                            <p:childTnLst>
                              <p:par>
                                <p:cTn id="13" presetID="10" presetClass="entr" presetSubtype="0" fill="hold" nodeType="afterEffect">
                                  <p:stCondLst>
                                    <p:cond delay="10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50"/>
                                        <p:tgtEl>
                                          <p:spTgt spid="36"/>
                                        </p:tgtEl>
                                      </p:cBhvr>
                                    </p:animEffect>
                                  </p:childTnLst>
                                </p:cTn>
                              </p:par>
                            </p:childTnLst>
                          </p:cTn>
                        </p:par>
                        <p:par>
                          <p:cTn id="16" fill="hold">
                            <p:stCondLst>
                              <p:cond delay="1550"/>
                            </p:stCondLst>
                            <p:childTnLst>
                              <p:par>
                                <p:cTn id="17" presetID="10" presetClass="entr" presetSubtype="0" fill="hold" nodeType="afterEffect">
                                  <p:stCondLst>
                                    <p:cond delay="10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450"/>
                                        <p:tgtEl>
                                          <p:spTgt spid="47"/>
                                        </p:tgtEl>
                                      </p:cBhvr>
                                    </p:animEffect>
                                  </p:childTnLst>
                                </p:cTn>
                              </p:par>
                            </p:childTnLst>
                          </p:cTn>
                        </p:par>
                        <p:par>
                          <p:cTn id="20" fill="hold">
                            <p:stCondLst>
                              <p:cond delay="2100"/>
                            </p:stCondLst>
                            <p:childTnLst>
                              <p:par>
                                <p:cTn id="21" presetID="22" presetClass="entr" presetSubtype="8" fill="hold" nodeType="afterEffect">
                                  <p:stCondLst>
                                    <p:cond delay="100"/>
                                  </p:stCondLst>
                                  <p:childTnLst>
                                    <p:set>
                                      <p:cBhvr>
                                        <p:cTn id="22" dur="1" fill="hold">
                                          <p:stCondLst>
                                            <p:cond delay="0"/>
                                          </p:stCondLst>
                                        </p:cTn>
                                        <p:tgtEl>
                                          <p:spTgt spid="65"/>
                                        </p:tgtEl>
                                        <p:attrNameLst>
                                          <p:attrName>style.visibility</p:attrName>
                                        </p:attrNameLst>
                                      </p:cBhvr>
                                      <p:to>
                                        <p:strVal val="visible"/>
                                      </p:to>
                                    </p:set>
                                    <p:animEffect transition="in" filter="wipe(left)">
                                      <p:cBhvr>
                                        <p:cTn id="23" dur="7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5577280" cy="880364"/>
            <a:chOff x="592836" y="539750"/>
            <a:chExt cx="5577280" cy="880364"/>
          </a:xfrm>
        </p:grpSpPr>
        <p:sp>
          <p:nvSpPr>
            <p:cNvPr id="2" name="TextBox 2"/>
            <p:cNvSpPr txBox="1"/>
            <p:nvPr/>
          </p:nvSpPr>
          <p:spPr>
            <a:xfrm>
              <a:off x="602742" y="539750"/>
              <a:ext cx="2150516"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19 / FLIGHT MODES</a:t>
              </a:r>
            </a:p>
          </p:txBody>
        </p:sp>
        <p:sp>
          <p:nvSpPr>
            <p:cNvPr id="3" name="TextBox 3"/>
            <p:cNvSpPr txBox="1"/>
            <p:nvPr/>
          </p:nvSpPr>
          <p:spPr>
            <a:xfrm>
              <a:off x="592836" y="774700"/>
              <a:ext cx="5577280"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Angle mode vs Acro mode</a:t>
              </a:r>
            </a:p>
          </p:txBody>
        </p:sp>
      </p:grpSp>
      <p:grpSp>
        <p:nvGrpSpPr>
          <p:cNvPr id="22" name="mode-angle"/>
          <p:cNvGrpSpPr/>
          <p:nvPr/>
        </p:nvGrpSpPr>
        <p:grpSpPr>
          <a:xfrm>
            <a:off x="609600" y="1447800"/>
            <a:ext cx="5334000" cy="4229100"/>
            <a:chOff x="609600" y="1447800"/>
            <a:chExt cx="5334000" cy="4229100"/>
          </a:xfrm>
        </p:grpSpPr>
        <p:sp>
          <p:nvSpPr>
            <p:cNvPr id="5" name="Rectangle 5"/>
            <p:cNvSpPr/>
            <p:nvPr/>
          </p:nvSpPr>
          <p:spPr>
            <a:xfrm>
              <a:off x="609600" y="1447800"/>
              <a:ext cx="5334000" cy="4229100"/>
            </a:xfrm>
            <a:prstGeom prst="roundRect">
              <a:avLst>
                <a:gd name="adj" fmla="val 3604"/>
              </a:avLst>
            </a:prstGeom>
            <a:solidFill>
              <a:srgbClr val="FFF3EA"/>
            </a:solidFill>
            <a:ln>
              <a:noFill/>
            </a:ln>
          </p:spPr>
        </p:sp>
        <p:sp>
          <p:nvSpPr>
            <p:cNvPr id="6" name="Rectangle 6"/>
            <p:cNvSpPr/>
            <p:nvPr/>
          </p:nvSpPr>
          <p:spPr>
            <a:xfrm>
              <a:off x="4305300" y="1638300"/>
              <a:ext cx="1409700" cy="323850"/>
            </a:xfrm>
            <a:prstGeom prst="roundRect">
              <a:avLst>
                <a:gd name="adj" fmla="val 50000"/>
              </a:avLst>
            </a:prstGeom>
            <a:solidFill>
              <a:srgbClr val="E8590C"/>
            </a:solidFill>
            <a:ln>
              <a:noFill/>
            </a:ln>
          </p:spPr>
        </p:sp>
        <p:sp>
          <p:nvSpPr>
            <p:cNvPr id="7" name="TextBox 7"/>
            <p:cNvSpPr txBox="1"/>
            <p:nvPr/>
          </p:nvSpPr>
          <p:spPr>
            <a:xfrm>
              <a:off x="4475226" y="1692275"/>
              <a:ext cx="1069848"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Consolas"/>
                  <a:ea typeface="Consolas"/>
                  <a:cs typeface="Consolas"/>
                </a:rPr>
                <a:t>START HERE</a:t>
              </a:r>
            </a:p>
          </p:txBody>
        </p:sp>
        <p:sp>
          <p:nvSpPr>
            <p:cNvPr id="8" name="Line 8"/>
            <p:cNvSpPr/>
            <p:nvPr/>
          </p:nvSpPr>
          <p:spPr>
            <a:xfrm>
              <a:off x="1143000" y="2952750"/>
              <a:ext cx="4191000" cy="9525"/>
            </a:xfrm>
            <a:custGeom>
              <a:avLst/>
              <a:gdLst/>
              <a:ahLst/>
              <a:cxnLst/>
              <a:rect l="l" t="t" r="r" b="b"/>
              <a:pathLst>
                <a:path w="4191000" h="9525">
                  <a:moveTo>
                    <a:pt x="0" y="0"/>
                  </a:moveTo>
                  <a:lnTo>
                    <a:pt x="4191000" y="0"/>
                  </a:lnTo>
                </a:path>
              </a:pathLst>
            </a:custGeom>
            <a:noFill/>
            <a:ln w="19050">
              <a:solidFill>
                <a:srgbClr val="9AA8B8"/>
              </a:solidFill>
              <a:prstDash val="lgDash"/>
            </a:ln>
          </p:spPr>
        </p:sp>
        <p:grpSp>
          <p:nvGrpSpPr>
            <p:cNvPr id="14" name="Group 14"/>
            <p:cNvGrpSpPr/>
            <p:nvPr/>
          </p:nvGrpSpPr>
          <p:grpSpPr>
            <a:xfrm>
              <a:off x="2080920" y="2141440"/>
              <a:ext cx="1819860" cy="1258301"/>
              <a:chOff x="2080920" y="2141440"/>
              <a:chExt cx="1819860" cy="1258301"/>
            </a:xfrm>
          </p:grpSpPr>
          <p:sp>
            <p:nvSpPr>
              <p:cNvPr id="9" name="Rectangle 9"/>
              <p:cNvSpPr/>
              <p:nvPr/>
            </p:nvSpPr>
            <p:spPr>
              <a:xfrm rot="-1800000">
                <a:off x="2376488" y="2858776"/>
                <a:ext cx="1524000" cy="171450"/>
              </a:xfrm>
              <a:prstGeom prst="roundRect">
                <a:avLst>
                  <a:gd name="adj" fmla="val 33333"/>
                </a:avLst>
              </a:prstGeom>
              <a:solidFill>
                <a:srgbClr val="0E2A47"/>
              </a:solidFill>
              <a:ln>
                <a:noFill/>
              </a:ln>
            </p:spPr>
          </p:sp>
          <p:sp>
            <p:nvSpPr>
              <p:cNvPr id="10" name="Rectangle 10"/>
              <p:cNvSpPr/>
              <p:nvPr/>
            </p:nvSpPr>
            <p:spPr>
              <a:xfrm rot="-1800000">
                <a:off x="2465131" y="3005571"/>
                <a:ext cx="152400" cy="171450"/>
              </a:xfrm>
              <a:prstGeom prst="rect">
                <a:avLst/>
              </a:prstGeom>
              <a:solidFill>
                <a:srgbClr val="0E2A47"/>
              </a:solidFill>
              <a:ln>
                <a:noFill/>
              </a:ln>
            </p:spPr>
          </p:sp>
          <p:sp>
            <p:nvSpPr>
              <p:cNvPr id="11" name="Rectangle 11"/>
              <p:cNvSpPr/>
              <p:nvPr/>
            </p:nvSpPr>
            <p:spPr>
              <a:xfrm rot="-1800000">
                <a:off x="3487994" y="2415021"/>
                <a:ext cx="152400" cy="171450"/>
              </a:xfrm>
              <a:prstGeom prst="rect">
                <a:avLst/>
              </a:prstGeom>
              <a:solidFill>
                <a:srgbClr val="0E2A47"/>
              </a:solidFill>
              <a:ln>
                <a:noFill/>
              </a:ln>
            </p:spPr>
          </p:sp>
          <p:sp>
            <p:nvSpPr>
              <p:cNvPr id="12" name="Ellipse 12"/>
              <p:cNvSpPr/>
              <p:nvPr/>
            </p:nvSpPr>
            <p:spPr>
              <a:xfrm rot="-1800000">
                <a:off x="2041269" y="2945960"/>
                <a:ext cx="876300" cy="76200"/>
              </a:xfrm>
              <a:prstGeom prst="ellipse">
                <a:avLst/>
              </a:prstGeom>
              <a:solidFill>
                <a:srgbClr val="E8590C">
                  <a:alpha val="55000"/>
                </a:srgbClr>
              </a:solidFill>
              <a:ln>
                <a:noFill/>
              </a:ln>
            </p:spPr>
          </p:sp>
          <p:sp>
            <p:nvSpPr>
              <p:cNvPr id="13" name="Ellipse 13"/>
              <p:cNvSpPr/>
              <p:nvPr/>
            </p:nvSpPr>
            <p:spPr>
              <a:xfrm rot="-1800000">
                <a:off x="3064131" y="2355410"/>
                <a:ext cx="876300" cy="76200"/>
              </a:xfrm>
              <a:prstGeom prst="ellipse">
                <a:avLst/>
              </a:prstGeom>
              <a:solidFill>
                <a:srgbClr val="E8590C">
                  <a:alpha val="55000"/>
                </a:srgbClr>
              </a:solidFill>
              <a:ln>
                <a:noFill/>
              </a:ln>
            </p:spPr>
          </p:sp>
        </p:grpSp>
        <p:sp>
          <p:nvSpPr>
            <p:cNvPr id="15" name="Freeform 15"/>
            <p:cNvSpPr/>
            <p:nvPr/>
          </p:nvSpPr>
          <p:spPr>
            <a:xfrm>
              <a:off x="4298061" y="2286000"/>
              <a:ext cx="178689" cy="666750"/>
            </a:xfrm>
            <a:custGeom>
              <a:avLst/>
              <a:gdLst/>
              <a:ahLst/>
              <a:cxnLst/>
              <a:rect l="l" t="t" r="r" b="b"/>
              <a:pathLst>
                <a:path w="178689" h="666750">
                  <a:moveTo>
                    <a:pt x="178689" y="666750"/>
                  </a:moveTo>
                  <a:cubicBezTo>
                    <a:pt x="178679" y="432669"/>
                    <a:pt x="117051" y="202714"/>
                    <a:pt x="0" y="0"/>
                  </a:cubicBezTo>
                </a:path>
              </a:pathLst>
            </a:custGeom>
            <a:noFill/>
            <a:ln w="28575">
              <a:solidFill>
                <a:srgbClr val="C2410C"/>
              </a:solidFill>
            </a:ln>
          </p:spPr>
        </p:sp>
        <p:sp>
          <p:nvSpPr>
            <p:cNvPr id="16" name="TextBox 16"/>
            <p:cNvSpPr txBox="1"/>
            <p:nvPr/>
          </p:nvSpPr>
          <p:spPr>
            <a:xfrm>
              <a:off x="4581144" y="2349500"/>
              <a:ext cx="421530" cy="381381"/>
            </a:xfrm>
            <a:prstGeom prst="rect">
              <a:avLst/>
            </a:prstGeom>
            <a:noFill/>
            <a:ln>
              <a:noFill/>
            </a:ln>
          </p:spPr>
          <p:txBody>
            <a:bodyPr wrap="none" lIns="0" tIns="0" rIns="0" bIns="0" anchor="t" anchorCtr="0">
              <a:spAutoFit/>
            </a:bodyPr>
            <a:lstStyle/>
            <a:p>
              <a:pPr algn="l"/>
              <a:r>
                <a:rPr lang="en" sz="1950" b="1" dirty="0">
                  <a:solidFill>
                    <a:srgbClr val="C2410C"/>
                  </a:solidFill>
                  <a:latin typeface="+mn-lt"/>
                  <a:ea typeface="+mn-ea"/>
                  <a:cs typeface="+mn-cs"/>
                </a:rPr>
                <a:t>30°</a:t>
              </a:r>
            </a:p>
          </p:txBody>
        </p:sp>
        <p:sp>
          <p:nvSpPr>
            <p:cNvPr id="17" name="TextBox 17"/>
            <p:cNvSpPr txBox="1"/>
            <p:nvPr/>
          </p:nvSpPr>
          <p:spPr>
            <a:xfrm>
              <a:off x="866394" y="3949700"/>
              <a:ext cx="2551194"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Angle · self-levelling</a:t>
              </a:r>
            </a:p>
          </p:txBody>
        </p:sp>
        <p:grpSp>
          <p:nvGrpSpPr>
            <p:cNvPr id="21" name="Group 21"/>
            <p:cNvGrpSpPr/>
            <p:nvPr/>
          </p:nvGrpSpPr>
          <p:grpSpPr>
            <a:xfrm>
              <a:off x="867918" y="4387850"/>
              <a:ext cx="3886559" cy="1008507"/>
              <a:chOff x="867918" y="4387850"/>
              <a:chExt cx="3886559" cy="1008507"/>
            </a:xfrm>
          </p:grpSpPr>
          <p:sp>
            <p:nvSpPr>
              <p:cNvPr id="18" name="TextBox 18"/>
              <p:cNvSpPr txBox="1"/>
              <p:nvPr/>
            </p:nvSpPr>
            <p:spPr>
              <a:xfrm>
                <a:off x="867918" y="4387850"/>
                <a:ext cx="3886559"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Stick sets the tilt angle (ours: max 30°)</a:t>
                </a:r>
              </a:p>
            </p:txBody>
          </p:sp>
          <p:sp>
            <p:nvSpPr>
              <p:cNvPr id="19" name="TextBox 19"/>
              <p:cNvSpPr txBox="1"/>
              <p:nvPr/>
            </p:nvSpPr>
            <p:spPr>
              <a:xfrm>
                <a:off x="867918" y="4730750"/>
                <a:ext cx="2528503"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Let go and it levels itself</a:t>
                </a:r>
              </a:p>
            </p:txBody>
          </p:sp>
          <p:sp>
            <p:nvSpPr>
              <p:cNvPr id="20" name="TextBox 20"/>
              <p:cNvSpPr txBox="1"/>
              <p:nvPr/>
            </p:nvSpPr>
            <p:spPr>
              <a:xfrm>
                <a:off x="867918" y="5073650"/>
                <a:ext cx="2791649"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Uses gyro + accelerometer</a:t>
                </a:r>
              </a:p>
            </p:txBody>
          </p:sp>
        </p:grpSp>
      </p:grpSp>
      <p:grpSp>
        <p:nvGrpSpPr>
          <p:cNvPr id="39" name="mode-acro"/>
          <p:cNvGrpSpPr/>
          <p:nvPr/>
        </p:nvGrpSpPr>
        <p:grpSpPr>
          <a:xfrm>
            <a:off x="6248400" y="1447800"/>
            <a:ext cx="5334000" cy="4229100"/>
            <a:chOff x="6248400" y="1447800"/>
            <a:chExt cx="5334000" cy="4229100"/>
          </a:xfrm>
        </p:grpSpPr>
        <p:sp>
          <p:nvSpPr>
            <p:cNvPr id="23" name="Rectangle 23"/>
            <p:cNvSpPr/>
            <p:nvPr/>
          </p:nvSpPr>
          <p:spPr>
            <a:xfrm>
              <a:off x="6248400" y="1447800"/>
              <a:ext cx="5334000" cy="4229100"/>
            </a:xfrm>
            <a:prstGeom prst="roundRect">
              <a:avLst>
                <a:gd name="adj" fmla="val 3604"/>
              </a:avLst>
            </a:prstGeom>
            <a:solidFill>
              <a:srgbClr val="E9F4F3"/>
            </a:solidFill>
            <a:ln>
              <a:noFill/>
            </a:ln>
          </p:spPr>
        </p:sp>
        <p:sp>
          <p:nvSpPr>
            <p:cNvPr id="24" name="Rectangle 24"/>
            <p:cNvSpPr/>
            <p:nvPr/>
          </p:nvSpPr>
          <p:spPr>
            <a:xfrm>
              <a:off x="9696450" y="1638300"/>
              <a:ext cx="1695450" cy="323850"/>
            </a:xfrm>
            <a:prstGeom prst="roundRect">
              <a:avLst>
                <a:gd name="adj" fmla="val 50000"/>
              </a:avLst>
            </a:prstGeom>
            <a:solidFill>
              <a:srgbClr val="0B7A75"/>
            </a:solidFill>
            <a:ln>
              <a:noFill/>
            </a:ln>
          </p:spPr>
        </p:sp>
        <p:sp>
          <p:nvSpPr>
            <p:cNvPr id="25" name="TextBox 25"/>
            <p:cNvSpPr txBox="1"/>
            <p:nvPr/>
          </p:nvSpPr>
          <p:spPr>
            <a:xfrm>
              <a:off x="9798025" y="1692275"/>
              <a:ext cx="1492301" cy="264033"/>
            </a:xfrm>
            <a:prstGeom prst="rect">
              <a:avLst/>
            </a:prstGeom>
            <a:noFill/>
            <a:ln>
              <a:noFill/>
            </a:ln>
          </p:spPr>
          <p:txBody>
            <a:bodyPr wrap="none" lIns="0" tIns="0" rIns="0" bIns="0" anchor="t" anchorCtr="0">
              <a:spAutoFit/>
            </a:bodyPr>
            <a:lstStyle/>
            <a:p>
              <a:pPr algn="ctr"/>
              <a:r>
                <a:rPr lang="en" sz="1350" b="1" dirty="0">
                  <a:solidFill>
                    <a:srgbClr val="FFFFFF"/>
                  </a:solidFill>
                  <a:latin typeface="Consolas"/>
                  <a:ea typeface="Consolas"/>
                  <a:cs typeface="Consolas"/>
                </a:rPr>
                <a:t>FLIPS + RACING</a:t>
              </a:r>
            </a:p>
          </p:txBody>
        </p:sp>
        <p:sp>
          <p:nvSpPr>
            <p:cNvPr id="26" name="Freeform 26"/>
            <p:cNvSpPr/>
            <p:nvPr/>
          </p:nvSpPr>
          <p:spPr>
            <a:xfrm>
              <a:off x="7886700" y="1771650"/>
              <a:ext cx="2095500" cy="2095500"/>
            </a:xfrm>
            <a:prstGeom prst="circularArrow">
              <a:avLst/>
            </a:prstGeom>
            <a:solidFill>
              <a:srgbClr val="0B7A75">
                <a:alpha val="85000"/>
              </a:srgbClr>
            </a:solidFill>
            <a:ln>
              <a:noFill/>
            </a:ln>
          </p:spPr>
        </p:sp>
        <p:grpSp>
          <p:nvGrpSpPr>
            <p:cNvPr id="32" name="Group 32"/>
            <p:cNvGrpSpPr/>
            <p:nvPr/>
          </p:nvGrpSpPr>
          <p:grpSpPr>
            <a:xfrm>
              <a:off x="8348504" y="2090261"/>
              <a:ext cx="937687" cy="1315403"/>
              <a:chOff x="8348504" y="2090261"/>
              <a:chExt cx="937687" cy="1315403"/>
            </a:xfrm>
          </p:grpSpPr>
          <p:sp>
            <p:nvSpPr>
              <p:cNvPr id="27" name="Rectangle 27"/>
              <p:cNvSpPr/>
              <p:nvPr/>
            </p:nvSpPr>
            <p:spPr>
              <a:xfrm rot="-3600000">
                <a:off x="8371199" y="2795588"/>
                <a:ext cx="1143000" cy="133350"/>
              </a:xfrm>
              <a:prstGeom prst="roundRect">
                <a:avLst>
                  <a:gd name="adj" fmla="val 35714"/>
                </a:avLst>
              </a:prstGeom>
              <a:solidFill>
                <a:srgbClr val="0E2A47"/>
              </a:solidFill>
              <a:ln>
                <a:noFill/>
              </a:ln>
            </p:spPr>
          </p:sp>
          <p:sp>
            <p:nvSpPr>
              <p:cNvPr id="28" name="Rectangle 28"/>
              <p:cNvSpPr/>
              <p:nvPr/>
            </p:nvSpPr>
            <p:spPr>
              <a:xfrm rot="-3600000">
                <a:off x="8550989" y="3108362"/>
                <a:ext cx="114300" cy="133350"/>
              </a:xfrm>
              <a:prstGeom prst="rect">
                <a:avLst/>
              </a:prstGeom>
              <a:solidFill>
                <a:srgbClr val="0E2A47"/>
              </a:solidFill>
              <a:ln>
                <a:noFill/>
              </a:ln>
            </p:spPr>
          </p:sp>
          <p:sp>
            <p:nvSpPr>
              <p:cNvPr id="29" name="Rectangle 29"/>
              <p:cNvSpPr/>
              <p:nvPr/>
            </p:nvSpPr>
            <p:spPr>
              <a:xfrm rot="-3600000">
                <a:off x="8989139" y="2349463"/>
                <a:ext cx="114300" cy="133350"/>
              </a:xfrm>
              <a:prstGeom prst="rect">
                <a:avLst/>
              </a:prstGeom>
              <a:solidFill>
                <a:srgbClr val="0E2A47"/>
              </a:solidFill>
              <a:ln>
                <a:noFill/>
              </a:ln>
            </p:spPr>
          </p:sp>
          <p:sp>
            <p:nvSpPr>
              <p:cNvPr id="30" name="Ellipse 30"/>
              <p:cNvSpPr/>
              <p:nvPr/>
            </p:nvSpPr>
            <p:spPr>
              <a:xfrm rot="-3600000">
                <a:off x="8220850" y="3098837"/>
                <a:ext cx="609600" cy="57150"/>
              </a:xfrm>
              <a:prstGeom prst="ellipse">
                <a:avLst/>
              </a:prstGeom>
              <a:solidFill>
                <a:srgbClr val="0B7A75">
                  <a:alpha val="60000"/>
                </a:srgbClr>
              </a:solidFill>
              <a:ln>
                <a:noFill/>
              </a:ln>
            </p:spPr>
          </p:sp>
          <p:sp>
            <p:nvSpPr>
              <p:cNvPr id="31" name="Ellipse 31"/>
              <p:cNvSpPr/>
              <p:nvPr/>
            </p:nvSpPr>
            <p:spPr>
              <a:xfrm rot="-3600000">
                <a:off x="8659000" y="2339938"/>
                <a:ext cx="609600" cy="57150"/>
              </a:xfrm>
              <a:prstGeom prst="ellipse">
                <a:avLst/>
              </a:prstGeom>
              <a:solidFill>
                <a:srgbClr val="0B7A75">
                  <a:alpha val="60000"/>
                </a:srgbClr>
              </a:solidFill>
              <a:ln>
                <a:noFill/>
              </a:ln>
            </p:spPr>
          </p:sp>
        </p:grpSp>
        <p:sp>
          <p:nvSpPr>
            <p:cNvPr id="33" name="TextBox 33"/>
            <p:cNvSpPr txBox="1"/>
            <p:nvPr/>
          </p:nvSpPr>
          <p:spPr>
            <a:xfrm>
              <a:off x="7678150" y="3492500"/>
              <a:ext cx="2512600" cy="264033"/>
            </a:xfrm>
            <a:prstGeom prst="rect">
              <a:avLst/>
            </a:prstGeom>
            <a:noFill/>
            <a:ln>
              <a:noFill/>
            </a:ln>
          </p:spPr>
          <p:txBody>
            <a:bodyPr wrap="none" lIns="0" tIns="0" rIns="0" bIns="0" anchor="t" anchorCtr="0">
              <a:spAutoFit/>
            </a:bodyPr>
            <a:lstStyle/>
            <a:p>
              <a:pPr algn="ctr"/>
              <a:r>
                <a:rPr lang="en" sz="1350" dirty="0">
                  <a:solidFill>
                    <a:srgbClr val="0B7A75"/>
                  </a:solidFill>
                  <a:latin typeface="Consolas"/>
                  <a:ea typeface="Consolas"/>
                  <a:cs typeface="Consolas"/>
                </a:rPr>
                <a:t>e.g. 670°/s at full stick</a:t>
              </a:r>
            </a:p>
          </p:txBody>
        </p:sp>
        <p:sp>
          <p:nvSpPr>
            <p:cNvPr id="34" name="TextBox 34"/>
            <p:cNvSpPr txBox="1"/>
            <p:nvPr/>
          </p:nvSpPr>
          <p:spPr>
            <a:xfrm>
              <a:off x="6505194" y="3949700"/>
              <a:ext cx="2088856"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Acro · rate mode</a:t>
              </a:r>
            </a:p>
          </p:txBody>
        </p:sp>
        <p:grpSp>
          <p:nvGrpSpPr>
            <p:cNvPr id="38" name="Group 38"/>
            <p:cNvGrpSpPr/>
            <p:nvPr/>
          </p:nvGrpSpPr>
          <p:grpSpPr>
            <a:xfrm>
              <a:off x="6506718" y="4387850"/>
              <a:ext cx="4163292" cy="1008507"/>
              <a:chOff x="6506718" y="4387850"/>
              <a:chExt cx="4163292" cy="1008507"/>
            </a:xfrm>
          </p:grpSpPr>
          <p:sp>
            <p:nvSpPr>
              <p:cNvPr id="35" name="TextBox 35"/>
              <p:cNvSpPr txBox="1"/>
              <p:nvPr/>
            </p:nvSpPr>
            <p:spPr>
              <a:xfrm>
                <a:off x="6506718" y="4387850"/>
                <a:ext cx="2888539"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Stick sets how fast it rotates</a:t>
                </a:r>
              </a:p>
            </p:txBody>
          </p:sp>
          <p:sp>
            <p:nvSpPr>
              <p:cNvPr id="36" name="TextBox 36"/>
              <p:cNvSpPr txBox="1"/>
              <p:nvPr/>
            </p:nvSpPr>
            <p:spPr>
              <a:xfrm>
                <a:off x="6506718" y="4730750"/>
                <a:ext cx="4163292"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Let go: it holds its attitude, even inverted</a:t>
                </a:r>
              </a:p>
            </p:txBody>
          </p:sp>
          <p:sp>
            <p:nvSpPr>
              <p:cNvPr id="37" name="TextBox 37"/>
              <p:cNvSpPr txBox="1"/>
              <p:nvPr/>
            </p:nvSpPr>
            <p:spPr>
              <a:xfrm>
                <a:off x="6506718" y="5073650"/>
                <a:ext cx="3433469" cy="322707"/>
              </a:xfrm>
              <a:prstGeom prst="rect">
                <a:avLst/>
              </a:prstGeom>
              <a:noFill/>
              <a:ln>
                <a:noFill/>
              </a:ln>
            </p:spPr>
            <p:txBody>
              <a:bodyPr wrap="none" lIns="0" tIns="0" rIns="0" bIns="0" anchor="t" anchorCtr="0">
                <a:spAutoFit/>
              </a:bodyPr>
              <a:lstStyle/>
              <a:p>
                <a:pPr marL="142515" indent="-142515" algn="l">
                  <a:buClr>
                    <a:srgbClr val="0E1B2C"/>
                  </a:buClr>
                  <a:buSzTx/>
                  <a:buFontTx/>
                  <a:buChar char="•"/>
                </a:pPr>
                <a:r>
                  <a:rPr lang="en" sz="1650" dirty="0">
                    <a:solidFill>
                      <a:srgbClr val="0E1B2C"/>
                    </a:solidFill>
                    <a:latin typeface="+mn-lt"/>
                    <a:ea typeface="+mn-ea"/>
                    <a:cs typeface="+mn-cs"/>
                  </a:rPr>
                  <a:t>Gyro only; accelerometer ignored</a:t>
                </a:r>
              </a:p>
            </p:txBody>
          </p:sp>
        </p:grpSp>
      </p:grpSp>
      <p:grpSp>
        <p:nvGrpSpPr>
          <p:cNvPr id="41" name="advice"/>
          <p:cNvGrpSpPr/>
          <p:nvPr/>
        </p:nvGrpSpPr>
        <p:grpSpPr>
          <a:xfrm>
            <a:off x="599694" y="5873750"/>
            <a:ext cx="7601724" cy="381381"/>
            <a:chOff x="599694" y="5873750"/>
            <a:chExt cx="7601724" cy="381381"/>
          </a:xfrm>
        </p:grpSpPr>
        <p:sp>
          <p:nvSpPr>
            <p:cNvPr id="40" name="TextBox 40"/>
            <p:cNvSpPr txBox="1"/>
            <p:nvPr/>
          </p:nvSpPr>
          <p:spPr>
            <a:xfrm>
              <a:off x="599694" y="5873750"/>
              <a:ext cx="7601724" cy="381381"/>
            </a:xfrm>
            <a:prstGeom prst="rect">
              <a:avLst/>
            </a:prstGeom>
            <a:noFill/>
            <a:ln>
              <a:noFill/>
            </a:ln>
          </p:spPr>
          <p:txBody>
            <a:bodyPr wrap="none" lIns="0" tIns="0" rIns="0" bIns="0" anchor="t" anchorCtr="0">
              <a:spAutoFit/>
            </a:bodyPr>
            <a:lstStyle/>
            <a:p>
              <a:pPr algn="l"/>
              <a:r>
                <a:rPr lang="en" sz="1950" dirty="0">
                  <a:solidFill>
                    <a:srgbClr val="0E1B2C"/>
                  </a:solidFill>
                  <a:latin typeface="+mn-lt"/>
                  <a:ea typeface="+mn-ea"/>
                  <a:cs typeface="+mn-cs"/>
                </a:rPr>
                <a:t>Learn in </a:t>
              </a:r>
              <a:r>
                <a:rPr lang="en" sz="1950" b="1" dirty="0">
                  <a:solidFill>
                    <a:srgbClr val="C2410C"/>
                  </a:solidFill>
                  <a:latin typeface="+mn-lt"/>
                  <a:ea typeface="+mn-ea"/>
                  <a:cs typeface="+mn-cs"/>
                </a:rPr>
                <a:t>Angle</a:t>
              </a:r>
              <a:r>
                <a:rPr lang="en" sz="1950" dirty="0">
                  <a:solidFill>
                    <a:srgbClr val="0E1B2C"/>
                  </a:solidFill>
                  <a:latin typeface="+mn-lt"/>
                  <a:ea typeface="+mn-ea"/>
                  <a:cs typeface="+mn-cs"/>
                </a:rPr>
                <a:t>, then practise </a:t>
              </a:r>
              <a:r>
                <a:rPr lang="en" sz="1950" b="1" dirty="0">
                  <a:solidFill>
                    <a:srgbClr val="0B7A75"/>
                  </a:solidFill>
                  <a:latin typeface="+mn-lt"/>
                  <a:ea typeface="+mn-ea"/>
                  <a:cs typeface="+mn-cs"/>
                </a:rPr>
                <a:t>Acro</a:t>
              </a:r>
              <a:r>
                <a:rPr lang="en" sz="1950" dirty="0">
                  <a:solidFill>
                    <a:srgbClr val="0E1B2C"/>
                  </a:solidFill>
                  <a:latin typeface="+mn-lt"/>
                  <a:ea typeface="+mn-ea"/>
                  <a:cs typeface="+mn-cs"/>
                </a:rPr>
                <a:t> in a simulator before real flips.</a:t>
              </a:r>
            </a:p>
          </p:txBody>
        </p:sp>
      </p:grpSp>
      <p:grpSp>
        <p:nvGrpSpPr>
          <p:cNvPr id="44" name="footer"/>
          <p:cNvGrpSpPr/>
          <p:nvPr/>
        </p:nvGrpSpPr>
        <p:grpSpPr>
          <a:xfrm>
            <a:off x="603504" y="6457950"/>
            <a:ext cx="10984992" cy="247396"/>
            <a:chOff x="603504" y="6457950"/>
            <a:chExt cx="10984992" cy="247396"/>
          </a:xfrm>
        </p:grpSpPr>
        <p:sp>
          <p:nvSpPr>
            <p:cNvPr id="42" name="TextBox 42"/>
            <p:cNvSpPr txBox="1"/>
            <p:nvPr/>
          </p:nvSpPr>
          <p:spPr>
            <a:xfrm>
              <a:off x="603504" y="6457950"/>
              <a:ext cx="4739145"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Our ESP32 firmware flies in Angle mode (MAX_ANGLE_DEG = 30)</a:t>
              </a:r>
            </a:p>
          </p:txBody>
        </p:sp>
        <p:sp>
          <p:nvSpPr>
            <p:cNvPr id="43" name="TextBox 43"/>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19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600" fill="hold"/>
                                        <p:tgtEl>
                                          <p:spTgt spid="22"/>
                                        </p:tgtEl>
                                        <p:attrNameLst>
                                          <p:attrName>ppt_x</p:attrName>
                                        </p:attrNameLst>
                                      </p:cBhvr>
                                      <p:tavLst>
                                        <p:tav tm="0">
                                          <p:val>
                                            <p:strVal val="1+#ppt_w/2"/>
                                          </p:val>
                                        </p:tav>
                                        <p:tav tm="100000">
                                          <p:val>
                                            <p:strVal val="#ppt_x"/>
                                          </p:val>
                                        </p:tav>
                                      </p:tavLst>
                                    </p:anim>
                                    <p:anim calcmode="lin" valueType="num">
                                      <p:cBhvr additive="base">
                                        <p:cTn id="8" dur="600" fill="hold"/>
                                        <p:tgtEl>
                                          <p:spTgt spid="22"/>
                                        </p:tgtEl>
                                        <p:attrNameLst>
                                          <p:attrName>ppt_y</p:attrName>
                                        </p:attrNameLst>
                                      </p:cBhvr>
                                      <p:tavLst>
                                        <p:tav tm="0">
                                          <p:val>
                                            <p:strVal val="#ppt_y"/>
                                          </p:val>
                                        </p:tav>
                                        <p:tav tm="100000">
                                          <p:val>
                                            <p:strVal val="#ppt_y"/>
                                          </p:val>
                                        </p:tav>
                                      </p:tavLst>
                                    </p:anim>
                                  </p:childTnLst>
                                </p:cTn>
                              </p:par>
                            </p:childTnLst>
                          </p:cTn>
                        </p:par>
                        <p:par>
                          <p:cTn id="9" fill="hold">
                            <p:stCondLst>
                              <p:cond delay="600"/>
                            </p:stCondLst>
                            <p:childTnLst>
                              <p:par>
                                <p:cTn id="10" presetID="2" presetClass="entr" presetSubtype="8" fill="hold" nodeType="afterEffect">
                                  <p:stCondLst>
                                    <p:cond delay="100"/>
                                  </p:stCondLst>
                                  <p:childTnLst>
                                    <p:set>
                                      <p:cBhvr>
                                        <p:cTn id="11" dur="1" fill="hold">
                                          <p:stCondLst>
                                            <p:cond delay="0"/>
                                          </p:stCondLst>
                                        </p:cTn>
                                        <p:tgtEl>
                                          <p:spTgt spid="39"/>
                                        </p:tgtEl>
                                        <p:attrNameLst>
                                          <p:attrName>style.visibility</p:attrName>
                                        </p:attrNameLst>
                                      </p:cBhvr>
                                      <p:to>
                                        <p:strVal val="visible"/>
                                      </p:to>
                                    </p:set>
                                    <p:anim calcmode="lin" valueType="num">
                                      <p:cBhvr additive="base">
                                        <p:cTn id="12" dur="600" fill="hold"/>
                                        <p:tgtEl>
                                          <p:spTgt spid="39"/>
                                        </p:tgtEl>
                                        <p:attrNameLst>
                                          <p:attrName>ppt_x</p:attrName>
                                        </p:attrNameLst>
                                      </p:cBhvr>
                                      <p:tavLst>
                                        <p:tav tm="0">
                                          <p:val>
                                            <p:strVal val="0-#ppt_w/2"/>
                                          </p:val>
                                        </p:tav>
                                        <p:tav tm="100000">
                                          <p:val>
                                            <p:strVal val="#ppt_x"/>
                                          </p:val>
                                        </p:tav>
                                      </p:tavLst>
                                    </p:anim>
                                    <p:anim calcmode="lin" valueType="num">
                                      <p:cBhvr additive="base">
                                        <p:cTn id="13" dur="600" fill="hold"/>
                                        <p:tgtEl>
                                          <p:spTgt spid="39"/>
                                        </p:tgtEl>
                                        <p:attrNameLst>
                                          <p:attrName>ppt_y</p:attrName>
                                        </p:attrNameLst>
                                      </p:cBhvr>
                                      <p:tavLst>
                                        <p:tav tm="0">
                                          <p:val>
                                            <p:strVal val="#ppt_y"/>
                                          </p:val>
                                        </p:tav>
                                        <p:tav tm="100000">
                                          <p:val>
                                            <p:strVal val="#ppt_y"/>
                                          </p:val>
                                        </p:tav>
                                      </p:tavLst>
                                    </p:anim>
                                  </p:childTnLst>
                                </p:cTn>
                              </p:par>
                            </p:childTnLst>
                          </p:cTn>
                        </p:par>
                        <p:par>
                          <p:cTn id="14" fill="hold">
                            <p:stCondLst>
                              <p:cond delay="1300"/>
                            </p:stCondLst>
                            <p:childTnLst>
                              <p:par>
                                <p:cTn id="15" presetID="37" presetClass="entr" presetSubtype="0" fill="hold" nodeType="afterEffect">
                                  <p:stCondLst>
                                    <p:cond delay="10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anim calcmode="lin" valueType="num">
                                      <p:cBhvr>
                                        <p:cTn id="18" dur="500" fill="hold"/>
                                        <p:tgtEl>
                                          <p:spTgt spid="41"/>
                                        </p:tgtEl>
                                        <p:attrNameLst>
                                          <p:attrName>ppt_x</p:attrName>
                                        </p:attrNameLst>
                                      </p:cBhvr>
                                      <p:tavLst>
                                        <p:tav tm="0">
                                          <p:val>
                                            <p:strVal val="#ppt_x"/>
                                          </p:val>
                                        </p:tav>
                                        <p:tav tm="100000">
                                          <p:val>
                                            <p:strVal val="#ppt_x"/>
                                          </p:val>
                                        </p:tav>
                                      </p:tavLst>
                                    </p:anim>
                                    <p:anim calcmode="lin" valueType="num">
                                      <p:cBhvr>
                                        <p:cTn id="19" dur="450" decel="100000" fill="hold"/>
                                        <p:tgtEl>
                                          <p:spTgt spid="41"/>
                                        </p:tgtEl>
                                        <p:attrNameLst>
                                          <p:attrName>ppt_y</p:attrName>
                                        </p:attrNameLst>
                                      </p:cBhvr>
                                      <p:tavLst>
                                        <p:tav tm="0">
                                          <p:val>
                                            <p:strVal val="#ppt_y+1"/>
                                          </p:val>
                                        </p:tav>
                                        <p:tav tm="100000">
                                          <p:val>
                                            <p:strVal val="#ppt_y-.03"/>
                                          </p:val>
                                        </p:tav>
                                      </p:tavLst>
                                    </p:anim>
                                    <p:anim calcmode="lin" valueType="num">
                                      <p:cBhvr>
                                        <p:cTn id="20" dur="50" accel="100000" fill="hold">
                                          <p:stCondLst>
                                            <p:cond delay="450"/>
                                          </p:stCondLst>
                                        </p:cTn>
                                        <p:tgtEl>
                                          <p:spTgt spid="4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header"/>
          <p:cNvGrpSpPr/>
          <p:nvPr/>
        </p:nvGrpSpPr>
        <p:grpSpPr>
          <a:xfrm>
            <a:off x="592836" y="539750"/>
            <a:ext cx="5304428" cy="880364"/>
            <a:chOff x="592836" y="539750"/>
            <a:chExt cx="5304428" cy="880364"/>
          </a:xfrm>
        </p:grpSpPr>
        <p:sp>
          <p:nvSpPr>
            <p:cNvPr id="2" name="TextBox 2"/>
            <p:cNvSpPr txBox="1"/>
            <p:nvPr/>
          </p:nvSpPr>
          <p:spPr>
            <a:xfrm>
              <a:off x="602742" y="539750"/>
              <a:ext cx="1896618"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20 / PID TUNING</a:t>
              </a:r>
            </a:p>
          </p:txBody>
        </p:sp>
        <p:sp>
          <p:nvSpPr>
            <p:cNvPr id="3" name="TextBox 3"/>
            <p:cNvSpPr txBox="1"/>
            <p:nvPr/>
          </p:nvSpPr>
          <p:spPr>
            <a:xfrm>
              <a:off x="592836" y="774700"/>
              <a:ext cx="5304428"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What each PID gain does</a:t>
              </a:r>
            </a:p>
          </p:txBody>
        </p:sp>
      </p:grpSp>
      <p:grpSp>
        <p:nvGrpSpPr>
          <p:cNvPr id="24" name="step-response"/>
          <p:cNvGrpSpPr/>
          <p:nvPr/>
        </p:nvGrpSpPr>
        <p:grpSpPr>
          <a:xfrm>
            <a:off x="609600" y="1447800"/>
            <a:ext cx="5334000" cy="3962400"/>
            <a:chOff x="609600" y="1447800"/>
            <a:chExt cx="5334000" cy="3962400"/>
          </a:xfrm>
        </p:grpSpPr>
        <p:sp>
          <p:nvSpPr>
            <p:cNvPr id="5" name="Rectangle 5"/>
            <p:cNvSpPr/>
            <p:nvPr/>
          </p:nvSpPr>
          <p:spPr>
            <a:xfrm>
              <a:off x="609600" y="1447800"/>
              <a:ext cx="5334000" cy="3962400"/>
            </a:xfrm>
            <a:prstGeom prst="roundRect">
              <a:avLst>
                <a:gd name="adj" fmla="val 3365"/>
              </a:avLst>
            </a:prstGeom>
            <a:solidFill>
              <a:srgbClr val="F3F6F9"/>
            </a:solidFill>
            <a:ln>
              <a:noFill/>
            </a:ln>
          </p:spPr>
        </p:sp>
        <p:sp>
          <p:nvSpPr>
            <p:cNvPr id="6" name="TextBox 6"/>
            <p:cNvSpPr txBox="1"/>
            <p:nvPr/>
          </p:nvSpPr>
          <p:spPr>
            <a:xfrm>
              <a:off x="867918" y="1568450"/>
              <a:ext cx="3480723" cy="322707"/>
            </a:xfrm>
            <a:prstGeom prst="rect">
              <a:avLst/>
            </a:prstGeom>
            <a:noFill/>
            <a:ln>
              <a:noFill/>
            </a:ln>
          </p:spPr>
          <p:txBody>
            <a:bodyPr wrap="none" lIns="0" tIns="0" rIns="0" bIns="0" anchor="t" anchorCtr="0">
              <a:spAutoFit/>
            </a:bodyPr>
            <a:lstStyle/>
            <a:p>
              <a:pPr algn="l"/>
              <a:r>
                <a:rPr lang="en" sz="1650" b="1" dirty="0">
                  <a:solidFill>
                    <a:srgbClr val="0E1B2C"/>
                  </a:solidFill>
                  <a:latin typeface="+mn-lt"/>
                  <a:ea typeface="+mn-ea"/>
                  <a:cs typeface="+mn-cs"/>
                </a:rPr>
                <a:t>Response to a sudden stick move</a:t>
              </a:r>
            </a:p>
          </p:txBody>
        </p:sp>
        <p:sp>
          <p:nvSpPr>
            <p:cNvPr id="7" name="TextBox 7"/>
            <p:cNvSpPr txBox="1"/>
            <p:nvPr/>
          </p:nvSpPr>
          <p:spPr>
            <a:xfrm>
              <a:off x="4604614" y="1631950"/>
              <a:ext cx="1078382"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illustrative</a:t>
              </a:r>
            </a:p>
          </p:txBody>
        </p:sp>
        <p:grpSp>
          <p:nvGrpSpPr>
            <p:cNvPr id="10" name="Group 10"/>
            <p:cNvGrpSpPr/>
            <p:nvPr/>
          </p:nvGrpSpPr>
          <p:grpSpPr>
            <a:xfrm>
              <a:off x="990600" y="2038350"/>
              <a:ext cx="4724400" cy="2447925"/>
              <a:chOff x="990600" y="2038350"/>
              <a:chExt cx="4724400" cy="2447925"/>
            </a:xfrm>
          </p:grpSpPr>
          <p:sp>
            <p:nvSpPr>
              <p:cNvPr id="8" name="Line 8"/>
              <p:cNvSpPr/>
              <p:nvPr/>
            </p:nvSpPr>
            <p:spPr>
              <a:xfrm>
                <a:off x="990600" y="4476750"/>
                <a:ext cx="4724400" cy="9525"/>
              </a:xfrm>
              <a:custGeom>
                <a:avLst/>
                <a:gdLst/>
                <a:ahLst/>
                <a:cxnLst/>
                <a:rect l="l" t="t" r="r" b="b"/>
                <a:pathLst>
                  <a:path w="4724400" h="9525">
                    <a:moveTo>
                      <a:pt x="0" y="0"/>
                    </a:moveTo>
                    <a:lnTo>
                      <a:pt x="4724400" y="0"/>
                    </a:lnTo>
                  </a:path>
                </a:pathLst>
              </a:custGeom>
              <a:noFill/>
              <a:ln w="14288">
                <a:solidFill>
                  <a:srgbClr val="6B7A8C"/>
                </a:solidFill>
              </a:ln>
            </p:spPr>
          </p:sp>
          <p:sp>
            <p:nvSpPr>
              <p:cNvPr id="9" name="Line 9"/>
              <p:cNvSpPr/>
              <p:nvPr/>
            </p:nvSpPr>
            <p:spPr>
              <a:xfrm>
                <a:off x="990600" y="2038350"/>
                <a:ext cx="9525" cy="2438400"/>
              </a:xfrm>
              <a:custGeom>
                <a:avLst/>
                <a:gdLst/>
                <a:ahLst/>
                <a:cxnLst/>
                <a:rect l="l" t="t" r="r" b="b"/>
                <a:pathLst>
                  <a:path w="9525" h="2438400">
                    <a:moveTo>
                      <a:pt x="0" y="0"/>
                    </a:moveTo>
                    <a:lnTo>
                      <a:pt x="0" y="2438400"/>
                    </a:lnTo>
                  </a:path>
                </a:pathLst>
              </a:custGeom>
              <a:noFill/>
              <a:ln w="14288">
                <a:solidFill>
                  <a:srgbClr val="6B7A8C"/>
                </a:solidFill>
              </a:ln>
            </p:spPr>
          </p:sp>
        </p:grpSp>
        <p:sp>
          <p:nvSpPr>
            <p:cNvPr id="11" name="Freeform 11"/>
            <p:cNvSpPr/>
            <p:nvPr/>
          </p:nvSpPr>
          <p:spPr>
            <a:xfrm>
              <a:off x="990600" y="2667000"/>
              <a:ext cx="4724400" cy="1809750"/>
            </a:xfrm>
            <a:custGeom>
              <a:avLst/>
              <a:gdLst/>
              <a:ahLst/>
              <a:cxnLst/>
              <a:rect l="l" t="t" r="r" b="b"/>
              <a:pathLst>
                <a:path w="4724400" h="1809750">
                  <a:moveTo>
                    <a:pt x="0" y="1809750"/>
                  </a:moveTo>
                  <a:lnTo>
                    <a:pt x="438150" y="1809750"/>
                  </a:lnTo>
                  <a:lnTo>
                    <a:pt x="438150" y="0"/>
                  </a:lnTo>
                  <a:lnTo>
                    <a:pt x="4724400" y="0"/>
                  </a:lnTo>
                </a:path>
              </a:pathLst>
            </a:custGeom>
            <a:noFill/>
            <a:ln w="19050">
              <a:solidFill>
                <a:srgbClr val="0E1B2C"/>
              </a:solidFill>
              <a:prstDash val="dash"/>
            </a:ln>
          </p:spPr>
        </p:sp>
        <p:sp>
          <p:nvSpPr>
            <p:cNvPr id="12" name="Freeform 12"/>
            <p:cNvSpPr/>
            <p:nvPr/>
          </p:nvSpPr>
          <p:spPr>
            <a:xfrm>
              <a:off x="1428750" y="2038350"/>
              <a:ext cx="4286250" cy="2438400"/>
            </a:xfrm>
            <a:custGeom>
              <a:avLst/>
              <a:gdLst/>
              <a:ahLst/>
              <a:cxnLst/>
              <a:rect l="l" t="t" r="r" b="b"/>
              <a:pathLst>
                <a:path w="4286250" h="2438400">
                  <a:moveTo>
                    <a:pt x="0" y="2438400"/>
                  </a:moveTo>
                  <a:cubicBezTo>
                    <a:pt x="266700" y="628650"/>
                    <a:pt x="438150" y="0"/>
                    <a:pt x="685800" y="76200"/>
                  </a:cubicBezTo>
                  <a:cubicBezTo>
                    <a:pt x="933450" y="152400"/>
                    <a:pt x="1009650" y="1104900"/>
                    <a:pt x="1295400" y="1009650"/>
                  </a:cubicBezTo>
                  <a:cubicBezTo>
                    <a:pt x="1581150" y="914400"/>
                    <a:pt x="1676400" y="419100"/>
                    <a:pt x="1924050" y="495300"/>
                  </a:cubicBezTo>
                  <a:cubicBezTo>
                    <a:pt x="2171700" y="571500"/>
                    <a:pt x="2362200" y="742950"/>
                    <a:pt x="2647950" y="685800"/>
                  </a:cubicBezTo>
                  <a:cubicBezTo>
                    <a:pt x="2933700" y="628650"/>
                    <a:pt x="3219450" y="609600"/>
                    <a:pt x="4286250" y="628650"/>
                  </a:cubicBezTo>
                </a:path>
              </a:pathLst>
            </a:custGeom>
            <a:noFill/>
            <a:ln w="33338" cap="rnd">
              <a:solidFill>
                <a:srgbClr val="E8590C"/>
              </a:solidFill>
            </a:ln>
          </p:spPr>
        </p:sp>
        <p:sp>
          <p:nvSpPr>
            <p:cNvPr id="13" name="Freeform 13"/>
            <p:cNvSpPr/>
            <p:nvPr/>
          </p:nvSpPr>
          <p:spPr>
            <a:xfrm>
              <a:off x="1428750" y="2667000"/>
              <a:ext cx="4286250" cy="1809750"/>
            </a:xfrm>
            <a:custGeom>
              <a:avLst/>
              <a:gdLst/>
              <a:ahLst/>
              <a:cxnLst/>
              <a:rect l="l" t="t" r="r" b="b"/>
              <a:pathLst>
                <a:path w="4286250" h="1809750">
                  <a:moveTo>
                    <a:pt x="0" y="1809750"/>
                  </a:moveTo>
                  <a:cubicBezTo>
                    <a:pt x="571500" y="381000"/>
                    <a:pt x="952500" y="19050"/>
                    <a:pt x="1524000" y="0"/>
                  </a:cubicBezTo>
                  <a:lnTo>
                    <a:pt x="4286250" y="0"/>
                  </a:lnTo>
                </a:path>
              </a:pathLst>
            </a:custGeom>
            <a:noFill/>
            <a:ln w="38100" cap="rnd">
              <a:solidFill>
                <a:srgbClr val="0B7A75"/>
              </a:solidFill>
            </a:ln>
          </p:spPr>
        </p:sp>
        <p:sp>
          <p:nvSpPr>
            <p:cNvPr id="14" name="Freeform 14"/>
            <p:cNvSpPr/>
            <p:nvPr/>
          </p:nvSpPr>
          <p:spPr>
            <a:xfrm>
              <a:off x="1428750" y="2819400"/>
              <a:ext cx="4286250" cy="1657350"/>
            </a:xfrm>
            <a:custGeom>
              <a:avLst/>
              <a:gdLst/>
              <a:ahLst/>
              <a:cxnLst/>
              <a:rect l="l" t="t" r="r" b="b"/>
              <a:pathLst>
                <a:path w="4286250" h="1657350">
                  <a:moveTo>
                    <a:pt x="0" y="1657350"/>
                  </a:moveTo>
                  <a:cubicBezTo>
                    <a:pt x="1143000" y="990600"/>
                    <a:pt x="2571750" y="209550"/>
                    <a:pt x="4286250" y="0"/>
                  </a:cubicBezTo>
                </a:path>
              </a:pathLst>
            </a:custGeom>
            <a:noFill/>
            <a:ln w="33338" cap="rnd">
              <a:solidFill>
                <a:srgbClr val="9AA8B8"/>
              </a:solidFill>
            </a:ln>
          </p:spPr>
        </p:sp>
        <p:sp>
          <p:nvSpPr>
            <p:cNvPr id="15" name="TextBox 15"/>
            <p:cNvSpPr txBox="1"/>
            <p:nvPr/>
          </p:nvSpPr>
          <p:spPr>
            <a:xfrm>
              <a:off x="5137709" y="4584700"/>
              <a:ext cx="545287"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time →</a:t>
              </a:r>
            </a:p>
          </p:txBody>
        </p:sp>
        <p:sp>
          <p:nvSpPr>
            <p:cNvPr id="16" name="TextBox 16"/>
            <p:cNvSpPr txBox="1"/>
            <p:nvPr/>
          </p:nvSpPr>
          <p:spPr>
            <a:xfrm>
              <a:off x="5137709" y="2413000"/>
              <a:ext cx="545287" cy="234696"/>
            </a:xfrm>
            <a:prstGeom prst="rect">
              <a:avLst/>
            </a:prstGeom>
            <a:noFill/>
            <a:ln>
              <a:noFill/>
            </a:ln>
          </p:spPr>
          <p:txBody>
            <a:bodyPr wrap="none" lIns="0" tIns="0" rIns="0" bIns="0" anchor="t" anchorCtr="0">
              <a:spAutoFit/>
            </a:bodyPr>
            <a:lstStyle/>
            <a:p>
              <a:pPr algn="r"/>
              <a:r>
                <a:rPr lang="en" sz="1200" dirty="0">
                  <a:solidFill>
                    <a:srgbClr val="0E1B2C"/>
                  </a:solidFill>
                  <a:latin typeface="Consolas"/>
                  <a:ea typeface="Consolas"/>
                  <a:cs typeface="Consolas"/>
                </a:rPr>
                <a:t>target</a:t>
              </a:r>
            </a:p>
          </p:txBody>
        </p:sp>
        <p:grpSp>
          <p:nvGrpSpPr>
            <p:cNvPr id="23" name="Group 23"/>
            <p:cNvGrpSpPr/>
            <p:nvPr/>
          </p:nvGrpSpPr>
          <p:grpSpPr>
            <a:xfrm>
              <a:off x="876300" y="4886325"/>
              <a:ext cx="4131190" cy="293370"/>
              <a:chOff x="876300" y="4886325"/>
              <a:chExt cx="4131190" cy="293370"/>
            </a:xfrm>
          </p:grpSpPr>
          <p:sp>
            <p:nvSpPr>
              <p:cNvPr id="17" name="Line 17"/>
              <p:cNvSpPr/>
              <p:nvPr/>
            </p:nvSpPr>
            <p:spPr>
              <a:xfrm>
                <a:off x="876300" y="5010150"/>
                <a:ext cx="285750" cy="9525"/>
              </a:xfrm>
              <a:custGeom>
                <a:avLst/>
                <a:gdLst/>
                <a:ahLst/>
                <a:cxnLst/>
                <a:rect l="l" t="t" r="r" b="b"/>
                <a:pathLst>
                  <a:path w="285750" h="9525">
                    <a:moveTo>
                      <a:pt x="0" y="0"/>
                    </a:moveTo>
                    <a:lnTo>
                      <a:pt x="285750" y="0"/>
                    </a:lnTo>
                  </a:path>
                </a:pathLst>
              </a:custGeom>
              <a:noFill/>
              <a:ln w="38100">
                <a:solidFill>
                  <a:srgbClr val="E8590C"/>
                </a:solidFill>
              </a:ln>
            </p:spPr>
          </p:sp>
          <p:sp>
            <p:nvSpPr>
              <p:cNvPr id="18" name="TextBox 18"/>
              <p:cNvSpPr txBox="1"/>
              <p:nvPr/>
            </p:nvSpPr>
            <p:spPr>
              <a:xfrm>
                <a:off x="1230630" y="4886325"/>
                <a:ext cx="1047001" cy="293370"/>
              </a:xfrm>
              <a:prstGeom prst="rect">
                <a:avLst/>
              </a:prstGeom>
              <a:noFill/>
              <a:ln>
                <a:noFill/>
              </a:ln>
            </p:spPr>
            <p:txBody>
              <a:bodyPr wrap="none" lIns="0" tIns="0" rIns="0" bIns="0" anchor="t" anchorCtr="0">
                <a:spAutoFit/>
              </a:bodyPr>
              <a:lstStyle/>
              <a:p>
                <a:pPr algn="l"/>
                <a:r>
                  <a:rPr lang="en" sz="1500" dirty="0">
                    <a:solidFill>
                      <a:srgbClr val="0E1B2C"/>
                    </a:solidFill>
                    <a:latin typeface="+mn-lt"/>
                    <a:ea typeface="+mn-ea"/>
                    <a:cs typeface="+mn-cs"/>
                  </a:rPr>
                  <a:t>too much P</a:t>
                </a:r>
              </a:p>
            </p:txBody>
          </p:sp>
          <p:sp>
            <p:nvSpPr>
              <p:cNvPr id="19" name="Line 19"/>
              <p:cNvSpPr/>
              <p:nvPr/>
            </p:nvSpPr>
            <p:spPr>
              <a:xfrm>
                <a:off x="2533650" y="5010150"/>
                <a:ext cx="285750" cy="9525"/>
              </a:xfrm>
              <a:custGeom>
                <a:avLst/>
                <a:gdLst/>
                <a:ahLst/>
                <a:cxnLst/>
                <a:rect l="l" t="t" r="r" b="b"/>
                <a:pathLst>
                  <a:path w="285750" h="9525">
                    <a:moveTo>
                      <a:pt x="0" y="0"/>
                    </a:moveTo>
                    <a:lnTo>
                      <a:pt x="285750" y="0"/>
                    </a:lnTo>
                  </a:path>
                </a:pathLst>
              </a:custGeom>
              <a:noFill/>
              <a:ln w="38100">
                <a:solidFill>
                  <a:srgbClr val="0B7A75"/>
                </a:solidFill>
              </a:ln>
            </p:spPr>
          </p:sp>
          <p:sp>
            <p:nvSpPr>
              <p:cNvPr id="20" name="TextBox 20"/>
              <p:cNvSpPr txBox="1"/>
              <p:nvPr/>
            </p:nvSpPr>
            <p:spPr>
              <a:xfrm>
                <a:off x="2887980" y="4886325"/>
                <a:ext cx="536744" cy="293370"/>
              </a:xfrm>
              <a:prstGeom prst="rect">
                <a:avLst/>
              </a:prstGeom>
              <a:noFill/>
              <a:ln>
                <a:noFill/>
              </a:ln>
            </p:spPr>
            <p:txBody>
              <a:bodyPr wrap="none" lIns="0" tIns="0" rIns="0" bIns="0" anchor="t" anchorCtr="0">
                <a:spAutoFit/>
              </a:bodyPr>
              <a:lstStyle/>
              <a:p>
                <a:pPr algn="l"/>
                <a:r>
                  <a:rPr lang="en" sz="1500" dirty="0">
                    <a:solidFill>
                      <a:srgbClr val="0E1B2C"/>
                    </a:solidFill>
                    <a:latin typeface="+mn-lt"/>
                    <a:ea typeface="+mn-ea"/>
                    <a:cs typeface="+mn-cs"/>
                  </a:rPr>
                  <a:t>tuned</a:t>
                </a:r>
              </a:p>
            </p:txBody>
          </p:sp>
          <p:sp>
            <p:nvSpPr>
              <p:cNvPr id="21" name="Line 21"/>
              <p:cNvSpPr/>
              <p:nvPr/>
            </p:nvSpPr>
            <p:spPr>
              <a:xfrm>
                <a:off x="3714750" y="5010150"/>
                <a:ext cx="285750" cy="9525"/>
              </a:xfrm>
              <a:custGeom>
                <a:avLst/>
                <a:gdLst/>
                <a:ahLst/>
                <a:cxnLst/>
                <a:rect l="l" t="t" r="r" b="b"/>
                <a:pathLst>
                  <a:path w="285750" h="9525">
                    <a:moveTo>
                      <a:pt x="0" y="0"/>
                    </a:moveTo>
                    <a:lnTo>
                      <a:pt x="285750" y="0"/>
                    </a:lnTo>
                  </a:path>
                </a:pathLst>
              </a:custGeom>
              <a:noFill/>
              <a:ln w="38100">
                <a:solidFill>
                  <a:srgbClr val="9AA8B8"/>
                </a:solidFill>
              </a:ln>
            </p:spPr>
          </p:sp>
          <p:sp>
            <p:nvSpPr>
              <p:cNvPr id="22" name="TextBox 22"/>
              <p:cNvSpPr txBox="1"/>
              <p:nvPr/>
            </p:nvSpPr>
            <p:spPr>
              <a:xfrm>
                <a:off x="4069080" y="4886325"/>
                <a:ext cx="938410" cy="293370"/>
              </a:xfrm>
              <a:prstGeom prst="rect">
                <a:avLst/>
              </a:prstGeom>
              <a:noFill/>
              <a:ln>
                <a:noFill/>
              </a:ln>
            </p:spPr>
            <p:txBody>
              <a:bodyPr wrap="none" lIns="0" tIns="0" rIns="0" bIns="0" anchor="t" anchorCtr="0">
                <a:spAutoFit/>
              </a:bodyPr>
              <a:lstStyle/>
              <a:p>
                <a:pPr algn="l"/>
                <a:r>
                  <a:rPr lang="en" sz="1500" dirty="0">
                    <a:solidFill>
                      <a:srgbClr val="0E1B2C"/>
                    </a:solidFill>
                    <a:latin typeface="+mn-lt"/>
                    <a:ea typeface="+mn-ea"/>
                    <a:cs typeface="+mn-cs"/>
                  </a:rPr>
                  <a:t>too little P</a:t>
                </a:r>
              </a:p>
            </p:txBody>
          </p:sp>
        </p:grpSp>
      </p:grpSp>
      <p:grpSp>
        <p:nvGrpSpPr>
          <p:cNvPr id="29" name="gain-p"/>
          <p:cNvGrpSpPr/>
          <p:nvPr/>
        </p:nvGrpSpPr>
        <p:grpSpPr>
          <a:xfrm>
            <a:off x="6305550" y="1524000"/>
            <a:ext cx="3909425" cy="1061720"/>
            <a:chOff x="6305550" y="1524000"/>
            <a:chExt cx="3909425" cy="1061720"/>
          </a:xfrm>
        </p:grpSpPr>
        <p:sp>
          <p:nvSpPr>
            <p:cNvPr id="25" name="Ellipse 25"/>
            <p:cNvSpPr/>
            <p:nvPr/>
          </p:nvSpPr>
          <p:spPr>
            <a:xfrm>
              <a:off x="6305550" y="1524000"/>
              <a:ext cx="495300" cy="495300"/>
            </a:xfrm>
            <a:prstGeom prst="ellipse">
              <a:avLst/>
            </a:prstGeom>
            <a:solidFill>
              <a:srgbClr val="0E2A47"/>
            </a:solidFill>
            <a:ln>
              <a:noFill/>
            </a:ln>
          </p:spPr>
        </p:sp>
        <p:sp>
          <p:nvSpPr>
            <p:cNvPr id="26" name="TextBox 26"/>
            <p:cNvSpPr txBox="1"/>
            <p:nvPr/>
          </p:nvSpPr>
          <p:spPr>
            <a:xfrm>
              <a:off x="6458100" y="1625600"/>
              <a:ext cx="190199" cy="381381"/>
            </a:xfrm>
            <a:prstGeom prst="rect">
              <a:avLst/>
            </a:prstGeom>
            <a:noFill/>
            <a:ln>
              <a:noFill/>
            </a:ln>
          </p:spPr>
          <p:txBody>
            <a:bodyPr wrap="none" lIns="0" tIns="0" rIns="0" bIns="0" anchor="t" anchorCtr="0">
              <a:spAutoFit/>
            </a:bodyPr>
            <a:lstStyle/>
            <a:p>
              <a:pPr algn="ctr"/>
              <a:r>
                <a:rPr lang="en" sz="1950" b="1" dirty="0">
                  <a:solidFill>
                    <a:srgbClr val="FFFFFF"/>
                  </a:solidFill>
                  <a:latin typeface="+mn-lt"/>
                  <a:ea typeface="+mn-ea"/>
                  <a:cs typeface="+mn-cs"/>
                </a:rPr>
                <a:t>P</a:t>
              </a:r>
            </a:p>
          </p:txBody>
        </p:sp>
        <p:sp>
          <p:nvSpPr>
            <p:cNvPr id="27" name="TextBox 27"/>
            <p:cNvSpPr txBox="1"/>
            <p:nvPr/>
          </p:nvSpPr>
          <p:spPr>
            <a:xfrm>
              <a:off x="6924294" y="1606550"/>
              <a:ext cx="3290681"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Stiffness </a:t>
              </a:r>
              <a:r>
                <a:rPr lang="en" sz="1500" dirty="0">
                  <a:solidFill>
                    <a:srgbClr val="4A5A6E"/>
                  </a:solidFill>
                  <a:latin typeface="+mn-lt"/>
                  <a:ea typeface="+mn-ea"/>
                  <a:cs typeface="+mn-cs"/>
                </a:rPr>
                <a:t>· reacts to the error now</a:t>
              </a:r>
            </a:p>
          </p:txBody>
        </p:sp>
        <p:sp>
          <p:nvSpPr>
            <p:cNvPr id="28" name="TextBox 28"/>
            <p:cNvSpPr txBox="1"/>
            <p:nvPr/>
          </p:nvSpPr>
          <p:spPr>
            <a:xfrm>
              <a:off x="6926580" y="2025650"/>
              <a:ext cx="3272980" cy="560070"/>
            </a:xfrm>
            <a:prstGeom prst="rect">
              <a:avLst/>
            </a:prstGeom>
            <a:noFill/>
            <a:ln>
              <a:noFill/>
            </a:ln>
          </p:spPr>
          <p:txBody>
            <a:bodyPr wrap="none" lIns="0" tIns="0" rIns="0" bIns="0" anchor="t" anchorCtr="0">
              <a:spAutoFit/>
            </a:bodyPr>
            <a:lstStyle/>
            <a:p>
              <a:pPr algn="l">
                <a:lnSpc>
                  <a:spcPts val="2100"/>
                </a:lnSpc>
              </a:pPr>
              <a:r>
                <a:rPr lang="en" sz="1500" b="1" dirty="0">
                  <a:solidFill>
                    <a:srgbClr val="C2410C"/>
                  </a:solidFill>
                  <a:latin typeface="+mn-lt"/>
                  <a:ea typeface="+mn-ea"/>
                  <a:cs typeface="+mn-cs"/>
                </a:rPr>
                <a:t>Too high:</a:t>
              </a:r>
              <a:r>
                <a:rPr lang="en" sz="1500" dirty="0">
                  <a:solidFill>
                    <a:srgbClr val="0E1B2C"/>
                  </a:solidFill>
                  <a:latin typeface="+mn-lt"/>
                  <a:ea typeface="+mn-ea"/>
                  <a:cs typeface="+mn-cs"/>
                </a:rPr>
                <a:t> fast ringing, buzzing motors</a:t>
              </a:r>
              <a:br>
                <a:rPr lang="en" sz="1500" dirty="0">
                  <a:solidFill>
                    <a:srgbClr val="0E1B2C"/>
                  </a:solidFill>
                  <a:latin typeface="+mn-lt"/>
                  <a:ea typeface="+mn-ea"/>
                  <a:cs typeface="+mn-cs"/>
                </a:rPr>
              </a:br>
              <a:r>
                <a:rPr lang="en" sz="1500" b="1" dirty="0">
                  <a:solidFill>
                    <a:srgbClr val="0B7A75"/>
                  </a:solidFill>
                  <a:latin typeface="+mn-lt"/>
                  <a:ea typeface="+mn-ea"/>
                  <a:cs typeface="+mn-cs"/>
                </a:rPr>
                <a:t>Too low:</a:t>
              </a:r>
              <a:r>
                <a:rPr lang="en" sz="1500" dirty="0">
                  <a:solidFill>
                    <a:srgbClr val="0E1B2C"/>
                  </a:solidFill>
                  <a:latin typeface="+mn-lt"/>
                  <a:ea typeface="+mn-ea"/>
                  <a:cs typeface="+mn-cs"/>
                </a:rPr>
                <a:t> sloppy, drifts off the line</a:t>
              </a:r>
            </a:p>
          </p:txBody>
        </p:sp>
      </p:grpSp>
      <p:grpSp>
        <p:nvGrpSpPr>
          <p:cNvPr id="34" name="gain-i"/>
          <p:cNvGrpSpPr/>
          <p:nvPr/>
        </p:nvGrpSpPr>
        <p:grpSpPr>
          <a:xfrm>
            <a:off x="6305550" y="2895600"/>
            <a:ext cx="3922490" cy="1061720"/>
            <a:chOff x="6305550" y="2895600"/>
            <a:chExt cx="3922490" cy="1061720"/>
          </a:xfrm>
        </p:grpSpPr>
        <p:sp>
          <p:nvSpPr>
            <p:cNvPr id="30" name="Ellipse 30"/>
            <p:cNvSpPr/>
            <p:nvPr/>
          </p:nvSpPr>
          <p:spPr>
            <a:xfrm>
              <a:off x="6305550" y="2895600"/>
              <a:ext cx="495300" cy="495300"/>
            </a:xfrm>
            <a:prstGeom prst="ellipse">
              <a:avLst/>
            </a:prstGeom>
            <a:solidFill>
              <a:srgbClr val="0E2A47"/>
            </a:solidFill>
            <a:ln>
              <a:noFill/>
            </a:ln>
          </p:spPr>
        </p:sp>
        <p:sp>
          <p:nvSpPr>
            <p:cNvPr id="31" name="TextBox 31"/>
            <p:cNvSpPr txBox="1"/>
            <p:nvPr/>
          </p:nvSpPr>
          <p:spPr>
            <a:xfrm>
              <a:off x="6499345" y="2997200"/>
              <a:ext cx="107710" cy="381381"/>
            </a:xfrm>
            <a:prstGeom prst="rect">
              <a:avLst/>
            </a:prstGeom>
            <a:noFill/>
            <a:ln>
              <a:noFill/>
            </a:ln>
          </p:spPr>
          <p:txBody>
            <a:bodyPr wrap="none" lIns="0" tIns="0" rIns="0" bIns="0" anchor="t" anchorCtr="0">
              <a:spAutoFit/>
            </a:bodyPr>
            <a:lstStyle/>
            <a:p>
              <a:pPr algn="ctr"/>
              <a:r>
                <a:rPr lang="en" sz="1950" b="1" dirty="0">
                  <a:solidFill>
                    <a:srgbClr val="FFFFFF"/>
                  </a:solidFill>
                  <a:latin typeface="+mn-lt"/>
                  <a:ea typeface="+mn-ea"/>
                  <a:cs typeface="+mn-cs"/>
                </a:rPr>
                <a:t>I</a:t>
              </a:r>
            </a:p>
          </p:txBody>
        </p:sp>
        <p:sp>
          <p:nvSpPr>
            <p:cNvPr id="32" name="TextBox 32"/>
            <p:cNvSpPr txBox="1"/>
            <p:nvPr/>
          </p:nvSpPr>
          <p:spPr>
            <a:xfrm>
              <a:off x="6924294" y="2978150"/>
              <a:ext cx="3184672"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Memory </a:t>
              </a:r>
              <a:r>
                <a:rPr lang="en" sz="1500" dirty="0">
                  <a:solidFill>
                    <a:srgbClr val="4A5A6E"/>
                  </a:solidFill>
                  <a:latin typeface="+mn-lt"/>
                  <a:ea typeface="+mn-ea"/>
                  <a:cs typeface="+mn-cs"/>
                </a:rPr>
                <a:t>· fixes error that lingers</a:t>
              </a:r>
            </a:p>
          </p:txBody>
        </p:sp>
        <p:sp>
          <p:nvSpPr>
            <p:cNvPr id="33" name="TextBox 33"/>
            <p:cNvSpPr txBox="1"/>
            <p:nvPr/>
          </p:nvSpPr>
          <p:spPr>
            <a:xfrm>
              <a:off x="6926580" y="3397250"/>
              <a:ext cx="3301460" cy="560070"/>
            </a:xfrm>
            <a:prstGeom prst="rect">
              <a:avLst/>
            </a:prstGeom>
            <a:noFill/>
            <a:ln>
              <a:noFill/>
            </a:ln>
          </p:spPr>
          <p:txBody>
            <a:bodyPr wrap="none" lIns="0" tIns="0" rIns="0" bIns="0" anchor="t" anchorCtr="0">
              <a:spAutoFit/>
            </a:bodyPr>
            <a:lstStyle/>
            <a:p>
              <a:pPr algn="l">
                <a:lnSpc>
                  <a:spcPts val="2100"/>
                </a:lnSpc>
              </a:pPr>
              <a:r>
                <a:rPr lang="en" sz="1500" b="1" dirty="0">
                  <a:solidFill>
                    <a:srgbClr val="C2410C"/>
                  </a:solidFill>
                  <a:latin typeface="+mn-lt"/>
                  <a:ea typeface="+mn-ea"/>
                  <a:cs typeface="+mn-cs"/>
                </a:rPr>
                <a:t>Too high:</a:t>
              </a:r>
              <a:r>
                <a:rPr lang="en" sz="1500" dirty="0">
                  <a:solidFill>
                    <a:srgbClr val="0E1B2C"/>
                  </a:solidFill>
                  <a:latin typeface="+mn-lt"/>
                  <a:ea typeface="+mn-ea"/>
                  <a:cs typeface="+mn-cs"/>
                </a:rPr>
                <a:t> slow wobble after a move</a:t>
              </a:r>
              <a:br>
                <a:rPr lang="en" sz="1500" dirty="0">
                  <a:solidFill>
                    <a:srgbClr val="0E1B2C"/>
                  </a:solidFill>
                  <a:latin typeface="+mn-lt"/>
                  <a:ea typeface="+mn-ea"/>
                  <a:cs typeface="+mn-cs"/>
                </a:rPr>
              </a:br>
              <a:r>
                <a:rPr lang="en" sz="1500" b="1" dirty="0">
                  <a:solidFill>
                    <a:srgbClr val="0B7A75"/>
                  </a:solidFill>
                  <a:latin typeface="+mn-lt"/>
                  <a:ea typeface="+mn-ea"/>
                  <a:cs typeface="+mn-cs"/>
                </a:rPr>
                <a:t>Too low:</a:t>
              </a:r>
              <a:r>
                <a:rPr lang="en" sz="1500" dirty="0">
                  <a:solidFill>
                    <a:srgbClr val="0E1B2C"/>
                  </a:solidFill>
                  <a:latin typeface="+mn-lt"/>
                  <a:ea typeface="+mn-ea"/>
                  <a:cs typeface="+mn-cs"/>
                </a:rPr>
                <a:t> will not hold its angle in wind</a:t>
              </a:r>
            </a:p>
          </p:txBody>
        </p:sp>
      </p:grpSp>
      <p:grpSp>
        <p:nvGrpSpPr>
          <p:cNvPr id="39" name="gain-d"/>
          <p:cNvGrpSpPr/>
          <p:nvPr/>
        </p:nvGrpSpPr>
        <p:grpSpPr>
          <a:xfrm>
            <a:off x="6305550" y="4267200"/>
            <a:ext cx="3831603" cy="1061720"/>
            <a:chOff x="6305550" y="4267200"/>
            <a:chExt cx="3831603" cy="1061720"/>
          </a:xfrm>
        </p:grpSpPr>
        <p:sp>
          <p:nvSpPr>
            <p:cNvPr id="35" name="Ellipse 35"/>
            <p:cNvSpPr/>
            <p:nvPr/>
          </p:nvSpPr>
          <p:spPr>
            <a:xfrm>
              <a:off x="6305550" y="4267200"/>
              <a:ext cx="495300" cy="495300"/>
            </a:xfrm>
            <a:prstGeom prst="ellipse">
              <a:avLst/>
            </a:prstGeom>
            <a:solidFill>
              <a:srgbClr val="0E2A47"/>
            </a:solidFill>
            <a:ln>
              <a:noFill/>
            </a:ln>
          </p:spPr>
        </p:sp>
        <p:sp>
          <p:nvSpPr>
            <p:cNvPr id="36" name="TextBox 36"/>
            <p:cNvSpPr txBox="1"/>
            <p:nvPr/>
          </p:nvSpPr>
          <p:spPr>
            <a:xfrm>
              <a:off x="6441042" y="4368800"/>
              <a:ext cx="224315" cy="381381"/>
            </a:xfrm>
            <a:prstGeom prst="rect">
              <a:avLst/>
            </a:prstGeom>
            <a:noFill/>
            <a:ln>
              <a:noFill/>
            </a:ln>
          </p:spPr>
          <p:txBody>
            <a:bodyPr wrap="none" lIns="0" tIns="0" rIns="0" bIns="0" anchor="t" anchorCtr="0">
              <a:spAutoFit/>
            </a:bodyPr>
            <a:lstStyle/>
            <a:p>
              <a:pPr algn="ctr"/>
              <a:r>
                <a:rPr lang="en" sz="1950" b="1" dirty="0">
                  <a:solidFill>
                    <a:srgbClr val="FFFFFF"/>
                  </a:solidFill>
                  <a:latin typeface="+mn-lt"/>
                  <a:ea typeface="+mn-ea"/>
                  <a:cs typeface="+mn-cs"/>
                </a:rPr>
                <a:t>D</a:t>
              </a:r>
            </a:p>
          </p:txBody>
        </p:sp>
        <p:sp>
          <p:nvSpPr>
            <p:cNvPr id="37" name="TextBox 37"/>
            <p:cNvSpPr txBox="1"/>
            <p:nvPr/>
          </p:nvSpPr>
          <p:spPr>
            <a:xfrm>
              <a:off x="6924294" y="4349750"/>
              <a:ext cx="2959493" cy="381381"/>
            </a:xfrm>
            <a:prstGeom prst="rect">
              <a:avLst/>
            </a:prstGeom>
            <a:noFill/>
            <a:ln>
              <a:noFill/>
            </a:ln>
          </p:spPr>
          <p:txBody>
            <a:bodyPr wrap="none" lIns="0" tIns="0" rIns="0" bIns="0" anchor="t" anchorCtr="0">
              <a:spAutoFit/>
            </a:bodyPr>
            <a:lstStyle/>
            <a:p>
              <a:pPr algn="l"/>
              <a:r>
                <a:rPr lang="en" sz="1950" b="1" dirty="0">
                  <a:solidFill>
                    <a:srgbClr val="0E1B2C"/>
                  </a:solidFill>
                  <a:latin typeface="+mn-lt"/>
                  <a:ea typeface="+mn-ea"/>
                  <a:cs typeface="+mn-cs"/>
                </a:rPr>
                <a:t>Damping </a:t>
              </a:r>
              <a:r>
                <a:rPr lang="en" sz="1500" dirty="0">
                  <a:solidFill>
                    <a:srgbClr val="4A5A6E"/>
                  </a:solidFill>
                  <a:latin typeface="+mn-lt"/>
                  <a:ea typeface="+mn-ea"/>
                  <a:cs typeface="+mn-cs"/>
                </a:rPr>
                <a:t>· brakes the motion</a:t>
              </a:r>
            </a:p>
          </p:txBody>
        </p:sp>
        <p:sp>
          <p:nvSpPr>
            <p:cNvPr id="38" name="TextBox 38"/>
            <p:cNvSpPr txBox="1"/>
            <p:nvPr/>
          </p:nvSpPr>
          <p:spPr>
            <a:xfrm>
              <a:off x="6926580" y="4768850"/>
              <a:ext cx="3210573" cy="560070"/>
            </a:xfrm>
            <a:prstGeom prst="rect">
              <a:avLst/>
            </a:prstGeom>
            <a:noFill/>
            <a:ln>
              <a:noFill/>
            </a:ln>
          </p:spPr>
          <p:txBody>
            <a:bodyPr wrap="none" lIns="0" tIns="0" rIns="0" bIns="0" anchor="t" anchorCtr="0">
              <a:spAutoFit/>
            </a:bodyPr>
            <a:lstStyle/>
            <a:p>
              <a:pPr algn="l">
                <a:lnSpc>
                  <a:spcPts val="2100"/>
                </a:lnSpc>
              </a:pPr>
              <a:r>
                <a:rPr lang="en" sz="1500" b="1" dirty="0">
                  <a:solidFill>
                    <a:srgbClr val="C2410C"/>
                  </a:solidFill>
                  <a:latin typeface="+mn-lt"/>
                  <a:ea typeface="+mn-ea"/>
                  <a:cs typeface="+mn-cs"/>
                </a:rPr>
                <a:t>Too high:</a:t>
              </a:r>
              <a:r>
                <a:rPr lang="en" sz="1500" dirty="0">
                  <a:solidFill>
                    <a:srgbClr val="0E1B2C"/>
                  </a:solidFill>
                  <a:latin typeface="+mn-lt"/>
                  <a:ea typeface="+mn-ea"/>
                  <a:cs typeface="+mn-cs"/>
                </a:rPr>
                <a:t> amplifies noise, hot motors</a:t>
              </a:r>
              <a:br>
                <a:rPr lang="en" sz="1500" dirty="0">
                  <a:solidFill>
                    <a:srgbClr val="0E1B2C"/>
                  </a:solidFill>
                  <a:latin typeface="+mn-lt"/>
                  <a:ea typeface="+mn-ea"/>
                  <a:cs typeface="+mn-cs"/>
                </a:rPr>
              </a:br>
              <a:r>
                <a:rPr lang="en" sz="1500" b="1" dirty="0">
                  <a:solidFill>
                    <a:srgbClr val="0B7A75"/>
                  </a:solidFill>
                  <a:latin typeface="+mn-lt"/>
                  <a:ea typeface="+mn-ea"/>
                  <a:cs typeface="+mn-cs"/>
                </a:rPr>
                <a:t>Too low:</a:t>
              </a:r>
              <a:r>
                <a:rPr lang="en" sz="1500" dirty="0">
                  <a:solidFill>
                    <a:srgbClr val="0E1B2C"/>
                  </a:solidFill>
                  <a:latin typeface="+mn-lt"/>
                  <a:ea typeface="+mn-ea"/>
                  <a:cs typeface="+mn-cs"/>
                </a:rPr>
                <a:t> overshoot, prop-wash shake</a:t>
              </a:r>
            </a:p>
          </p:txBody>
        </p:sp>
      </p:grpSp>
      <p:grpSp>
        <p:nvGrpSpPr>
          <p:cNvPr id="47" name="tuning-steps"/>
          <p:cNvGrpSpPr/>
          <p:nvPr/>
        </p:nvGrpSpPr>
        <p:grpSpPr>
          <a:xfrm>
            <a:off x="609600" y="5600700"/>
            <a:ext cx="10972800" cy="571500"/>
            <a:chOff x="609600" y="5600700"/>
            <a:chExt cx="10972800" cy="571500"/>
          </a:xfrm>
        </p:grpSpPr>
        <p:sp>
          <p:nvSpPr>
            <p:cNvPr id="40" name="Freeform 40"/>
            <p:cNvSpPr/>
            <p:nvPr/>
          </p:nvSpPr>
          <p:spPr>
            <a:xfrm>
              <a:off x="609600" y="5600700"/>
              <a:ext cx="3733800" cy="571500"/>
            </a:xfrm>
            <a:prstGeom prst="homePlate">
              <a:avLst>
                <a:gd name="adj" fmla="val 40000"/>
              </a:avLst>
            </a:prstGeom>
            <a:solidFill>
              <a:srgbClr val="0E2A47"/>
            </a:solidFill>
            <a:ln>
              <a:noFill/>
            </a:ln>
          </p:spPr>
        </p:sp>
        <p:sp>
          <p:nvSpPr>
            <p:cNvPr id="41" name="Freeform 41"/>
            <p:cNvSpPr/>
            <p:nvPr/>
          </p:nvSpPr>
          <p:spPr>
            <a:xfrm>
              <a:off x="4191000" y="5600700"/>
              <a:ext cx="3733800" cy="571500"/>
            </a:xfrm>
            <a:prstGeom prst="chevron">
              <a:avLst>
                <a:gd name="adj" fmla="val 40000"/>
              </a:avLst>
            </a:prstGeom>
            <a:solidFill>
              <a:srgbClr val="1F4A73"/>
            </a:solidFill>
            <a:ln>
              <a:noFill/>
            </a:ln>
          </p:spPr>
        </p:sp>
        <p:sp>
          <p:nvSpPr>
            <p:cNvPr id="42" name="Freeform 42"/>
            <p:cNvSpPr/>
            <p:nvPr/>
          </p:nvSpPr>
          <p:spPr>
            <a:xfrm>
              <a:off x="7772400" y="5600700"/>
              <a:ext cx="3810000" cy="571500"/>
            </a:xfrm>
            <a:prstGeom prst="chevron">
              <a:avLst>
                <a:gd name="adj" fmla="val 40000"/>
              </a:avLst>
            </a:prstGeom>
            <a:solidFill>
              <a:srgbClr val="0B7A75"/>
            </a:solidFill>
            <a:ln>
              <a:noFill/>
            </a:ln>
          </p:spPr>
        </p:sp>
        <p:grpSp>
          <p:nvGrpSpPr>
            <p:cNvPr id="46" name="Group 46"/>
            <p:cNvGrpSpPr/>
            <p:nvPr/>
          </p:nvGrpSpPr>
          <p:grpSpPr>
            <a:xfrm>
              <a:off x="830580" y="5762625"/>
              <a:ext cx="9708330" cy="293370"/>
              <a:chOff x="830580" y="5762625"/>
              <a:chExt cx="9708330" cy="293370"/>
            </a:xfrm>
          </p:grpSpPr>
          <p:sp>
            <p:nvSpPr>
              <p:cNvPr id="43" name="TextBox 43"/>
              <p:cNvSpPr txBox="1"/>
              <p:nvPr/>
            </p:nvSpPr>
            <p:spPr>
              <a:xfrm>
                <a:off x="830580" y="5762625"/>
                <a:ext cx="2928893" cy="293370"/>
              </a:xfrm>
              <a:prstGeom prst="rect">
                <a:avLst/>
              </a:prstGeom>
              <a:noFill/>
              <a:ln>
                <a:noFill/>
              </a:ln>
            </p:spPr>
            <p:txBody>
              <a:bodyPr wrap="none" lIns="0" tIns="0" rIns="0" bIns="0" anchor="t" anchorCtr="0">
                <a:spAutoFit/>
              </a:bodyPr>
              <a:lstStyle/>
              <a:p>
                <a:pPr algn="l"/>
                <a:r>
                  <a:rPr lang="en" sz="1500" b="1" dirty="0">
                    <a:solidFill>
                      <a:srgbClr val="FFFFFF"/>
                    </a:solidFill>
                    <a:latin typeface="+mn-lt"/>
                    <a:ea typeface="+mn-ea"/>
                    <a:cs typeface="+mn-cs"/>
                  </a:rPr>
                  <a:t>1 ·</a:t>
                </a:r>
                <a:r>
                  <a:rPr lang="en" sz="1500" dirty="0">
                    <a:solidFill>
                      <a:srgbClr val="FFFFFF"/>
                    </a:solidFill>
                    <a:latin typeface="+mn-lt"/>
                    <a:ea typeface="+mn-ea"/>
                    <a:cs typeface="+mn-cs"/>
                  </a:rPr>
                  <a:t> P up until it rings, then −15 %</a:t>
                </a:r>
              </a:p>
            </p:txBody>
          </p:sp>
          <p:sp>
            <p:nvSpPr>
              <p:cNvPr id="44" name="TextBox 44"/>
              <p:cNvSpPr txBox="1"/>
              <p:nvPr/>
            </p:nvSpPr>
            <p:spPr>
              <a:xfrm>
                <a:off x="4602480" y="5762625"/>
                <a:ext cx="2666645" cy="293370"/>
              </a:xfrm>
              <a:prstGeom prst="rect">
                <a:avLst/>
              </a:prstGeom>
              <a:noFill/>
              <a:ln>
                <a:noFill/>
              </a:ln>
            </p:spPr>
            <p:txBody>
              <a:bodyPr wrap="none" lIns="0" tIns="0" rIns="0" bIns="0" anchor="t" anchorCtr="0">
                <a:spAutoFit/>
              </a:bodyPr>
              <a:lstStyle/>
              <a:p>
                <a:pPr algn="l"/>
                <a:r>
                  <a:rPr lang="en" sz="1500" b="1" dirty="0">
                    <a:solidFill>
                      <a:srgbClr val="FFFFFF"/>
                    </a:solidFill>
                    <a:latin typeface="+mn-lt"/>
                    <a:ea typeface="+mn-ea"/>
                    <a:cs typeface="+mn-cs"/>
                  </a:rPr>
                  <a:t>2 ·</a:t>
                </a:r>
                <a:r>
                  <a:rPr lang="en" sz="1500" dirty="0">
                    <a:solidFill>
                      <a:srgbClr val="FFFFFF"/>
                    </a:solidFill>
                    <a:latin typeface="+mn-lt"/>
                    <a:ea typeface="+mn-ea"/>
                    <a:cs typeface="+mn-cs"/>
                  </a:rPr>
                  <a:t> D up until overshoot stops</a:t>
                </a:r>
              </a:p>
            </p:txBody>
          </p:sp>
          <p:sp>
            <p:nvSpPr>
              <p:cNvPr id="45" name="TextBox 45"/>
              <p:cNvSpPr txBox="1"/>
              <p:nvPr/>
            </p:nvSpPr>
            <p:spPr>
              <a:xfrm>
                <a:off x="8183880" y="5762625"/>
                <a:ext cx="2355030" cy="293370"/>
              </a:xfrm>
              <a:prstGeom prst="rect">
                <a:avLst/>
              </a:prstGeom>
              <a:noFill/>
              <a:ln>
                <a:noFill/>
              </a:ln>
            </p:spPr>
            <p:txBody>
              <a:bodyPr wrap="none" lIns="0" tIns="0" rIns="0" bIns="0" anchor="t" anchorCtr="0">
                <a:spAutoFit/>
              </a:bodyPr>
              <a:lstStyle/>
              <a:p>
                <a:pPr algn="l"/>
                <a:r>
                  <a:rPr lang="en" sz="1500" b="1" dirty="0">
                    <a:solidFill>
                      <a:srgbClr val="FFFFFF"/>
                    </a:solidFill>
                    <a:latin typeface="+mn-lt"/>
                    <a:ea typeface="+mn-ea"/>
                    <a:cs typeface="+mn-cs"/>
                  </a:rPr>
                  <a:t>3 ·</a:t>
                </a:r>
                <a:r>
                  <a:rPr lang="en" sz="1500" dirty="0">
                    <a:solidFill>
                      <a:srgbClr val="FFFFFF"/>
                    </a:solidFill>
                    <a:latin typeface="+mn-lt"/>
                    <a:ea typeface="+mn-ea"/>
                    <a:cs typeface="+mn-cs"/>
                  </a:rPr>
                  <a:t> I up until it holds angle</a:t>
                </a:r>
              </a:p>
            </p:txBody>
          </p:sp>
        </p:grpSp>
      </p:grpSp>
      <p:grpSp>
        <p:nvGrpSpPr>
          <p:cNvPr id="50" name="footer"/>
          <p:cNvGrpSpPr/>
          <p:nvPr/>
        </p:nvGrpSpPr>
        <p:grpSpPr>
          <a:xfrm>
            <a:off x="603504" y="6457950"/>
            <a:ext cx="10984992" cy="247396"/>
            <a:chOff x="603504" y="6457950"/>
            <a:chExt cx="10984992" cy="247396"/>
          </a:xfrm>
        </p:grpSpPr>
        <p:sp>
          <p:nvSpPr>
            <p:cNvPr id="48" name="TextBox 48"/>
            <p:cNvSpPr txBox="1"/>
            <p:nvPr/>
          </p:nvSpPr>
          <p:spPr>
            <a:xfrm>
              <a:off x="603504" y="6457950"/>
              <a:ext cx="8110332" cy="234696"/>
            </a:xfrm>
            <a:prstGeom prst="rect">
              <a:avLst/>
            </a:prstGeom>
            <a:noFill/>
            <a:ln>
              <a:noFill/>
            </a:ln>
          </p:spPr>
          <p:txBody>
            <a:bodyPr wrap="none" lIns="0" tIns="0" rIns="0" bIns="0" anchor="t" anchorCtr="0">
              <a:spAutoFit/>
            </a:bodyPr>
            <a:lstStyle/>
            <a:p>
              <a:pPr algn="l"/>
              <a:r>
                <a:rPr lang="en" sz="1200" dirty="0">
                  <a:solidFill>
                    <a:srgbClr val="6B7A8C"/>
                  </a:solidFill>
                  <a:latin typeface="+mn-lt"/>
                  <a:ea typeface="+mn-ea"/>
                  <a:cs typeface="+mn-cs"/>
                </a:rPr>
                <a:t>Start with I and D at zero. Check motor temperature after every D change. Our gains tune live from the web page.</a:t>
              </a:r>
            </a:p>
          </p:txBody>
        </p:sp>
        <p:sp>
          <p:nvSpPr>
            <p:cNvPr id="49" name="TextBox 49"/>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20 / 21</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right)">
                                      <p:cBhvr>
                                        <p:cTn id="7" dur="1200"/>
                                        <p:tgtEl>
                                          <p:spTgt spid="24"/>
                                        </p:tgtEl>
                                      </p:cBhvr>
                                    </p:animEffect>
                                  </p:childTnLst>
                                </p:cTn>
                              </p:par>
                            </p:childTnLst>
                          </p:cTn>
                        </p:par>
                        <p:par>
                          <p:cTn id="8" fill="hold">
                            <p:stCondLst>
                              <p:cond delay="1200"/>
                            </p:stCondLst>
                            <p:childTnLst>
                              <p:par>
                                <p:cTn id="9" presetID="10" presetClass="entr" presetSubtype="0" fill="hold" nodeType="afterEffect">
                                  <p:stCondLst>
                                    <p:cond delay="1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450"/>
                                        <p:tgtEl>
                                          <p:spTgt spid="29"/>
                                        </p:tgtEl>
                                      </p:cBhvr>
                                    </p:animEffect>
                                  </p:childTnLst>
                                </p:cTn>
                              </p:par>
                            </p:childTnLst>
                          </p:cTn>
                        </p:par>
                        <p:par>
                          <p:cTn id="12" fill="hold">
                            <p:stCondLst>
                              <p:cond delay="1750"/>
                            </p:stCondLst>
                            <p:childTnLst>
                              <p:par>
                                <p:cTn id="13" presetID="10" presetClass="entr" presetSubtype="0" fill="hold" nodeType="afterEffect">
                                  <p:stCondLst>
                                    <p:cond delay="10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450"/>
                                        <p:tgtEl>
                                          <p:spTgt spid="34"/>
                                        </p:tgtEl>
                                      </p:cBhvr>
                                    </p:animEffect>
                                  </p:childTnLst>
                                </p:cTn>
                              </p:par>
                            </p:childTnLst>
                          </p:cTn>
                        </p:par>
                        <p:par>
                          <p:cTn id="16" fill="hold">
                            <p:stCondLst>
                              <p:cond delay="2300"/>
                            </p:stCondLst>
                            <p:childTnLst>
                              <p:par>
                                <p:cTn id="17" presetID="10" presetClass="entr" presetSubtype="0" fill="hold" nodeType="afterEffect">
                                  <p:stCondLst>
                                    <p:cond delay="10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50"/>
                                        <p:tgtEl>
                                          <p:spTgt spid="39"/>
                                        </p:tgtEl>
                                      </p:cBhvr>
                                    </p:animEffect>
                                  </p:childTnLst>
                                </p:cTn>
                              </p:par>
                            </p:childTnLst>
                          </p:cTn>
                        </p:par>
                        <p:par>
                          <p:cTn id="20" fill="hold">
                            <p:stCondLst>
                              <p:cond delay="2850"/>
                            </p:stCondLst>
                            <p:childTnLst>
                              <p:par>
                                <p:cTn id="21" presetID="22" presetClass="entr" presetSubtype="2" fill="hold" nodeType="afterEffect">
                                  <p:stCondLst>
                                    <p:cond delay="100"/>
                                  </p:stCondLst>
                                  <p:childTnLst>
                                    <p:set>
                                      <p:cBhvr>
                                        <p:cTn id="22" dur="1" fill="hold">
                                          <p:stCondLst>
                                            <p:cond delay="0"/>
                                          </p:stCondLst>
                                        </p:cTn>
                                        <p:tgtEl>
                                          <p:spTgt spid="47"/>
                                        </p:tgtEl>
                                        <p:attrNameLst>
                                          <p:attrName>style.visibility</p:attrName>
                                        </p:attrNameLst>
                                      </p:cBhvr>
                                      <p:to>
                                        <p:strVal val="visible"/>
                                      </p:to>
                                    </p:set>
                                    <p:animEffect transition="in" filter="wipe(right)">
                                      <p:cBhvr>
                                        <p:cTn id="23" dur="8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closing-title"/>
          <p:cNvGrpSpPr/>
          <p:nvPr/>
        </p:nvGrpSpPr>
        <p:grpSpPr>
          <a:xfrm>
            <a:off x="590550" y="1054100"/>
            <a:ext cx="3977030" cy="2000250"/>
            <a:chOff x="590550" y="1054100"/>
            <a:chExt cx="3977030" cy="2000250"/>
          </a:xfrm>
        </p:grpSpPr>
        <p:sp>
          <p:nvSpPr>
            <p:cNvPr id="2" name="TextBox 2"/>
            <p:cNvSpPr txBox="1"/>
            <p:nvPr/>
          </p:nvSpPr>
          <p:spPr>
            <a:xfrm>
              <a:off x="602742" y="1054100"/>
              <a:ext cx="1515770" cy="264033"/>
            </a:xfrm>
            <a:prstGeom prst="rect">
              <a:avLst/>
            </a:prstGeom>
            <a:noFill/>
            <a:ln>
              <a:noFill/>
            </a:ln>
          </p:spPr>
          <p:txBody>
            <a:bodyPr wrap="none" lIns="0" tIns="0" rIns="0" bIns="0" anchor="t" anchorCtr="0">
              <a:spAutoFit/>
            </a:bodyPr>
            <a:lstStyle/>
            <a:p>
              <a:pPr algn="l"/>
              <a:r>
                <a:rPr lang="en" sz="1350" spc="150" dirty="0">
                  <a:solidFill>
                    <a:srgbClr val="C2410C"/>
                  </a:solidFill>
                  <a:latin typeface="Consolas"/>
                  <a:ea typeface="Consolas"/>
                  <a:cs typeface="Consolas"/>
                </a:rPr>
                <a:t>21 / WRAP-UP</a:t>
              </a:r>
            </a:p>
          </p:txBody>
        </p:sp>
        <p:sp>
          <p:nvSpPr>
            <p:cNvPr id="3" name="TextBox 3"/>
            <p:cNvSpPr txBox="1"/>
            <p:nvPr/>
          </p:nvSpPr>
          <p:spPr>
            <a:xfrm>
              <a:off x="590550" y="1435100"/>
              <a:ext cx="3977030" cy="1619250"/>
            </a:xfrm>
            <a:prstGeom prst="rect">
              <a:avLst/>
            </a:prstGeom>
            <a:noFill/>
            <a:ln>
              <a:noFill/>
            </a:ln>
          </p:spPr>
          <p:txBody>
            <a:bodyPr wrap="none" lIns="0" tIns="0" rIns="0" bIns="0" anchor="t" anchorCtr="0">
              <a:spAutoFit/>
            </a:bodyPr>
            <a:lstStyle/>
            <a:p>
              <a:pPr algn="l">
                <a:lnSpc>
                  <a:spcPts val="5400"/>
                </a:lnSpc>
              </a:pPr>
              <a:r>
                <a:rPr lang="en" sz="4800" b="1" dirty="0">
                  <a:solidFill>
                    <a:srgbClr val="0E1B2C"/>
                  </a:solidFill>
                  <a:latin typeface="+mn-lt"/>
                  <a:ea typeface="+mn-ea"/>
                  <a:cs typeface="+mn-cs"/>
                </a:rPr>
                <a:t>Measure first,</a:t>
              </a:r>
              <a:br>
                <a:rPr lang="en" sz="4800" b="1" dirty="0">
                  <a:solidFill>
                    <a:srgbClr val="0E1B2C"/>
                  </a:solidFill>
                  <a:latin typeface="+mn-lt"/>
                  <a:ea typeface="+mn-ea"/>
                  <a:cs typeface="+mn-cs"/>
                </a:rPr>
              </a:br>
              <a:r>
                <a:rPr lang="en" sz="4800" b="1" dirty="0">
                  <a:solidFill>
                    <a:srgbClr val="E8590C"/>
                  </a:solidFill>
                  <a:latin typeface="+mn-lt"/>
                  <a:ea typeface="+mn-ea"/>
                  <a:cs typeface="+mn-cs"/>
                </a:rPr>
                <a:t>then</a:t>
              </a:r>
              <a:r>
                <a:rPr lang="en" sz="4800" b="1" dirty="0">
                  <a:solidFill>
                    <a:srgbClr val="0E1B2C"/>
                  </a:solidFill>
                  <a:latin typeface="+mn-lt"/>
                  <a:ea typeface="+mn-ea"/>
                  <a:cs typeface="+mn-cs"/>
                </a:rPr>
                <a:t> design.</a:t>
              </a:r>
            </a:p>
          </p:txBody>
        </p:sp>
      </p:grpSp>
      <p:grpSp>
        <p:nvGrpSpPr>
          <p:cNvPr id="10" name="recap"/>
          <p:cNvGrpSpPr/>
          <p:nvPr/>
        </p:nvGrpSpPr>
        <p:grpSpPr>
          <a:xfrm>
            <a:off x="601218" y="3073400"/>
            <a:ext cx="4346575" cy="1961007"/>
            <a:chOff x="601218" y="3073400"/>
            <a:chExt cx="4346575" cy="1961007"/>
          </a:xfrm>
        </p:grpSpPr>
        <p:sp>
          <p:nvSpPr>
            <p:cNvPr id="5" name="TextBox 5"/>
            <p:cNvSpPr txBox="1"/>
            <p:nvPr/>
          </p:nvSpPr>
          <p:spPr>
            <a:xfrm>
              <a:off x="602742" y="3073400"/>
              <a:ext cx="1282141" cy="264033"/>
            </a:xfrm>
            <a:prstGeom prst="rect">
              <a:avLst/>
            </a:prstGeom>
            <a:noFill/>
            <a:ln>
              <a:noFill/>
            </a:ln>
          </p:spPr>
          <p:txBody>
            <a:bodyPr wrap="none" lIns="0" tIns="0" rIns="0" bIns="0" anchor="t" anchorCtr="0">
              <a:spAutoFit/>
            </a:bodyPr>
            <a:lstStyle/>
            <a:p>
              <a:pPr algn="l"/>
              <a:r>
                <a:rPr lang="en" sz="1350" spc="75" dirty="0">
                  <a:solidFill>
                    <a:srgbClr val="6B7A8C"/>
                  </a:solidFill>
                  <a:latin typeface="Consolas"/>
                  <a:ea typeface="Consolas"/>
                  <a:cs typeface="Consolas"/>
                </a:rPr>
                <a:t>YOU CAN NOW</a:t>
              </a:r>
            </a:p>
          </p:txBody>
        </p:sp>
        <p:sp>
          <p:nvSpPr>
            <p:cNvPr id="6" name="TextBox 6"/>
            <p:cNvSpPr txBox="1"/>
            <p:nvPr/>
          </p:nvSpPr>
          <p:spPr>
            <a:xfrm>
              <a:off x="601218" y="3454400"/>
              <a:ext cx="3983894" cy="322707"/>
            </a:xfrm>
            <a:prstGeom prst="rect">
              <a:avLst/>
            </a:prstGeom>
            <a:noFill/>
            <a:ln>
              <a:noFill/>
            </a:ln>
          </p:spPr>
          <p:txBody>
            <a:bodyPr wrap="none" lIns="0" tIns="0" rIns="0" bIns="0" anchor="t" anchorCtr="0">
              <a:spAutoFit/>
            </a:bodyPr>
            <a:lstStyle/>
            <a:p>
              <a:pPr algn="l"/>
              <a:r>
                <a:rPr lang="en" sz="1650" b="1" dirty="0">
                  <a:solidFill>
                    <a:srgbClr val="127A3E"/>
                  </a:solidFill>
                  <a:latin typeface="+mn-lt"/>
                  <a:ea typeface="+mn-ea"/>
                  <a:cs typeface="+mn-cs"/>
                </a:rPr>
                <a:t>✓</a:t>
              </a:r>
              <a:r>
                <a:rPr lang="en" sz="1650" dirty="0">
                  <a:solidFill>
                    <a:srgbClr val="0E1B2C"/>
                  </a:solidFill>
                  <a:latin typeface="+mn-lt"/>
                  <a:ea typeface="+mn-ea"/>
                  <a:cs typeface="+mn-cs"/>
                </a:rPr>
                <a:t> Explain how four motors steer a quad</a:t>
              </a:r>
            </a:p>
          </p:txBody>
        </p:sp>
        <p:sp>
          <p:nvSpPr>
            <p:cNvPr id="7" name="TextBox 7"/>
            <p:cNvSpPr txBox="1"/>
            <p:nvPr/>
          </p:nvSpPr>
          <p:spPr>
            <a:xfrm>
              <a:off x="601218" y="3873500"/>
              <a:ext cx="4346575" cy="322707"/>
            </a:xfrm>
            <a:prstGeom prst="rect">
              <a:avLst/>
            </a:prstGeom>
            <a:noFill/>
            <a:ln>
              <a:noFill/>
            </a:ln>
          </p:spPr>
          <p:txBody>
            <a:bodyPr wrap="none" lIns="0" tIns="0" rIns="0" bIns="0" anchor="t" anchorCtr="0">
              <a:spAutoFit/>
            </a:bodyPr>
            <a:lstStyle/>
            <a:p>
              <a:pPr algn="l"/>
              <a:r>
                <a:rPr lang="en" sz="1650" b="1" dirty="0">
                  <a:solidFill>
                    <a:srgbClr val="127A3E"/>
                  </a:solidFill>
                  <a:latin typeface="+mn-lt"/>
                  <a:ea typeface="+mn-ea"/>
                  <a:cs typeface="+mn-cs"/>
                </a:rPr>
                <a:t>✓</a:t>
              </a:r>
              <a:r>
                <a:rPr lang="en" sz="1650" dirty="0">
                  <a:solidFill>
                    <a:srgbClr val="0E1B2C"/>
                  </a:solidFill>
                  <a:latin typeface="+mn-lt"/>
                  <a:ea typeface="+mn-ea"/>
                  <a:cs typeface="+mn-cs"/>
                </a:rPr>
                <a:t> Choose a motor driver from its datasheet</a:t>
              </a:r>
            </a:p>
          </p:txBody>
        </p:sp>
        <p:sp>
          <p:nvSpPr>
            <p:cNvPr id="8" name="TextBox 8"/>
            <p:cNvSpPr txBox="1"/>
            <p:nvPr/>
          </p:nvSpPr>
          <p:spPr>
            <a:xfrm>
              <a:off x="601218" y="4292600"/>
              <a:ext cx="4189159" cy="322707"/>
            </a:xfrm>
            <a:prstGeom prst="rect">
              <a:avLst/>
            </a:prstGeom>
            <a:noFill/>
            <a:ln>
              <a:noFill/>
            </a:ln>
          </p:spPr>
          <p:txBody>
            <a:bodyPr wrap="none" lIns="0" tIns="0" rIns="0" bIns="0" anchor="t" anchorCtr="0">
              <a:spAutoFit/>
            </a:bodyPr>
            <a:lstStyle/>
            <a:p>
              <a:pPr algn="l"/>
              <a:r>
                <a:rPr lang="en" sz="1650" b="1" dirty="0">
                  <a:solidFill>
                    <a:srgbClr val="127A3E"/>
                  </a:solidFill>
                  <a:latin typeface="+mn-lt"/>
                  <a:ea typeface="+mn-ea"/>
                  <a:cs typeface="+mn-cs"/>
                </a:rPr>
                <a:t>✓</a:t>
              </a:r>
              <a:r>
                <a:rPr lang="en" sz="1650" dirty="0">
                  <a:solidFill>
                    <a:srgbClr val="0E1B2C"/>
                  </a:solidFill>
                  <a:latin typeface="+mn-lt"/>
                  <a:ea typeface="+mn-ea"/>
                  <a:cs typeface="+mn-cs"/>
                </a:rPr>
                <a:t> Read a 500 Hz loop: IMU → PID → mixer</a:t>
              </a:r>
            </a:p>
          </p:txBody>
        </p:sp>
        <p:sp>
          <p:nvSpPr>
            <p:cNvPr id="9" name="TextBox 9"/>
            <p:cNvSpPr txBox="1"/>
            <p:nvPr/>
          </p:nvSpPr>
          <p:spPr>
            <a:xfrm>
              <a:off x="601218" y="4711700"/>
              <a:ext cx="3783598" cy="322707"/>
            </a:xfrm>
            <a:prstGeom prst="rect">
              <a:avLst/>
            </a:prstGeom>
            <a:noFill/>
            <a:ln>
              <a:noFill/>
            </a:ln>
          </p:spPr>
          <p:txBody>
            <a:bodyPr wrap="none" lIns="0" tIns="0" rIns="0" bIns="0" anchor="t" anchorCtr="0">
              <a:spAutoFit/>
            </a:bodyPr>
            <a:lstStyle/>
            <a:p>
              <a:pPr algn="l"/>
              <a:r>
                <a:rPr lang="en" sz="1650" b="1" dirty="0">
                  <a:solidFill>
                    <a:srgbClr val="127A3E"/>
                  </a:solidFill>
                  <a:latin typeface="+mn-lt"/>
                  <a:ea typeface="+mn-ea"/>
                  <a:cs typeface="+mn-cs"/>
                </a:rPr>
                <a:t>✓</a:t>
              </a:r>
              <a:r>
                <a:rPr lang="en" sz="1650" dirty="0">
                  <a:solidFill>
                    <a:srgbClr val="0E1B2C"/>
                  </a:solidFill>
                  <a:latin typeface="+mn-lt"/>
                  <a:ea typeface="+mn-ea"/>
                  <a:cs typeface="+mn-cs"/>
                </a:rPr>
                <a:t> Spec a 6S racer and tune PID safely</a:t>
              </a:r>
            </a:p>
          </p:txBody>
        </p:sp>
      </p:grpSp>
      <p:grpSp>
        <p:nvGrpSpPr>
          <p:cNvPr id="29" name="next-upgrades"/>
          <p:cNvGrpSpPr/>
          <p:nvPr/>
        </p:nvGrpSpPr>
        <p:grpSpPr>
          <a:xfrm>
            <a:off x="6629400" y="914400"/>
            <a:ext cx="4953000" cy="2971800"/>
            <a:chOff x="6629400" y="914400"/>
            <a:chExt cx="4953000" cy="2971800"/>
          </a:xfrm>
        </p:grpSpPr>
        <p:sp>
          <p:nvSpPr>
            <p:cNvPr id="11" name="Rectangle 11"/>
            <p:cNvSpPr/>
            <p:nvPr/>
          </p:nvSpPr>
          <p:spPr>
            <a:xfrm>
              <a:off x="6629400" y="914400"/>
              <a:ext cx="4953000" cy="2971800"/>
            </a:xfrm>
            <a:prstGeom prst="roundRect">
              <a:avLst>
                <a:gd name="adj" fmla="val 3390"/>
              </a:avLst>
            </a:prstGeom>
            <a:solidFill>
              <a:srgbClr val="0E2A47"/>
            </a:solidFill>
            <a:ln>
              <a:noFill/>
            </a:ln>
          </p:spPr>
        </p:sp>
        <p:sp>
          <p:nvSpPr>
            <p:cNvPr id="12" name="TextBox 12"/>
            <p:cNvSpPr txBox="1"/>
            <p:nvPr/>
          </p:nvSpPr>
          <p:spPr>
            <a:xfrm>
              <a:off x="6927342" y="1162050"/>
              <a:ext cx="1514704" cy="264033"/>
            </a:xfrm>
            <a:prstGeom prst="rect">
              <a:avLst/>
            </a:prstGeom>
            <a:noFill/>
            <a:ln>
              <a:noFill/>
            </a:ln>
          </p:spPr>
          <p:txBody>
            <a:bodyPr wrap="none" lIns="0" tIns="0" rIns="0" bIns="0" anchor="t" anchorCtr="0">
              <a:spAutoFit/>
            </a:bodyPr>
            <a:lstStyle/>
            <a:p>
              <a:pPr algn="l"/>
              <a:r>
                <a:rPr lang="en" sz="1350" spc="75" dirty="0">
                  <a:solidFill>
                    <a:srgbClr val="F7A072"/>
                  </a:solidFill>
                  <a:latin typeface="Consolas"/>
                  <a:ea typeface="Consolas"/>
                  <a:cs typeface="Consolas"/>
                </a:rPr>
                <a:t>NEXT UPGRADES</a:t>
              </a:r>
            </a:p>
          </p:txBody>
        </p:sp>
        <p:grpSp>
          <p:nvGrpSpPr>
            <p:cNvPr id="15" name="Group 15"/>
            <p:cNvGrpSpPr/>
            <p:nvPr/>
          </p:nvGrpSpPr>
          <p:grpSpPr>
            <a:xfrm>
              <a:off x="6986587" y="1627187"/>
              <a:ext cx="314324" cy="314324"/>
              <a:chOff x="6986587" y="1627187"/>
              <a:chExt cx="314324" cy="314324"/>
            </a:xfrm>
          </p:grpSpPr>
          <p:sp>
            <p:nvSpPr>
              <p:cNvPr id="13" name="Freeform 13"/>
              <p:cNvSpPr/>
              <p:nvPr/>
            </p:nvSpPr>
            <p:spPr>
              <a:xfrm>
                <a:off x="6986587" y="1627187"/>
                <a:ext cx="314324" cy="314324"/>
              </a:xfrm>
              <a:custGeom>
                <a:avLst/>
                <a:gdLst/>
                <a:ahLst/>
                <a:cxnLst/>
                <a:rect l="l" t="t" r="r" b="b"/>
                <a:pathLst>
                  <a:path w="314324" h="314324">
                    <a:moveTo>
                      <a:pt x="0" y="157162"/>
                    </a:moveTo>
                    <a:cubicBezTo>
                      <a:pt x="0" y="243961"/>
                      <a:pt x="70364" y="314324"/>
                      <a:pt x="157162" y="314324"/>
                    </a:cubicBezTo>
                    <a:cubicBezTo>
                      <a:pt x="243961" y="314324"/>
                      <a:pt x="314324" y="243961"/>
                      <a:pt x="314324" y="157162"/>
                    </a:cubicBezTo>
                    <a:cubicBezTo>
                      <a:pt x="314324" y="70364"/>
                      <a:pt x="243961" y="0"/>
                      <a:pt x="157162" y="0"/>
                    </a:cubicBezTo>
                    <a:cubicBezTo>
                      <a:pt x="70364" y="0"/>
                      <a:pt x="0" y="70364"/>
                      <a:pt x="0" y="157162"/>
                    </a:cubicBezTo>
                  </a:path>
                </a:pathLst>
              </a:custGeom>
              <a:noFill/>
              <a:ln w="34925">
                <a:solidFill>
                  <a:srgbClr val="F7A072"/>
                </a:solidFill>
              </a:ln>
            </p:spPr>
          </p:sp>
          <p:sp>
            <p:nvSpPr>
              <p:cNvPr id="14" name="Freeform 14"/>
              <p:cNvSpPr/>
              <p:nvPr/>
            </p:nvSpPr>
            <p:spPr>
              <a:xfrm>
                <a:off x="7056437" y="1714500"/>
                <a:ext cx="157162" cy="157162"/>
              </a:xfrm>
              <a:custGeom>
                <a:avLst/>
                <a:gdLst/>
                <a:ahLst/>
                <a:cxnLst/>
                <a:rect l="l" t="t" r="r" b="b"/>
                <a:pathLst>
                  <a:path w="157162" h="157162">
                    <a:moveTo>
                      <a:pt x="87312" y="157162"/>
                    </a:moveTo>
                    <a:lnTo>
                      <a:pt x="69850" y="87312"/>
                    </a:lnTo>
                    <a:lnTo>
                      <a:pt x="0" y="69850"/>
                    </a:lnTo>
                    <a:lnTo>
                      <a:pt x="157162" y="0"/>
                    </a:lnTo>
                    <a:lnTo>
                      <a:pt x="87312" y="157162"/>
                    </a:lnTo>
                  </a:path>
                </a:pathLst>
              </a:custGeom>
              <a:noFill/>
              <a:ln w="34925">
                <a:solidFill>
                  <a:srgbClr val="F7A072"/>
                </a:solidFill>
              </a:ln>
            </p:spPr>
          </p:sp>
        </p:grpSp>
        <p:sp>
          <p:nvSpPr>
            <p:cNvPr id="16" name="TextBox 16"/>
            <p:cNvSpPr txBox="1"/>
            <p:nvPr/>
          </p:nvSpPr>
          <p:spPr>
            <a:xfrm>
              <a:off x="7533894" y="1524000"/>
              <a:ext cx="1401654" cy="381381"/>
            </a:xfrm>
            <a:prstGeom prst="rect">
              <a:avLst/>
            </a:prstGeom>
            <a:noFill/>
            <a:ln>
              <a:noFill/>
            </a:ln>
          </p:spPr>
          <p:txBody>
            <a:bodyPr wrap="none" lIns="0" tIns="0" rIns="0" bIns="0" anchor="t" anchorCtr="0">
              <a:spAutoFit/>
            </a:bodyPr>
            <a:lstStyle/>
            <a:p>
              <a:pPr algn="l"/>
              <a:r>
                <a:rPr lang="en" sz="1950" b="1" dirty="0">
                  <a:solidFill>
                    <a:srgbClr val="FFFFFF"/>
                  </a:solidFill>
                  <a:latin typeface="+mn-lt"/>
                  <a:ea typeface="+mn-ea"/>
                  <a:cs typeface="+mn-cs"/>
                </a:rPr>
                <a:t>GPS rescue</a:t>
              </a:r>
            </a:p>
          </p:txBody>
        </p:sp>
        <p:sp>
          <p:nvSpPr>
            <p:cNvPr id="17" name="TextBox 17"/>
            <p:cNvSpPr txBox="1"/>
            <p:nvPr/>
          </p:nvSpPr>
          <p:spPr>
            <a:xfrm>
              <a:off x="7536180" y="1879600"/>
              <a:ext cx="3027502" cy="293370"/>
            </a:xfrm>
            <a:prstGeom prst="rect">
              <a:avLst/>
            </a:prstGeom>
            <a:noFill/>
            <a:ln>
              <a:noFill/>
            </a:ln>
          </p:spPr>
          <p:txBody>
            <a:bodyPr wrap="none" lIns="0" tIns="0" rIns="0" bIns="0" anchor="t" anchorCtr="0">
              <a:spAutoFit/>
            </a:bodyPr>
            <a:lstStyle/>
            <a:p>
              <a:pPr algn="l"/>
              <a:r>
                <a:rPr lang="en" sz="1500" dirty="0">
                  <a:solidFill>
                    <a:srgbClr val="B9C6D4"/>
                  </a:solidFill>
                  <a:latin typeface="+mn-lt"/>
                  <a:ea typeface="+mn-ea"/>
                  <a:cs typeface="+mn-cs"/>
                </a:rPr>
                <a:t>Fly home by itself if the link drops</a:t>
              </a:r>
            </a:p>
          </p:txBody>
        </p:sp>
        <p:grpSp>
          <p:nvGrpSpPr>
            <p:cNvPr id="20" name="Group 20"/>
            <p:cNvGrpSpPr/>
            <p:nvPr/>
          </p:nvGrpSpPr>
          <p:grpSpPr>
            <a:xfrm>
              <a:off x="6986587" y="2416175"/>
              <a:ext cx="314325" cy="209550"/>
              <a:chOff x="6986587" y="2416175"/>
              <a:chExt cx="314325" cy="209550"/>
            </a:xfrm>
          </p:grpSpPr>
          <p:sp>
            <p:nvSpPr>
              <p:cNvPr id="18" name="Freeform 18"/>
              <p:cNvSpPr/>
              <p:nvPr/>
            </p:nvSpPr>
            <p:spPr>
              <a:xfrm>
                <a:off x="7196137" y="2443576"/>
                <a:ext cx="104775" cy="154747"/>
              </a:xfrm>
              <a:custGeom>
                <a:avLst/>
                <a:gdLst/>
                <a:ahLst/>
                <a:cxnLst/>
                <a:rect l="l" t="t" r="r" b="b"/>
                <a:pathLst>
                  <a:path w="104775" h="154747">
                    <a:moveTo>
                      <a:pt x="0" y="42449"/>
                    </a:moveTo>
                    <a:lnTo>
                      <a:pt x="79507" y="2704"/>
                    </a:lnTo>
                    <a:cubicBezTo>
                      <a:pt x="84918" y="0"/>
                      <a:pt x="91344" y="289"/>
                      <a:pt x="96491" y="3469"/>
                    </a:cubicBezTo>
                    <a:cubicBezTo>
                      <a:pt x="101637" y="6649"/>
                      <a:pt x="104772" y="12266"/>
                      <a:pt x="104775" y="18316"/>
                    </a:cubicBezTo>
                    <a:lnTo>
                      <a:pt x="104775" y="136432"/>
                    </a:lnTo>
                    <a:cubicBezTo>
                      <a:pt x="104772" y="142481"/>
                      <a:pt x="101637" y="148099"/>
                      <a:pt x="96491" y="151278"/>
                    </a:cubicBezTo>
                    <a:cubicBezTo>
                      <a:pt x="91344" y="154458"/>
                      <a:pt x="84918" y="154747"/>
                      <a:pt x="79507" y="152043"/>
                    </a:cubicBezTo>
                    <a:lnTo>
                      <a:pt x="0" y="112299"/>
                    </a:lnTo>
                    <a:lnTo>
                      <a:pt x="0" y="42449"/>
                    </a:lnTo>
                  </a:path>
                </a:pathLst>
              </a:custGeom>
              <a:noFill/>
              <a:ln w="34925">
                <a:solidFill>
                  <a:srgbClr val="F7A072"/>
                </a:solidFill>
              </a:ln>
            </p:spPr>
          </p:sp>
          <p:sp>
            <p:nvSpPr>
              <p:cNvPr id="19" name="Freeform 19"/>
              <p:cNvSpPr/>
              <p:nvPr/>
            </p:nvSpPr>
            <p:spPr>
              <a:xfrm>
                <a:off x="6986587" y="2416175"/>
                <a:ext cx="209550" cy="209550"/>
              </a:xfrm>
              <a:custGeom>
                <a:avLst/>
                <a:gdLst/>
                <a:ahLst/>
                <a:cxnLst/>
                <a:rect l="l" t="t" r="r" b="b"/>
                <a:pathLst>
                  <a:path w="209550" h="209550">
                    <a:moveTo>
                      <a:pt x="0" y="34925"/>
                    </a:moveTo>
                    <a:cubicBezTo>
                      <a:pt x="0" y="15636"/>
                      <a:pt x="15636" y="0"/>
                      <a:pt x="34925" y="0"/>
                    </a:cubicBezTo>
                    <a:lnTo>
                      <a:pt x="174625" y="0"/>
                    </a:lnTo>
                    <a:cubicBezTo>
                      <a:pt x="193913" y="0"/>
                      <a:pt x="209550" y="15636"/>
                      <a:pt x="209550" y="34925"/>
                    </a:cubicBezTo>
                    <a:lnTo>
                      <a:pt x="209550" y="174625"/>
                    </a:lnTo>
                    <a:cubicBezTo>
                      <a:pt x="209550" y="193913"/>
                      <a:pt x="193913" y="209550"/>
                      <a:pt x="174625" y="209550"/>
                    </a:cubicBezTo>
                    <a:lnTo>
                      <a:pt x="34925" y="209550"/>
                    </a:lnTo>
                    <a:cubicBezTo>
                      <a:pt x="15636" y="209550"/>
                      <a:pt x="0" y="193913"/>
                      <a:pt x="0" y="174625"/>
                    </a:cubicBezTo>
                    <a:lnTo>
                      <a:pt x="0" y="34925"/>
                    </a:lnTo>
                  </a:path>
                </a:pathLst>
              </a:custGeom>
              <a:noFill/>
              <a:ln w="34925">
                <a:solidFill>
                  <a:srgbClr val="F7A072"/>
                </a:solidFill>
              </a:ln>
            </p:spPr>
          </p:sp>
        </p:grpSp>
        <p:sp>
          <p:nvSpPr>
            <p:cNvPr id="21" name="TextBox 21"/>
            <p:cNvSpPr txBox="1"/>
            <p:nvPr/>
          </p:nvSpPr>
          <p:spPr>
            <a:xfrm>
              <a:off x="7533894" y="2260600"/>
              <a:ext cx="2049775" cy="381381"/>
            </a:xfrm>
            <a:prstGeom prst="rect">
              <a:avLst/>
            </a:prstGeom>
            <a:noFill/>
            <a:ln>
              <a:noFill/>
            </a:ln>
          </p:spPr>
          <p:txBody>
            <a:bodyPr wrap="none" lIns="0" tIns="0" rIns="0" bIns="0" anchor="t" anchorCtr="0">
              <a:spAutoFit/>
            </a:bodyPr>
            <a:lstStyle/>
            <a:p>
              <a:pPr algn="l"/>
              <a:r>
                <a:rPr lang="en" sz="1950" b="1" dirty="0">
                  <a:solidFill>
                    <a:srgbClr val="FFFFFF"/>
                  </a:solidFill>
                  <a:latin typeface="+mn-lt"/>
                  <a:ea typeface="+mn-ea"/>
                  <a:cs typeface="+mn-cs"/>
                </a:rPr>
                <a:t>HD digital video</a:t>
              </a:r>
            </a:p>
          </p:txBody>
        </p:sp>
        <p:sp>
          <p:nvSpPr>
            <p:cNvPr id="22" name="TextBox 22"/>
            <p:cNvSpPr txBox="1"/>
            <p:nvPr/>
          </p:nvSpPr>
          <p:spPr>
            <a:xfrm>
              <a:off x="7536180" y="2616200"/>
              <a:ext cx="3813843" cy="293370"/>
            </a:xfrm>
            <a:prstGeom prst="rect">
              <a:avLst/>
            </a:prstGeom>
            <a:noFill/>
            <a:ln>
              <a:noFill/>
            </a:ln>
          </p:spPr>
          <p:txBody>
            <a:bodyPr wrap="none" lIns="0" tIns="0" rIns="0" bIns="0" anchor="t" anchorCtr="0">
              <a:spAutoFit/>
            </a:bodyPr>
            <a:lstStyle/>
            <a:p>
              <a:pPr algn="l"/>
              <a:r>
                <a:rPr lang="en" sz="1500" dirty="0">
                  <a:solidFill>
                    <a:srgbClr val="B9C6D4"/>
                  </a:solidFill>
                  <a:latin typeface="+mn-lt"/>
                  <a:ea typeface="+mn-ea"/>
                  <a:cs typeface="+mn-cs"/>
                </a:rPr>
                <a:t>Low-latency HD goggles instead of analog</a:t>
              </a:r>
            </a:p>
          </p:txBody>
        </p:sp>
        <p:grpSp>
          <p:nvGrpSpPr>
            <p:cNvPr id="26" name="Group 26"/>
            <p:cNvGrpSpPr/>
            <p:nvPr/>
          </p:nvGrpSpPr>
          <p:grpSpPr>
            <a:xfrm>
              <a:off x="6979417" y="3093252"/>
              <a:ext cx="321495" cy="321460"/>
              <a:chOff x="6979417" y="3093252"/>
              <a:chExt cx="321495" cy="321460"/>
            </a:xfrm>
          </p:grpSpPr>
          <p:sp>
            <p:nvSpPr>
              <p:cNvPr id="23" name="Freeform 23"/>
              <p:cNvSpPr/>
              <p:nvPr/>
            </p:nvSpPr>
            <p:spPr>
              <a:xfrm>
                <a:off x="7126287" y="3240087"/>
                <a:ext cx="174625" cy="174625"/>
              </a:xfrm>
              <a:custGeom>
                <a:avLst/>
                <a:gdLst/>
                <a:ahLst/>
                <a:cxnLst/>
                <a:rect l="l" t="t" r="r" b="b"/>
                <a:pathLst>
                  <a:path w="174625" h="174625">
                    <a:moveTo>
                      <a:pt x="174625" y="17462"/>
                    </a:moveTo>
                    <a:lnTo>
                      <a:pt x="34925" y="17462"/>
                    </a:lnTo>
                    <a:cubicBezTo>
                      <a:pt x="34925" y="7818"/>
                      <a:pt x="27107" y="0"/>
                      <a:pt x="17462" y="0"/>
                    </a:cubicBezTo>
                    <a:cubicBezTo>
                      <a:pt x="7818" y="0"/>
                      <a:pt x="0" y="7818"/>
                      <a:pt x="0" y="17462"/>
                    </a:cubicBezTo>
                    <a:cubicBezTo>
                      <a:pt x="0" y="27107"/>
                      <a:pt x="7818" y="34925"/>
                      <a:pt x="17462" y="34925"/>
                    </a:cubicBezTo>
                    <a:lnTo>
                      <a:pt x="17462" y="174625"/>
                    </a:lnTo>
                    <a:cubicBezTo>
                      <a:pt x="104261" y="174625"/>
                      <a:pt x="174625" y="104261"/>
                      <a:pt x="174625" y="17462"/>
                    </a:cubicBezTo>
                  </a:path>
                </a:pathLst>
              </a:custGeom>
              <a:noFill/>
              <a:ln w="34925">
                <a:solidFill>
                  <a:srgbClr val="F7A072"/>
                </a:solidFill>
              </a:ln>
            </p:spPr>
          </p:sp>
          <p:sp>
            <p:nvSpPr>
              <p:cNvPr id="24" name="Freeform 24"/>
              <p:cNvSpPr/>
              <p:nvPr/>
            </p:nvSpPr>
            <p:spPr>
              <a:xfrm>
                <a:off x="7051166" y="3164966"/>
                <a:ext cx="162433" cy="162433"/>
              </a:xfrm>
              <a:custGeom>
                <a:avLst/>
                <a:gdLst/>
                <a:ahLst/>
                <a:cxnLst/>
                <a:rect l="l" t="t" r="r" b="b"/>
                <a:pathLst>
                  <a:path w="162433" h="162433">
                    <a:moveTo>
                      <a:pt x="162433" y="40196"/>
                    </a:moveTo>
                    <a:cubicBezTo>
                      <a:pt x="141935" y="12865"/>
                      <a:pt x="107379" y="0"/>
                      <a:pt x="73998" y="7272"/>
                    </a:cubicBezTo>
                    <a:cubicBezTo>
                      <a:pt x="40617" y="14544"/>
                      <a:pt x="14544" y="40617"/>
                      <a:pt x="7272" y="73998"/>
                    </a:cubicBezTo>
                    <a:cubicBezTo>
                      <a:pt x="0" y="107379"/>
                      <a:pt x="12865" y="141935"/>
                      <a:pt x="40196" y="162433"/>
                    </a:cubicBezTo>
                  </a:path>
                </a:pathLst>
              </a:custGeom>
              <a:noFill/>
              <a:ln w="34925">
                <a:solidFill>
                  <a:srgbClr val="F7A072"/>
                </a:solidFill>
              </a:ln>
            </p:spPr>
          </p:sp>
          <p:sp>
            <p:nvSpPr>
              <p:cNvPr id="25" name="Freeform 25"/>
              <p:cNvSpPr/>
              <p:nvPr/>
            </p:nvSpPr>
            <p:spPr>
              <a:xfrm>
                <a:off x="6979417" y="3093252"/>
                <a:ext cx="312519" cy="312641"/>
              </a:xfrm>
              <a:custGeom>
                <a:avLst/>
                <a:gdLst/>
                <a:ahLst/>
                <a:cxnLst/>
                <a:rect l="l" t="t" r="r" b="b"/>
                <a:pathLst>
                  <a:path w="312519" h="312641">
                    <a:moveTo>
                      <a:pt x="312519" y="111910"/>
                    </a:moveTo>
                    <a:cubicBezTo>
                      <a:pt x="288048" y="42948"/>
                      <a:pt x="219221" y="0"/>
                      <a:pt x="146522" y="8327"/>
                    </a:cubicBezTo>
                    <a:cubicBezTo>
                      <a:pt x="73823" y="16654"/>
                      <a:pt x="16489" y="74052"/>
                      <a:pt x="8245" y="146761"/>
                    </a:cubicBezTo>
                    <a:cubicBezTo>
                      <a:pt x="0" y="219470"/>
                      <a:pt x="43026" y="288248"/>
                      <a:pt x="112015" y="312641"/>
                    </a:cubicBezTo>
                  </a:path>
                </a:pathLst>
              </a:custGeom>
              <a:noFill/>
              <a:ln w="34925">
                <a:solidFill>
                  <a:srgbClr val="F7A072"/>
                </a:solidFill>
              </a:ln>
            </p:spPr>
          </p:sp>
        </p:grpSp>
        <p:sp>
          <p:nvSpPr>
            <p:cNvPr id="27" name="TextBox 27"/>
            <p:cNvSpPr txBox="1"/>
            <p:nvPr/>
          </p:nvSpPr>
          <p:spPr>
            <a:xfrm>
              <a:off x="7533894" y="2997200"/>
              <a:ext cx="3157170" cy="381381"/>
            </a:xfrm>
            <a:prstGeom prst="rect">
              <a:avLst/>
            </a:prstGeom>
            <a:noFill/>
            <a:ln>
              <a:noFill/>
            </a:ln>
          </p:spPr>
          <p:txBody>
            <a:bodyPr wrap="none" lIns="0" tIns="0" rIns="0" bIns="0" anchor="t" anchorCtr="0">
              <a:spAutoFit/>
            </a:bodyPr>
            <a:lstStyle/>
            <a:p>
              <a:pPr algn="l"/>
              <a:r>
                <a:rPr lang="en" sz="1950" b="1" dirty="0">
                  <a:solidFill>
                    <a:srgbClr val="FFFFFF"/>
                  </a:solidFill>
                  <a:latin typeface="+mn-lt"/>
                  <a:ea typeface="+mn-ea"/>
                  <a:cs typeface="+mn-cs"/>
                </a:rPr>
                <a:t>Optical flow + barometer</a:t>
              </a:r>
            </a:p>
          </p:txBody>
        </p:sp>
        <p:sp>
          <p:nvSpPr>
            <p:cNvPr id="28" name="TextBox 28"/>
            <p:cNvSpPr txBox="1"/>
            <p:nvPr/>
          </p:nvSpPr>
          <p:spPr>
            <a:xfrm>
              <a:off x="7536180" y="3352800"/>
              <a:ext cx="2823605" cy="293370"/>
            </a:xfrm>
            <a:prstGeom prst="rect">
              <a:avLst/>
            </a:prstGeom>
            <a:noFill/>
            <a:ln>
              <a:noFill/>
            </a:ln>
          </p:spPr>
          <p:txBody>
            <a:bodyPr wrap="none" lIns="0" tIns="0" rIns="0" bIns="0" anchor="t" anchorCtr="0">
              <a:spAutoFit/>
            </a:bodyPr>
            <a:lstStyle/>
            <a:p>
              <a:pPr algn="l"/>
              <a:r>
                <a:rPr lang="en" sz="1500" dirty="0">
                  <a:solidFill>
                    <a:srgbClr val="B9C6D4"/>
                  </a:solidFill>
                  <a:latin typeface="+mn-lt"/>
                  <a:ea typeface="+mn-ea"/>
                  <a:cs typeface="+mn-cs"/>
                </a:rPr>
                <a:t>Hands-free hover, even indoors</a:t>
              </a:r>
            </a:p>
          </p:txBody>
        </p:sp>
      </p:grpSp>
      <p:grpSp>
        <p:nvGrpSpPr>
          <p:cNvPr id="31" name="questions"/>
          <p:cNvGrpSpPr/>
          <p:nvPr/>
        </p:nvGrpSpPr>
        <p:grpSpPr>
          <a:xfrm>
            <a:off x="592836" y="5689600"/>
            <a:ext cx="5969000" cy="645414"/>
            <a:chOff x="592836" y="5689600"/>
            <a:chExt cx="6381891" cy="645414"/>
          </a:xfrm>
        </p:grpSpPr>
        <p:sp>
          <p:nvSpPr>
            <p:cNvPr id="30" name="TextBox 30"/>
            <p:cNvSpPr txBox="1"/>
            <p:nvPr/>
          </p:nvSpPr>
          <p:spPr>
            <a:xfrm>
              <a:off x="592836" y="5689600"/>
              <a:ext cx="6381891" cy="645414"/>
            </a:xfrm>
            <a:prstGeom prst="rect">
              <a:avLst/>
            </a:prstGeom>
            <a:noFill/>
            <a:ln>
              <a:noFill/>
            </a:ln>
          </p:spPr>
          <p:txBody>
            <a:bodyPr wrap="none" lIns="0" tIns="0" rIns="0" bIns="0" anchor="t" anchorCtr="0">
              <a:spAutoFit/>
            </a:bodyPr>
            <a:lstStyle/>
            <a:p>
              <a:pPr algn="l"/>
              <a:r>
                <a:rPr lang="en" sz="3300" b="1" dirty="0">
                  <a:solidFill>
                    <a:srgbClr val="0E1B2C"/>
                  </a:solidFill>
                  <a:latin typeface="+mn-lt"/>
                  <a:ea typeface="+mn-ea"/>
                  <a:cs typeface="+mn-cs"/>
                </a:rPr>
                <a:t>Questions? </a:t>
              </a:r>
              <a:r>
                <a:rPr lang="en" sz="3300" b="1" dirty="0">
                  <a:solidFill>
                    <a:srgbClr val="E8590C"/>
                  </a:solidFill>
                  <a:latin typeface="+mn-lt"/>
                  <a:ea typeface="+mn-ea"/>
                  <a:cs typeface="+mn-cs"/>
                </a:rPr>
                <a:t>Then go build one.</a:t>
              </a:r>
            </a:p>
          </p:txBody>
        </p:sp>
      </p:grpSp>
      <p:sp>
        <p:nvSpPr>
          <p:cNvPr id="32" name="TextBox 32"/>
          <p:cNvSpPr txBox="1"/>
          <p:nvPr/>
        </p:nvSpPr>
        <p:spPr>
          <a:xfrm>
            <a:off x="10954360" y="6470650"/>
            <a:ext cx="634136" cy="234696"/>
          </a:xfrm>
          <a:prstGeom prst="rect">
            <a:avLst/>
          </a:prstGeom>
          <a:noFill/>
          <a:ln>
            <a:noFill/>
          </a:ln>
        </p:spPr>
        <p:txBody>
          <a:bodyPr wrap="none" lIns="0" tIns="0" rIns="0" bIns="0" anchor="t" anchorCtr="0">
            <a:spAutoFit/>
          </a:bodyPr>
          <a:lstStyle/>
          <a:p>
            <a:pPr algn="r"/>
            <a:r>
              <a:rPr lang="en" sz="1200" dirty="0">
                <a:solidFill>
                  <a:srgbClr val="6B7A8C"/>
                </a:solidFill>
                <a:latin typeface="Consolas"/>
                <a:ea typeface="Consolas"/>
                <a:cs typeface="Consolas"/>
              </a:rPr>
              <a:t>21 / 21</a:t>
            </a:r>
          </a:p>
        </p:txBody>
      </p:sp>
      <p:pic>
        <p:nvPicPr>
          <p:cNvPr id="34" name="attendee-qr" descr="QR code: github.com/ara-aras/esp32-mini-drone">
            <a:extLst>
              <a:ext uri="{FF2B5EF4-FFF2-40B4-BE49-F238E27FC236}">
                <a16:creationId xmlns:a16="http://schemas.microsoft.com/office/drawing/2014/main" id="{A174CC73-46FE-37A1-BBFA-72DA7452B69A}"/>
              </a:ext>
            </a:extLst>
          </p:cNvPr>
          <p:cNvPicPr>
            <a:picLocks/>
          </p:cNvPicPr>
          <p:nvPr/>
        </p:nvPicPr>
        <p:blipFill>
          <a:blip r:embed="rId3"/>
          <a:stretch>
            <a:fillRect/>
          </a:stretch>
        </p:blipFill>
        <p:spPr>
          <a:xfrm>
            <a:off x="9804400" y="4089400"/>
            <a:ext cx="1778000" cy="1778000"/>
          </a:xfrm>
          <a:prstGeom prst="rect">
            <a:avLst/>
          </a:prstGeom>
        </p:spPr>
      </p:pic>
      <p:sp>
        <p:nvSpPr>
          <p:cNvPr id="35" name="qr-label">
            <a:extLst>
              <a:ext uri="{FF2B5EF4-FFF2-40B4-BE49-F238E27FC236}">
                <a16:creationId xmlns:a16="http://schemas.microsoft.com/office/drawing/2014/main" id="{10F95A9A-81D2-4F95-95E1-598B1990E2E1}"/>
              </a:ext>
            </a:extLst>
          </p:cNvPr>
          <p:cNvSpPr txBox="1"/>
          <p:nvPr/>
        </p:nvSpPr>
        <p:spPr>
          <a:xfrm>
            <a:off x="6629400" y="4216400"/>
            <a:ext cx="3048000" cy="300082"/>
          </a:xfrm>
          <a:prstGeom prst="rect">
            <a:avLst/>
          </a:prstGeom>
          <a:noFill/>
        </p:spPr>
        <p:txBody>
          <a:bodyPr vert="horz" wrap="square" lIns="0" rIns="0" rtlCol="0">
            <a:spAutoFit/>
          </a:bodyPr>
          <a:lstStyle/>
          <a:p>
            <a:r>
              <a:rPr lang="en-IN" sz="1350">
                <a:solidFill>
                  <a:srgbClr val="F7A072"/>
                </a:solidFill>
                <a:latin typeface="Consolas" panose="020B0609020204030204" pitchFamily="49" charset="0"/>
              </a:rPr>
              <a:t>ATTENDEES ONLY</a:t>
            </a:r>
          </a:p>
        </p:txBody>
      </p:sp>
      <p:sp>
        <p:nvSpPr>
          <p:cNvPr id="36" name="qr-what">
            <a:extLst>
              <a:ext uri="{FF2B5EF4-FFF2-40B4-BE49-F238E27FC236}">
                <a16:creationId xmlns:a16="http://schemas.microsoft.com/office/drawing/2014/main" id="{D1711ECA-55B9-E8C5-4498-C068A25A12D4}"/>
              </a:ext>
            </a:extLst>
          </p:cNvPr>
          <p:cNvSpPr txBox="1"/>
          <p:nvPr/>
        </p:nvSpPr>
        <p:spPr>
          <a:xfrm>
            <a:off x="6629400" y="4470400"/>
            <a:ext cx="3048000" cy="584775"/>
          </a:xfrm>
          <a:prstGeom prst="rect">
            <a:avLst/>
          </a:prstGeom>
          <a:noFill/>
        </p:spPr>
        <p:txBody>
          <a:bodyPr vert="horz" wrap="square" lIns="0" rIns="0" rtlCol="0">
            <a:spAutoFit/>
          </a:bodyPr>
          <a:lstStyle/>
          <a:p>
            <a:r>
              <a:rPr lang="en-IN" sz="1600" b="1">
                <a:solidFill>
                  <a:srgbClr val="0E2A47"/>
                </a:solidFill>
                <a:latin typeface="Segoe UI" panose="020B0502040204020203" pitchFamily="34" charset="0"/>
              </a:rPr>
              <a:t>Firmware, slides + speaker notes</a:t>
            </a:r>
          </a:p>
        </p:txBody>
      </p:sp>
      <p:sp>
        <p:nvSpPr>
          <p:cNvPr id="37" name="qr-url">
            <a:extLst>
              <a:ext uri="{FF2B5EF4-FFF2-40B4-BE49-F238E27FC236}">
                <a16:creationId xmlns:a16="http://schemas.microsoft.com/office/drawing/2014/main" id="{B68969CA-B124-65CA-C675-A5A77102B42D}"/>
              </a:ext>
            </a:extLst>
          </p:cNvPr>
          <p:cNvSpPr txBox="1"/>
          <p:nvPr/>
        </p:nvSpPr>
        <p:spPr>
          <a:xfrm>
            <a:off x="6629400" y="5080000"/>
            <a:ext cx="3048000" cy="261610"/>
          </a:xfrm>
          <a:prstGeom prst="rect">
            <a:avLst/>
          </a:prstGeom>
          <a:noFill/>
        </p:spPr>
        <p:txBody>
          <a:bodyPr vert="horz" wrap="square" lIns="0" rIns="0" rtlCol="0">
            <a:spAutoFit/>
          </a:bodyPr>
          <a:lstStyle/>
          <a:p>
            <a:r>
              <a:rPr lang="en-IN" sz="1100">
                <a:solidFill>
                  <a:srgbClr val="6B7280"/>
                </a:solidFill>
                <a:latin typeface="Segoe UI" panose="020B0502040204020203" pitchFamily="34" charset="0"/>
              </a:rPr>
              <a:t>github.com/ara-aras/esp32-mini-drone</a:t>
            </a:r>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anim calcmode="lin" valueType="num">
                                      <p:cBhvr>
                                        <p:cTn id="8" dur="700" fill="hold"/>
                                        <p:tgtEl>
                                          <p:spTgt spid="4"/>
                                        </p:tgtEl>
                                        <p:attrNameLst>
                                          <p:attrName>ppt_x</p:attrName>
                                        </p:attrNameLst>
                                      </p:cBhvr>
                                      <p:tavLst>
                                        <p:tav tm="0">
                                          <p:val>
                                            <p:strVal val="#ppt_x"/>
                                          </p:val>
                                        </p:tav>
                                        <p:tav tm="100000">
                                          <p:val>
                                            <p:strVal val="#ppt_x"/>
                                          </p:val>
                                        </p:tav>
                                      </p:tavLst>
                                    </p:anim>
                                    <p:anim calcmode="lin" valueType="num">
                                      <p:cBhvr>
                                        <p:cTn id="9" dur="630" decel="100000" fill="hold"/>
                                        <p:tgtEl>
                                          <p:spTgt spid="4"/>
                                        </p:tgtEl>
                                        <p:attrNameLst>
                                          <p:attrName>ppt_y</p:attrName>
                                        </p:attrNameLst>
                                      </p:cBhvr>
                                      <p:tavLst>
                                        <p:tav tm="0">
                                          <p:val>
                                            <p:strVal val="#ppt_y+1"/>
                                          </p:val>
                                        </p:tav>
                                        <p:tav tm="100000">
                                          <p:val>
                                            <p:strVal val="#ppt_y-.03"/>
                                          </p:val>
                                        </p:tav>
                                      </p:tavLst>
                                    </p:anim>
                                    <p:anim calcmode="lin" valueType="num">
                                      <p:cBhvr>
                                        <p:cTn id="10" dur="70" accel="100000" fill="hold">
                                          <p:stCondLst>
                                            <p:cond delay="63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700"/>
                            </p:stCondLst>
                            <p:childTnLst>
                              <p:par>
                                <p:cTn id="12" presetID="10" presetClass="entr" presetSubtype="0" fill="hold" nodeType="afterEffect">
                                  <p:stCondLst>
                                    <p:cond delay="1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600"/>
                                        <p:tgtEl>
                                          <p:spTgt spid="10"/>
                                        </p:tgtEl>
                                      </p:cBhvr>
                                    </p:animEffect>
                                  </p:childTnLst>
                                </p:cTn>
                              </p:par>
                            </p:childTnLst>
                          </p:cTn>
                        </p:par>
                        <p:par>
                          <p:cTn id="15" fill="hold">
                            <p:stCondLst>
                              <p:cond delay="1400"/>
                            </p:stCondLst>
                            <p:childTnLst>
                              <p:par>
                                <p:cTn id="16" presetID="2" presetClass="entr" presetSubtype="8" fill="hold" nodeType="afterEffect">
                                  <p:stCondLst>
                                    <p:cond delay="10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600" fill="hold"/>
                                        <p:tgtEl>
                                          <p:spTgt spid="29"/>
                                        </p:tgtEl>
                                        <p:attrNameLst>
                                          <p:attrName>ppt_x</p:attrName>
                                        </p:attrNameLst>
                                      </p:cBhvr>
                                      <p:tavLst>
                                        <p:tav tm="0">
                                          <p:val>
                                            <p:strVal val="0-#ppt_w/2"/>
                                          </p:val>
                                        </p:tav>
                                        <p:tav tm="100000">
                                          <p:val>
                                            <p:strVal val="#ppt_x"/>
                                          </p:val>
                                        </p:tav>
                                      </p:tavLst>
                                    </p:anim>
                                    <p:anim calcmode="lin" valueType="num">
                                      <p:cBhvr additive="base">
                                        <p:cTn id="19" dur="600" fill="hold"/>
                                        <p:tgtEl>
                                          <p:spTgt spid="29"/>
                                        </p:tgtEl>
                                        <p:attrNameLst>
                                          <p:attrName>ppt_y</p:attrName>
                                        </p:attrNameLst>
                                      </p:cBhvr>
                                      <p:tavLst>
                                        <p:tav tm="0">
                                          <p:val>
                                            <p:strVal val="#ppt_y"/>
                                          </p:val>
                                        </p:tav>
                                        <p:tav tm="100000">
                                          <p:val>
                                            <p:strVal val="#ppt_y"/>
                                          </p:val>
                                        </p:tav>
                                      </p:tavLst>
                                    </p:anim>
                                  </p:childTnLst>
                                </p:cTn>
                              </p:par>
                            </p:childTnLst>
                          </p:cTn>
                        </p:par>
                        <p:par>
                          <p:cTn id="20" fill="hold">
                            <p:stCondLst>
                              <p:cond delay="2100"/>
                            </p:stCondLst>
                            <p:childTnLst>
                              <p:par>
                                <p:cTn id="21" presetID="53" presetClass="entr" presetSubtype="16" fill="hold" nodeType="afterEffect">
                                  <p:stCondLst>
                                    <p:cond delay="100"/>
                                  </p:stCondLst>
                                  <p:childTnLst>
                                    <p:set>
                                      <p:cBhvr>
                                        <p:cTn id="22" dur="1" fill="hold">
                                          <p:stCondLst>
                                            <p:cond delay="0"/>
                                          </p:stCondLst>
                                        </p:cTn>
                                        <p:tgtEl>
                                          <p:spTgt spid="31"/>
                                        </p:tgtEl>
                                        <p:attrNameLst>
                                          <p:attrName>style.visibility</p:attrName>
                                        </p:attrNameLst>
                                      </p:cBhvr>
                                      <p:to>
                                        <p:strVal val="visible"/>
                                      </p:to>
                                    </p:set>
                                    <p:anim calcmode="lin" valueType="num">
                                      <p:cBhvr>
                                        <p:cTn id="23" dur="700" fill="hold"/>
                                        <p:tgtEl>
                                          <p:spTgt spid="31"/>
                                        </p:tgtEl>
                                        <p:attrNameLst>
                                          <p:attrName>ppt_w</p:attrName>
                                        </p:attrNameLst>
                                      </p:cBhvr>
                                      <p:tavLst>
                                        <p:tav tm="0">
                                          <p:val>
                                            <p:fltVal val="0"/>
                                          </p:val>
                                        </p:tav>
                                        <p:tav tm="100000">
                                          <p:val>
                                            <p:strVal val="#ppt_w"/>
                                          </p:val>
                                        </p:tav>
                                      </p:tavLst>
                                    </p:anim>
                                    <p:anim calcmode="lin" valueType="num">
                                      <p:cBhvr>
                                        <p:cTn id="24" dur="700" fill="hold"/>
                                        <p:tgtEl>
                                          <p:spTgt spid="31"/>
                                        </p:tgtEl>
                                        <p:attrNameLst>
                                          <p:attrName>ppt_h</p:attrName>
                                        </p:attrNameLst>
                                      </p:cBhvr>
                                      <p:tavLst>
                                        <p:tav tm="0">
                                          <p:val>
                                            <p:fltVal val="0"/>
                                          </p:val>
                                        </p:tav>
                                        <p:tav tm="100000">
                                          <p:val>
                                            <p:strVal val="#ppt_h"/>
                                          </p:val>
                                        </p:tav>
                                      </p:tavLst>
                                    </p:anim>
                                    <p:animEffect transition="in" filter="fade">
                                      <p:cBhvr>
                                        <p:cTn id="25" dur="7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rone_workshop_v2">
  <a:themeElements>
    <a:clrScheme name="drone_workshop_v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rone_workshop_v2">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ne_workshop_v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rone_workshop_v2">
  <a:themeElements>
    <a:clrScheme name="drone_workshop_v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rone_workshop_v2">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ne_workshop_v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5477</Words>
  <Application>Microsoft Office PowerPoint</Application>
  <PresentationFormat>Widescreen</PresentationFormat>
  <Paragraphs>468</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Consolas</vt:lpstr>
      <vt:lpstr>Segoe UI</vt:lpstr>
      <vt:lpstr>drone_workshop_v2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ara aras</cp:lastModifiedBy>
  <cp:revision>3</cp:revision>
  <dcterms:created xsi:type="dcterms:W3CDTF">2026-10-12T18:00:14Z</dcterms:created>
  <dcterms:modified xsi:type="dcterms:W3CDTF">2026-10-13T03:20:58Z</dcterms:modified>
  <cp:category/>
  <cp:contentStatus/>
  <dc:language>en</dc:language>
</cp:coreProperties>
</file>